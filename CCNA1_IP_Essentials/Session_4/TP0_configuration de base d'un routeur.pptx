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64" r:id="rId2"/>
    <p:sldId id="520" r:id="rId3"/>
    <p:sldId id="538" r:id="rId4"/>
    <p:sldId id="535" r:id="rId5"/>
    <p:sldId id="534" r:id="rId6"/>
    <p:sldId id="521" r:id="rId7"/>
    <p:sldId id="522" r:id="rId8"/>
    <p:sldId id="539" r:id="rId9"/>
    <p:sldId id="523" r:id="rId10"/>
    <p:sldId id="524" r:id="rId11"/>
    <p:sldId id="525" r:id="rId12"/>
    <p:sldId id="527" r:id="rId13"/>
    <p:sldId id="540" r:id="rId14"/>
    <p:sldId id="528" r:id="rId15"/>
    <p:sldId id="529" r:id="rId16"/>
    <p:sldId id="541" r:id="rId17"/>
    <p:sldId id="532" r:id="rId1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1EE07D4-F84E-4BBE-9AD3-719F4B2C30E8}">
          <p14:sldIdLst>
            <p14:sldId id="264"/>
            <p14:sldId id="520"/>
            <p14:sldId id="538"/>
            <p14:sldId id="535"/>
            <p14:sldId id="534"/>
            <p14:sldId id="521"/>
            <p14:sldId id="522"/>
            <p14:sldId id="539"/>
            <p14:sldId id="523"/>
            <p14:sldId id="524"/>
            <p14:sldId id="525"/>
            <p14:sldId id="527"/>
            <p14:sldId id="540"/>
            <p14:sldId id="528"/>
            <p14:sldId id="529"/>
            <p14:sldId id="541"/>
            <p14:sldId id="53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8FDD"/>
    <a:srgbClr val="E20000"/>
    <a:srgbClr val="FF7171"/>
    <a:srgbClr val="FF66CC"/>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4779" autoAdjust="0"/>
    <p:restoredTop sz="93537" autoAdjust="0"/>
  </p:normalViewPr>
  <p:slideViewPr>
    <p:cSldViewPr snapToGrid="0">
      <p:cViewPr varScale="1">
        <p:scale>
          <a:sx n="68" d="100"/>
          <a:sy n="68" d="100"/>
        </p:scale>
        <p:origin x="1314"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FB3093-1210-4244-879B-CC3DBC861162}" type="datetimeFigureOut">
              <a:rPr lang="fr-FR" smtClean="0"/>
              <a:pPr/>
              <a:t>19/11/2021</a:t>
            </a:fld>
            <a:endParaRPr lang="fr-FR"/>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F276991-BA79-4C5E-87AE-97975451B90F}" type="slidenum">
              <a:rPr lang="fr-FR" smtClean="0"/>
              <a:pPr/>
              <a:t>‹#›</a:t>
            </a:fld>
            <a:endParaRPr lang="fr-FR"/>
          </a:p>
        </p:txBody>
      </p:sp>
    </p:spTree>
    <p:extLst>
      <p:ext uri="{BB962C8B-B14F-4D97-AF65-F5344CB8AC3E}">
        <p14:creationId xmlns:p14="http://schemas.microsoft.com/office/powerpoint/2010/main" val="1291742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9F276991-BA79-4C5E-87AE-97975451B90F}" type="slidenum">
              <a:rPr lang="fr-FR" smtClean="0"/>
              <a:pPr/>
              <a:t>1</a:t>
            </a:fld>
            <a:endParaRPr lang="fr-FR"/>
          </a:p>
        </p:txBody>
      </p:sp>
    </p:spTree>
    <p:extLst>
      <p:ext uri="{BB962C8B-B14F-4D97-AF65-F5344CB8AC3E}">
        <p14:creationId xmlns:p14="http://schemas.microsoft.com/office/powerpoint/2010/main" val="3705497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Les périphériques, routeurs et commutateurs Cisco interconnectent généralement de nombreux périphériques. De ce fait, ces périphériques possèdent plusieurs types de ports et d'interfaces servant à s'y connecter.</a:t>
            </a:r>
          </a:p>
          <a:p>
            <a:endParaRPr lang="fr-FR" dirty="0"/>
          </a:p>
        </p:txBody>
      </p:sp>
      <p:sp>
        <p:nvSpPr>
          <p:cNvPr id="4" name="Espace réservé du numéro de diapositive 3"/>
          <p:cNvSpPr>
            <a:spLocks noGrp="1"/>
          </p:cNvSpPr>
          <p:nvPr>
            <p:ph type="sldNum" sz="quarter" idx="10"/>
          </p:nvPr>
        </p:nvSpPr>
        <p:spPr/>
        <p:txBody>
          <a:bodyPr/>
          <a:lstStyle/>
          <a:p>
            <a:fld id="{9F276991-BA79-4C5E-87AE-97975451B90F}" type="slidenum">
              <a:rPr lang="fr-FR" smtClean="0"/>
              <a:pPr/>
              <a:t>7</a:t>
            </a:fld>
            <a:endParaRPr lang="fr-FR"/>
          </a:p>
        </p:txBody>
      </p:sp>
    </p:spTree>
    <p:extLst>
      <p:ext uri="{BB962C8B-B14F-4D97-AF65-F5344CB8AC3E}">
        <p14:creationId xmlns:p14="http://schemas.microsoft.com/office/powerpoint/2010/main" val="2567153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il existe plusieurs moyens d'accéder au mode d'exécution utilisateur dans l'environnement CLI des routeurs Cisco. Voici les plus courants :</a:t>
            </a:r>
          </a:p>
          <a:p>
            <a:endParaRPr lang="fr-FR" dirty="0"/>
          </a:p>
        </p:txBody>
      </p:sp>
      <p:sp>
        <p:nvSpPr>
          <p:cNvPr id="4" name="Espace réservé du numéro de diapositive 3"/>
          <p:cNvSpPr>
            <a:spLocks noGrp="1"/>
          </p:cNvSpPr>
          <p:nvPr>
            <p:ph type="sldNum" sz="quarter" idx="10"/>
          </p:nvPr>
        </p:nvSpPr>
        <p:spPr/>
        <p:txBody>
          <a:bodyPr/>
          <a:lstStyle/>
          <a:p>
            <a:fld id="{9F276991-BA79-4C5E-87AE-97975451B90F}" type="slidenum">
              <a:rPr lang="fr-FR" smtClean="0"/>
              <a:pPr/>
              <a:t>10</a:t>
            </a:fld>
            <a:endParaRPr lang="fr-FR"/>
          </a:p>
        </p:txBody>
      </p:sp>
    </p:spTree>
    <p:extLst>
      <p:ext uri="{BB962C8B-B14F-4D97-AF65-F5344CB8AC3E}">
        <p14:creationId xmlns:p14="http://schemas.microsoft.com/office/powerpoint/2010/main" val="2640841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p:cNvSpPr>
            <a:spLocks noGrp="1"/>
          </p:cNvSpPr>
          <p:nvPr>
            <p:ph type="dt" sz="half" idx="10"/>
          </p:nvPr>
        </p:nvSpPr>
        <p:spPr/>
        <p:txBody>
          <a:bodyPr/>
          <a:lstStyle/>
          <a:p>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4EA0E9-6AA5-4C72-ADD8-CBD3FCBC5038}" type="slidenum">
              <a:rPr lang="fr-FR" smtClean="0"/>
              <a:pPr/>
              <a:t>‹#›</a:t>
            </a:fld>
            <a:endParaRPr lang="fr-FR"/>
          </a:p>
        </p:txBody>
      </p:sp>
    </p:spTree>
    <p:extLst>
      <p:ext uri="{BB962C8B-B14F-4D97-AF65-F5344CB8AC3E}">
        <p14:creationId xmlns:p14="http://schemas.microsoft.com/office/powerpoint/2010/main" val="1481035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p:cNvSpPr>
            <a:spLocks noGrp="1"/>
          </p:cNvSpPr>
          <p:nvPr>
            <p:ph type="dt" sz="half" idx="10"/>
          </p:nvPr>
        </p:nvSpPr>
        <p:spPr/>
        <p:txBody>
          <a:bodyPr/>
          <a:lstStyle/>
          <a:p>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4EA0E9-6AA5-4C72-ADD8-CBD3FCBC5038}" type="slidenum">
              <a:rPr lang="fr-FR" smtClean="0"/>
              <a:pPr/>
              <a:t>‹#›</a:t>
            </a:fld>
            <a:endParaRPr lang="fr-FR"/>
          </a:p>
        </p:txBody>
      </p:sp>
    </p:spTree>
    <p:extLst>
      <p:ext uri="{BB962C8B-B14F-4D97-AF65-F5344CB8AC3E}">
        <p14:creationId xmlns:p14="http://schemas.microsoft.com/office/powerpoint/2010/main" val="2107527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4EA0E9-6AA5-4C72-ADD8-CBD3FCBC5038}" type="slidenum">
              <a:rPr lang="fr-FR" smtClean="0"/>
              <a:pPr/>
              <a:t>‹#›</a:t>
            </a:fld>
            <a:endParaRPr lang="fr-FR"/>
          </a:p>
        </p:txBody>
      </p:sp>
    </p:spTree>
    <p:extLst>
      <p:ext uri="{BB962C8B-B14F-4D97-AF65-F5344CB8AC3E}">
        <p14:creationId xmlns:p14="http://schemas.microsoft.com/office/powerpoint/2010/main" val="3365466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p:cNvSpPr>
            <a:spLocks noGrp="1"/>
          </p:cNvSpPr>
          <p:nvPr>
            <p:ph type="dt" sz="half" idx="10"/>
          </p:nvPr>
        </p:nvSpPr>
        <p:spPr/>
        <p:txBody>
          <a:bodyPr/>
          <a:lstStyle/>
          <a:p>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94EA0E9-6AA5-4C72-ADD8-CBD3FCBC5038}" type="slidenum">
              <a:rPr lang="fr-FR" smtClean="0"/>
              <a:pPr/>
              <a:t>‹#›</a:t>
            </a:fld>
            <a:endParaRPr lang="fr-FR"/>
          </a:p>
        </p:txBody>
      </p:sp>
    </p:spTree>
    <p:extLst>
      <p:ext uri="{BB962C8B-B14F-4D97-AF65-F5344CB8AC3E}">
        <p14:creationId xmlns:p14="http://schemas.microsoft.com/office/powerpoint/2010/main" val="2595504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p:cNvSpPr>
            <a:spLocks noGrp="1"/>
          </p:cNvSpPr>
          <p:nvPr>
            <p:ph type="dt" sz="half" idx="10"/>
          </p:nvPr>
        </p:nvSpPr>
        <p:spPr/>
        <p:txBody>
          <a:bodyPr/>
          <a:lstStyle/>
          <a:p>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194EA0E9-6AA5-4C72-ADD8-CBD3FCBC5038}" type="slidenum">
              <a:rPr lang="fr-FR" smtClean="0"/>
              <a:pPr/>
              <a:t>‹#›</a:t>
            </a:fld>
            <a:endParaRPr lang="fr-FR"/>
          </a:p>
        </p:txBody>
      </p:sp>
    </p:spTree>
    <p:extLst>
      <p:ext uri="{BB962C8B-B14F-4D97-AF65-F5344CB8AC3E}">
        <p14:creationId xmlns:p14="http://schemas.microsoft.com/office/powerpoint/2010/main" val="342528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Date Placeholder 2"/>
          <p:cNvSpPr>
            <a:spLocks noGrp="1"/>
          </p:cNvSpPr>
          <p:nvPr>
            <p:ph type="dt" sz="half" idx="10"/>
          </p:nvPr>
        </p:nvSpPr>
        <p:spPr/>
        <p:txBody>
          <a:bodyPr/>
          <a:lstStyle/>
          <a:p>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194EA0E9-6AA5-4C72-ADD8-CBD3FCBC5038}" type="slidenum">
              <a:rPr lang="fr-FR" smtClean="0"/>
              <a:pPr/>
              <a:t>‹#›</a:t>
            </a:fld>
            <a:endParaRPr lang="fr-FR"/>
          </a:p>
        </p:txBody>
      </p:sp>
    </p:spTree>
    <p:extLst>
      <p:ext uri="{BB962C8B-B14F-4D97-AF65-F5344CB8AC3E}">
        <p14:creationId xmlns:p14="http://schemas.microsoft.com/office/powerpoint/2010/main" val="2134867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194EA0E9-6AA5-4C72-ADD8-CBD3FCBC5038}" type="slidenum">
              <a:rPr lang="fr-FR" smtClean="0"/>
              <a:pPr/>
              <a:t>‹#›</a:t>
            </a:fld>
            <a:endParaRPr lang="fr-FR"/>
          </a:p>
        </p:txBody>
      </p:sp>
    </p:spTree>
    <p:extLst>
      <p:ext uri="{BB962C8B-B14F-4D97-AF65-F5344CB8AC3E}">
        <p14:creationId xmlns:p14="http://schemas.microsoft.com/office/powerpoint/2010/main" val="2827630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94EA0E9-6AA5-4C72-ADD8-CBD3FCBC5038}" type="slidenum">
              <a:rPr lang="fr-FR" smtClean="0"/>
              <a:pPr/>
              <a:t>‹#›</a:t>
            </a:fld>
            <a:endParaRPr lang="fr-FR"/>
          </a:p>
        </p:txBody>
      </p:sp>
    </p:spTree>
    <p:extLst>
      <p:ext uri="{BB962C8B-B14F-4D97-AF65-F5344CB8AC3E}">
        <p14:creationId xmlns:p14="http://schemas.microsoft.com/office/powerpoint/2010/main" val="2936515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94EA0E9-6AA5-4C72-ADD8-CBD3FCBC5038}" type="slidenum">
              <a:rPr lang="fr-FR" smtClean="0"/>
              <a:pPr/>
              <a:t>‹#›</a:t>
            </a:fld>
            <a:endParaRPr lang="fr-FR"/>
          </a:p>
        </p:txBody>
      </p:sp>
    </p:spTree>
    <p:extLst>
      <p:ext uri="{BB962C8B-B14F-4D97-AF65-F5344CB8AC3E}">
        <p14:creationId xmlns:p14="http://schemas.microsoft.com/office/powerpoint/2010/main" val="392251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p:cNvSpPr>
            <a:spLocks noGrp="1"/>
          </p:cNvSpPr>
          <p:nvPr>
            <p:ph type="dt" sz="half" idx="10"/>
          </p:nvPr>
        </p:nvSpPr>
        <p:spPr/>
        <p:txBody>
          <a:bodyPr/>
          <a:lstStyle/>
          <a:p>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4EA0E9-6AA5-4C72-ADD8-CBD3FCBC5038}" type="slidenum">
              <a:rPr lang="fr-FR" smtClean="0"/>
              <a:pPr/>
              <a:t>‹#›</a:t>
            </a:fld>
            <a:endParaRPr lang="fr-FR"/>
          </a:p>
        </p:txBody>
      </p:sp>
    </p:spTree>
    <p:extLst>
      <p:ext uri="{BB962C8B-B14F-4D97-AF65-F5344CB8AC3E}">
        <p14:creationId xmlns:p14="http://schemas.microsoft.com/office/powerpoint/2010/main" val="3734310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p:cNvSpPr>
            <a:spLocks noGrp="1"/>
          </p:cNvSpPr>
          <p:nvPr>
            <p:ph type="dt" sz="half" idx="10"/>
          </p:nvPr>
        </p:nvSpPr>
        <p:spPr/>
        <p:txBody>
          <a:bodyPr/>
          <a:lstStyle/>
          <a:p>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4EA0E9-6AA5-4C72-ADD8-CBD3FCBC5038}" type="slidenum">
              <a:rPr lang="fr-FR" smtClean="0"/>
              <a:pPr/>
              <a:t>‹#›</a:t>
            </a:fld>
            <a:endParaRPr lang="fr-FR"/>
          </a:p>
        </p:txBody>
      </p:sp>
    </p:spTree>
    <p:extLst>
      <p:ext uri="{BB962C8B-B14F-4D97-AF65-F5344CB8AC3E}">
        <p14:creationId xmlns:p14="http://schemas.microsoft.com/office/powerpoint/2010/main" val="1375752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Number title">
    <p:spTree>
      <p:nvGrpSpPr>
        <p:cNvPr id="1" name=""/>
        <p:cNvGrpSpPr/>
        <p:nvPr/>
      </p:nvGrpSpPr>
      <p:grpSpPr>
        <a:xfrm>
          <a:off x="0" y="0"/>
          <a:ext cx="0" cy="0"/>
          <a:chOff x="0" y="0"/>
          <a:chExt cx="0" cy="0"/>
        </a:xfrm>
      </p:grpSpPr>
      <p:sp>
        <p:nvSpPr>
          <p:cNvPr id="8" name="Marcador de texto 7"/>
          <p:cNvSpPr>
            <a:spLocks noGrp="1"/>
          </p:cNvSpPr>
          <p:nvPr>
            <p:ph type="body" sz="quarter" idx="10" hasCustomPrompt="1"/>
          </p:nvPr>
        </p:nvSpPr>
        <p:spPr>
          <a:xfrm>
            <a:off x="3401075" y="726829"/>
            <a:ext cx="5413293" cy="609596"/>
          </a:xfrm>
          <a:prstGeom prst="rect">
            <a:avLst/>
          </a:prstGeom>
        </p:spPr>
        <p:txBody>
          <a:bodyPr wrap="square" lIns="0" tIns="0" rIns="0" bIns="0" anchor="ctr"/>
          <a:lstStyle>
            <a:lvl1pPr marL="0" indent="0" algn="ctr">
              <a:buNone/>
              <a:defRPr sz="4667" b="1" i="0">
                <a:solidFill>
                  <a:schemeClr val="accent1"/>
                </a:solidFill>
                <a:latin typeface="Raleway Black" charset="0"/>
                <a:ea typeface="Raleway Black" charset="0"/>
                <a:cs typeface="Raleway Black" charset="0"/>
              </a:defRPr>
            </a:lvl1pPr>
          </a:lstStyle>
          <a:p>
            <a:pPr lvl="0"/>
            <a:r>
              <a:rPr lang="es-ES_tradnl" dirty="0"/>
              <a:t>INDEX</a:t>
            </a:r>
          </a:p>
        </p:txBody>
      </p:sp>
      <p:sp>
        <p:nvSpPr>
          <p:cNvPr id="9" name="Marcador de texto 7"/>
          <p:cNvSpPr>
            <a:spLocks noGrp="1"/>
          </p:cNvSpPr>
          <p:nvPr>
            <p:ph type="body" sz="quarter" idx="11" hasCustomPrompt="1"/>
          </p:nvPr>
        </p:nvSpPr>
        <p:spPr>
          <a:xfrm>
            <a:off x="3401075" y="1418485"/>
            <a:ext cx="5413292" cy="339972"/>
          </a:xfrm>
          <a:prstGeom prst="rect">
            <a:avLst/>
          </a:prstGeom>
        </p:spPr>
        <p:txBody>
          <a:bodyPr vert="horz" lIns="0" tIns="0" rIns="0" bIns="0" anchor="ctr"/>
          <a:lstStyle>
            <a:lvl1pPr marL="0" indent="0" algn="ctr">
              <a:buNone/>
              <a:defRPr sz="1600" b="1" i="0">
                <a:solidFill>
                  <a:schemeClr val="tx1">
                    <a:lumMod val="85000"/>
                    <a:lumOff val="15000"/>
                  </a:schemeClr>
                </a:solidFill>
                <a:latin typeface="Raleway Black" charset="0"/>
                <a:ea typeface="Raleway Black" charset="0"/>
                <a:cs typeface="Raleway Black" charset="0"/>
              </a:defRPr>
            </a:lvl1pPr>
          </a:lstStyle>
          <a:p>
            <a:pPr lvl="0"/>
            <a:r>
              <a:rPr lang="es-ES_tradnl" dirty="0"/>
              <a:t>ULTIMATE POWERPOINT TEMPLATE</a:t>
            </a:r>
          </a:p>
        </p:txBody>
      </p:sp>
      <p:cxnSp>
        <p:nvCxnSpPr>
          <p:cNvPr id="4" name="Conector recto 3"/>
          <p:cNvCxnSpPr/>
          <p:nvPr userDrawn="1"/>
        </p:nvCxnSpPr>
        <p:spPr>
          <a:xfrm flipV="1">
            <a:off x="6107720" y="2133601"/>
            <a:ext cx="0" cy="3704660"/>
          </a:xfrm>
          <a:prstGeom prst="line">
            <a:avLst/>
          </a:prstGeom>
          <a:ln w="9525">
            <a:solidFill>
              <a:schemeClr val="accent5">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10" name="Marcador de texto 7"/>
          <p:cNvSpPr>
            <a:spLocks noGrp="1"/>
          </p:cNvSpPr>
          <p:nvPr>
            <p:ph type="body" sz="quarter" idx="12" hasCustomPrompt="1"/>
          </p:nvPr>
        </p:nvSpPr>
        <p:spPr>
          <a:xfrm>
            <a:off x="3401076" y="2133601"/>
            <a:ext cx="2554248" cy="339972"/>
          </a:xfrm>
          <a:prstGeom prst="rect">
            <a:avLst/>
          </a:prstGeom>
        </p:spPr>
        <p:txBody>
          <a:bodyPr vert="horz" lIns="0" tIns="0" rIns="0" bIns="0" anchor="ctr"/>
          <a:lstStyle>
            <a:lvl1pPr marL="0" indent="0" algn="r">
              <a:buNone/>
              <a:defRPr sz="4000" b="1" i="0">
                <a:solidFill>
                  <a:schemeClr val="accent2"/>
                </a:solidFill>
                <a:latin typeface="Raleway Black" charset="0"/>
                <a:ea typeface="Raleway Black" charset="0"/>
                <a:cs typeface="Raleway Black" charset="0"/>
              </a:defRPr>
            </a:lvl1pPr>
          </a:lstStyle>
          <a:p>
            <a:pPr lvl="0"/>
            <a:r>
              <a:rPr lang="es-ES_tradnl" dirty="0"/>
              <a:t>01</a:t>
            </a:r>
          </a:p>
        </p:txBody>
      </p:sp>
      <p:sp>
        <p:nvSpPr>
          <p:cNvPr id="11" name="Marcador de texto 7"/>
          <p:cNvSpPr>
            <a:spLocks noGrp="1"/>
          </p:cNvSpPr>
          <p:nvPr>
            <p:ph type="body" sz="quarter" idx="13" hasCustomPrompt="1"/>
          </p:nvPr>
        </p:nvSpPr>
        <p:spPr>
          <a:xfrm>
            <a:off x="6260119" y="2133601"/>
            <a:ext cx="2554248" cy="339972"/>
          </a:xfrm>
          <a:prstGeom prst="rect">
            <a:avLst/>
          </a:prstGeom>
        </p:spPr>
        <p:txBody>
          <a:bodyPr vert="horz" lIns="0" tIns="0" rIns="0" bIns="0" anchor="ctr"/>
          <a:lstStyle>
            <a:lvl1pPr marL="0" indent="0" algn="l">
              <a:buNone/>
              <a:defRPr sz="1600" b="1" i="0">
                <a:solidFill>
                  <a:schemeClr val="accent2"/>
                </a:solidFill>
                <a:latin typeface="Raleway Black" charset="0"/>
                <a:ea typeface="Raleway Black" charset="0"/>
                <a:cs typeface="Raleway Black" charset="0"/>
              </a:defRPr>
            </a:lvl1pPr>
          </a:lstStyle>
          <a:p>
            <a:pPr lvl="0"/>
            <a:r>
              <a:rPr lang="es-ES_tradnl" dirty="0" err="1"/>
              <a:t>About</a:t>
            </a:r>
            <a:r>
              <a:rPr lang="es-ES_tradnl" dirty="0"/>
              <a:t> </a:t>
            </a:r>
            <a:r>
              <a:rPr lang="es-ES_tradnl" dirty="0" err="1"/>
              <a:t>us</a:t>
            </a:r>
            <a:endParaRPr lang="es-ES_tradnl" dirty="0"/>
          </a:p>
        </p:txBody>
      </p:sp>
      <p:sp>
        <p:nvSpPr>
          <p:cNvPr id="14" name="Marcador de texto 7"/>
          <p:cNvSpPr>
            <a:spLocks noGrp="1"/>
          </p:cNvSpPr>
          <p:nvPr>
            <p:ph type="body" sz="quarter" idx="16" hasCustomPrompt="1"/>
          </p:nvPr>
        </p:nvSpPr>
        <p:spPr>
          <a:xfrm>
            <a:off x="3401076" y="3153506"/>
            <a:ext cx="2554248" cy="339972"/>
          </a:xfrm>
          <a:prstGeom prst="rect">
            <a:avLst/>
          </a:prstGeom>
        </p:spPr>
        <p:txBody>
          <a:bodyPr vert="horz" lIns="0" tIns="0" rIns="0" bIns="0" anchor="ctr"/>
          <a:lstStyle>
            <a:lvl1pPr marL="0" indent="0" algn="r">
              <a:buNone/>
              <a:defRPr sz="4000" b="1" i="0">
                <a:solidFill>
                  <a:schemeClr val="accent3"/>
                </a:solidFill>
                <a:latin typeface="Raleway Black" charset="0"/>
                <a:ea typeface="Raleway Black" charset="0"/>
                <a:cs typeface="Raleway Black" charset="0"/>
              </a:defRPr>
            </a:lvl1pPr>
          </a:lstStyle>
          <a:p>
            <a:pPr lvl="0"/>
            <a:r>
              <a:rPr lang="es-ES_tradnl" dirty="0"/>
              <a:t>03</a:t>
            </a:r>
          </a:p>
        </p:txBody>
      </p:sp>
      <p:sp>
        <p:nvSpPr>
          <p:cNvPr id="15" name="Marcador de texto 7"/>
          <p:cNvSpPr>
            <a:spLocks noGrp="1"/>
          </p:cNvSpPr>
          <p:nvPr>
            <p:ph type="body" sz="quarter" idx="17" hasCustomPrompt="1"/>
          </p:nvPr>
        </p:nvSpPr>
        <p:spPr>
          <a:xfrm>
            <a:off x="6260119" y="3153506"/>
            <a:ext cx="2554248" cy="339972"/>
          </a:xfrm>
          <a:prstGeom prst="rect">
            <a:avLst/>
          </a:prstGeom>
        </p:spPr>
        <p:txBody>
          <a:bodyPr vert="horz" lIns="0" tIns="0" rIns="0" bIns="0" anchor="ctr"/>
          <a:lstStyle>
            <a:lvl1pPr marL="0" indent="0" algn="l">
              <a:buNone/>
              <a:defRPr sz="1600" b="1" i="0">
                <a:solidFill>
                  <a:schemeClr val="accent3"/>
                </a:solidFill>
                <a:latin typeface="Raleway Black" charset="0"/>
                <a:ea typeface="Raleway Black" charset="0"/>
                <a:cs typeface="Raleway Black" charset="0"/>
              </a:defRPr>
            </a:lvl1pPr>
          </a:lstStyle>
          <a:p>
            <a:pPr lvl="0"/>
            <a:r>
              <a:rPr lang="es-ES_tradnl" dirty="0" err="1"/>
              <a:t>Work</a:t>
            </a:r>
            <a:endParaRPr lang="es-ES_tradnl" dirty="0"/>
          </a:p>
        </p:txBody>
      </p:sp>
      <p:sp>
        <p:nvSpPr>
          <p:cNvPr id="16" name="Marcador de texto 7"/>
          <p:cNvSpPr>
            <a:spLocks noGrp="1"/>
          </p:cNvSpPr>
          <p:nvPr>
            <p:ph type="body" sz="quarter" idx="18" hasCustomPrompt="1"/>
          </p:nvPr>
        </p:nvSpPr>
        <p:spPr>
          <a:xfrm>
            <a:off x="6260119" y="2637694"/>
            <a:ext cx="2554248" cy="339972"/>
          </a:xfrm>
          <a:prstGeom prst="rect">
            <a:avLst/>
          </a:prstGeom>
        </p:spPr>
        <p:txBody>
          <a:bodyPr vert="horz" lIns="0" tIns="0" rIns="0" bIns="0" anchor="ctr"/>
          <a:lstStyle>
            <a:lvl1pPr marL="0" indent="0" algn="l">
              <a:buNone/>
              <a:defRPr sz="4000" b="1" i="0">
                <a:solidFill>
                  <a:schemeClr val="bg1">
                    <a:lumMod val="65000"/>
                  </a:schemeClr>
                </a:solidFill>
                <a:latin typeface="Raleway Black" charset="0"/>
                <a:ea typeface="Raleway Black" charset="0"/>
                <a:cs typeface="Raleway Black" charset="0"/>
              </a:defRPr>
            </a:lvl1pPr>
          </a:lstStyle>
          <a:p>
            <a:pPr lvl="0"/>
            <a:r>
              <a:rPr lang="es-ES_tradnl" dirty="0"/>
              <a:t>02</a:t>
            </a:r>
          </a:p>
        </p:txBody>
      </p:sp>
      <p:sp>
        <p:nvSpPr>
          <p:cNvPr id="17" name="Marcador de texto 7"/>
          <p:cNvSpPr>
            <a:spLocks noGrp="1"/>
          </p:cNvSpPr>
          <p:nvPr>
            <p:ph type="body" sz="quarter" idx="19" hasCustomPrompt="1"/>
          </p:nvPr>
        </p:nvSpPr>
        <p:spPr>
          <a:xfrm>
            <a:off x="3389352" y="2637694"/>
            <a:ext cx="2554248" cy="339972"/>
          </a:xfrm>
          <a:prstGeom prst="rect">
            <a:avLst/>
          </a:prstGeom>
        </p:spPr>
        <p:txBody>
          <a:bodyPr vert="horz" lIns="0" tIns="0" rIns="0" bIns="0" anchor="ctr"/>
          <a:lstStyle>
            <a:lvl1pPr marL="0" indent="0" algn="r">
              <a:buNone/>
              <a:defRPr sz="1600" b="1" i="0">
                <a:solidFill>
                  <a:schemeClr val="bg1">
                    <a:lumMod val="65000"/>
                  </a:schemeClr>
                </a:solidFill>
                <a:latin typeface="Raleway Black" charset="0"/>
                <a:ea typeface="Raleway Black" charset="0"/>
                <a:cs typeface="Raleway Black" charset="0"/>
              </a:defRPr>
            </a:lvl1pPr>
          </a:lstStyle>
          <a:p>
            <a:pPr lvl="0"/>
            <a:r>
              <a:rPr lang="es-ES_tradnl" dirty="0" err="1"/>
              <a:t>Services</a:t>
            </a:r>
            <a:endParaRPr lang="es-ES_tradnl" dirty="0"/>
          </a:p>
        </p:txBody>
      </p:sp>
      <p:sp>
        <p:nvSpPr>
          <p:cNvPr id="18" name="Marcador de texto 7"/>
          <p:cNvSpPr>
            <a:spLocks noGrp="1"/>
          </p:cNvSpPr>
          <p:nvPr>
            <p:ph type="body" sz="quarter" idx="20" hasCustomPrompt="1"/>
          </p:nvPr>
        </p:nvSpPr>
        <p:spPr>
          <a:xfrm>
            <a:off x="6260119" y="3669325"/>
            <a:ext cx="2554248" cy="339972"/>
          </a:xfrm>
          <a:prstGeom prst="rect">
            <a:avLst/>
          </a:prstGeom>
        </p:spPr>
        <p:txBody>
          <a:bodyPr vert="horz" lIns="0" tIns="0" rIns="0" bIns="0" anchor="ctr"/>
          <a:lstStyle>
            <a:lvl1pPr marL="0" indent="0" algn="l">
              <a:buNone/>
              <a:defRPr sz="4000" b="1" i="0">
                <a:solidFill>
                  <a:schemeClr val="bg1">
                    <a:lumMod val="65000"/>
                  </a:schemeClr>
                </a:solidFill>
                <a:latin typeface="Raleway Black" charset="0"/>
                <a:ea typeface="Raleway Black" charset="0"/>
                <a:cs typeface="Raleway Black" charset="0"/>
              </a:defRPr>
            </a:lvl1pPr>
          </a:lstStyle>
          <a:p>
            <a:pPr lvl="0"/>
            <a:r>
              <a:rPr lang="es-ES_tradnl" dirty="0"/>
              <a:t>04</a:t>
            </a:r>
          </a:p>
        </p:txBody>
      </p:sp>
      <p:sp>
        <p:nvSpPr>
          <p:cNvPr id="19" name="Marcador de texto 7"/>
          <p:cNvSpPr>
            <a:spLocks noGrp="1"/>
          </p:cNvSpPr>
          <p:nvPr>
            <p:ph type="body" sz="quarter" idx="21" hasCustomPrompt="1"/>
          </p:nvPr>
        </p:nvSpPr>
        <p:spPr>
          <a:xfrm>
            <a:off x="3389352" y="3669325"/>
            <a:ext cx="2554248" cy="339972"/>
          </a:xfrm>
          <a:prstGeom prst="rect">
            <a:avLst/>
          </a:prstGeom>
        </p:spPr>
        <p:txBody>
          <a:bodyPr vert="horz" lIns="0" tIns="0" rIns="0" bIns="0" anchor="ctr"/>
          <a:lstStyle>
            <a:lvl1pPr marL="0" indent="0" algn="r">
              <a:buNone/>
              <a:defRPr sz="1600" b="1" i="0">
                <a:solidFill>
                  <a:schemeClr val="bg1">
                    <a:lumMod val="65000"/>
                  </a:schemeClr>
                </a:solidFill>
                <a:latin typeface="Raleway Black" charset="0"/>
                <a:ea typeface="Raleway Black" charset="0"/>
                <a:cs typeface="Raleway Black" charset="0"/>
              </a:defRPr>
            </a:lvl1pPr>
          </a:lstStyle>
          <a:p>
            <a:pPr lvl="0"/>
            <a:r>
              <a:rPr lang="es-ES_tradnl" dirty="0" err="1"/>
              <a:t>Results</a:t>
            </a:r>
            <a:endParaRPr lang="es-ES_tradnl" dirty="0"/>
          </a:p>
        </p:txBody>
      </p:sp>
      <p:sp>
        <p:nvSpPr>
          <p:cNvPr id="20" name="Marcador de texto 7"/>
          <p:cNvSpPr>
            <a:spLocks noGrp="1"/>
          </p:cNvSpPr>
          <p:nvPr>
            <p:ph type="body" sz="quarter" idx="22" hasCustomPrompt="1"/>
          </p:nvPr>
        </p:nvSpPr>
        <p:spPr>
          <a:xfrm>
            <a:off x="3401076" y="4196863"/>
            <a:ext cx="2554248" cy="339972"/>
          </a:xfrm>
          <a:prstGeom prst="rect">
            <a:avLst/>
          </a:prstGeom>
        </p:spPr>
        <p:txBody>
          <a:bodyPr vert="horz" lIns="0" tIns="0" rIns="0" bIns="0" anchor="ctr"/>
          <a:lstStyle>
            <a:lvl1pPr marL="0" indent="0" algn="r">
              <a:buNone/>
              <a:defRPr sz="4000" b="1" i="0">
                <a:solidFill>
                  <a:schemeClr val="accent5"/>
                </a:solidFill>
                <a:latin typeface="Raleway Black" charset="0"/>
                <a:ea typeface="Raleway Black" charset="0"/>
                <a:cs typeface="Raleway Black" charset="0"/>
              </a:defRPr>
            </a:lvl1pPr>
          </a:lstStyle>
          <a:p>
            <a:pPr lvl="0"/>
            <a:r>
              <a:rPr lang="es-ES_tradnl" dirty="0"/>
              <a:t>05</a:t>
            </a:r>
          </a:p>
        </p:txBody>
      </p:sp>
      <p:sp>
        <p:nvSpPr>
          <p:cNvPr id="21" name="Marcador de texto 7"/>
          <p:cNvSpPr>
            <a:spLocks noGrp="1"/>
          </p:cNvSpPr>
          <p:nvPr>
            <p:ph type="body" sz="quarter" idx="23" hasCustomPrompt="1"/>
          </p:nvPr>
        </p:nvSpPr>
        <p:spPr>
          <a:xfrm>
            <a:off x="6260119" y="4196863"/>
            <a:ext cx="2554248" cy="339972"/>
          </a:xfrm>
          <a:prstGeom prst="rect">
            <a:avLst/>
          </a:prstGeom>
        </p:spPr>
        <p:txBody>
          <a:bodyPr vert="horz" lIns="0" tIns="0" rIns="0" bIns="0" anchor="ctr"/>
          <a:lstStyle>
            <a:lvl1pPr marL="0" indent="0" algn="l">
              <a:buNone/>
              <a:defRPr sz="1600" b="1" i="0">
                <a:solidFill>
                  <a:schemeClr val="accent5"/>
                </a:solidFill>
                <a:latin typeface="Raleway Black" charset="0"/>
                <a:ea typeface="Raleway Black" charset="0"/>
                <a:cs typeface="Raleway Black" charset="0"/>
              </a:defRPr>
            </a:lvl1pPr>
          </a:lstStyle>
          <a:p>
            <a:pPr lvl="0"/>
            <a:r>
              <a:rPr lang="es-ES_tradnl" dirty="0"/>
              <a:t>Extras</a:t>
            </a:r>
          </a:p>
        </p:txBody>
      </p:sp>
      <p:sp>
        <p:nvSpPr>
          <p:cNvPr id="22" name="Marcador de texto 7"/>
          <p:cNvSpPr>
            <a:spLocks noGrp="1"/>
          </p:cNvSpPr>
          <p:nvPr>
            <p:ph type="body" sz="quarter" idx="24" hasCustomPrompt="1"/>
          </p:nvPr>
        </p:nvSpPr>
        <p:spPr>
          <a:xfrm>
            <a:off x="6260119" y="4724403"/>
            <a:ext cx="2554248" cy="339972"/>
          </a:xfrm>
          <a:prstGeom prst="rect">
            <a:avLst/>
          </a:prstGeom>
        </p:spPr>
        <p:txBody>
          <a:bodyPr vert="horz" lIns="0" tIns="0" rIns="0" bIns="0" anchor="ctr"/>
          <a:lstStyle>
            <a:lvl1pPr marL="0" indent="0" algn="l">
              <a:buNone/>
              <a:defRPr sz="4000" b="1" i="0">
                <a:solidFill>
                  <a:schemeClr val="bg1">
                    <a:lumMod val="65000"/>
                  </a:schemeClr>
                </a:solidFill>
                <a:latin typeface="Raleway Black" charset="0"/>
                <a:ea typeface="Raleway Black" charset="0"/>
                <a:cs typeface="Raleway Black" charset="0"/>
              </a:defRPr>
            </a:lvl1pPr>
          </a:lstStyle>
          <a:p>
            <a:pPr lvl="0"/>
            <a:r>
              <a:rPr lang="es-ES_tradnl" dirty="0"/>
              <a:t>06</a:t>
            </a:r>
          </a:p>
        </p:txBody>
      </p:sp>
      <p:sp>
        <p:nvSpPr>
          <p:cNvPr id="23" name="Marcador de texto 7"/>
          <p:cNvSpPr>
            <a:spLocks noGrp="1"/>
          </p:cNvSpPr>
          <p:nvPr>
            <p:ph type="body" sz="quarter" idx="25" hasCustomPrompt="1"/>
          </p:nvPr>
        </p:nvSpPr>
        <p:spPr>
          <a:xfrm>
            <a:off x="3389352" y="4724403"/>
            <a:ext cx="2554248" cy="339972"/>
          </a:xfrm>
          <a:prstGeom prst="rect">
            <a:avLst/>
          </a:prstGeom>
        </p:spPr>
        <p:txBody>
          <a:bodyPr vert="horz" lIns="0" tIns="0" rIns="0" bIns="0" anchor="ctr"/>
          <a:lstStyle>
            <a:lvl1pPr marL="0" indent="0" algn="r">
              <a:buNone/>
              <a:defRPr sz="1600" b="1" i="0">
                <a:solidFill>
                  <a:schemeClr val="bg1">
                    <a:lumMod val="65000"/>
                  </a:schemeClr>
                </a:solidFill>
                <a:latin typeface="Raleway Black" charset="0"/>
                <a:ea typeface="Raleway Black" charset="0"/>
                <a:cs typeface="Raleway Black" charset="0"/>
              </a:defRPr>
            </a:lvl1pPr>
          </a:lstStyle>
          <a:p>
            <a:pPr lvl="0"/>
            <a:r>
              <a:rPr lang="es-ES_tradnl" dirty="0" err="1"/>
              <a:t>Contact</a:t>
            </a:r>
            <a:endParaRPr lang="es-ES_tradnl" dirty="0"/>
          </a:p>
        </p:txBody>
      </p:sp>
    </p:spTree>
    <p:extLst>
      <p:ext uri="{BB962C8B-B14F-4D97-AF65-F5344CB8AC3E}">
        <p14:creationId xmlns:p14="http://schemas.microsoft.com/office/powerpoint/2010/main" val="2926181059"/>
      </p:ext>
    </p:extLst>
  </p:cSld>
  <p:clrMapOvr>
    <a:masterClrMapping/>
  </p:clrMapOvr>
  <p:extLst>
    <p:ext uri="{DCECCB84-F9BA-43D5-87BE-67443E8EF086}">
      <p15:sldGuideLst xmlns:p15="http://schemas.microsoft.com/office/powerpoint/2012/main">
        <p15:guide id="1" pos="2880">
          <p15:clr>
            <a:srgbClr val="FBAE40"/>
          </p15:clr>
        </p15:guide>
        <p15:guide id="2" pos="317">
          <p15:clr>
            <a:srgbClr val="FBAE40"/>
          </p15:clr>
        </p15:guide>
        <p15:guide id="3" pos="553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1"/>
            <a:ext cx="12191999" cy="6887832"/>
          </a:xfrm>
          <a:prstGeom prst="rect">
            <a:avLst/>
          </a:prstGeom>
        </p:spPr>
      </p:pic>
      <p:grpSp>
        <p:nvGrpSpPr>
          <p:cNvPr id="3" name="Group 4"/>
          <p:cNvGrpSpPr>
            <a:grpSpLocks noChangeAspect="1"/>
          </p:cNvGrpSpPr>
          <p:nvPr userDrawn="1"/>
        </p:nvGrpSpPr>
        <p:grpSpPr bwMode="auto">
          <a:xfrm>
            <a:off x="4995059" y="2839808"/>
            <a:ext cx="2157259" cy="1147389"/>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grpSp>
    </p:spTree>
    <p:extLst>
      <p:ext uri="{BB962C8B-B14F-4D97-AF65-F5344CB8AC3E}">
        <p14:creationId xmlns:p14="http://schemas.microsoft.com/office/powerpoint/2010/main" val="1122683747"/>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4EA0E9-6AA5-4C72-ADD8-CBD3FCBC5038}" type="slidenum">
              <a:rPr lang="fr-FR" smtClean="0"/>
              <a:pPr/>
              <a:t>‹#›</a:t>
            </a:fld>
            <a:endParaRPr lang="fr-FR"/>
          </a:p>
        </p:txBody>
      </p:sp>
    </p:spTree>
    <p:extLst>
      <p:ext uri="{BB962C8B-B14F-4D97-AF65-F5344CB8AC3E}">
        <p14:creationId xmlns:p14="http://schemas.microsoft.com/office/powerpoint/2010/main" val="1226445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txBox="1">
            <a:spLocks/>
          </p:cNvSpPr>
          <p:nvPr/>
        </p:nvSpPr>
        <p:spPr>
          <a:xfrm>
            <a:off x="0" y="1371600"/>
            <a:ext cx="12192000" cy="4396283"/>
          </a:xfrm>
          <a:prstGeom prst="rect">
            <a:avLst/>
          </a:prstGeom>
        </p:spPr>
        <p:txBody>
          <a:bodyPr vert="horz" lIns="91440" tIns="45720" rIns="91440" bIns="45720" rtlCol="0" anchor="ctr">
            <a:normAutofit/>
          </a:bodyPr>
          <a:lstStyle/>
          <a:p>
            <a:pPr algn="ctr"/>
            <a:r>
              <a:rPr lang="fr-FR" sz="4800" dirty="0">
                <a:solidFill>
                  <a:srgbClr val="C00000"/>
                </a:solidFill>
              </a:rPr>
              <a:t>Opérations de configuration de base d'un routeur</a:t>
            </a:r>
          </a:p>
          <a:p>
            <a:br>
              <a:rPr lang="fr-FR" sz="4800" dirty="0"/>
            </a:br>
            <a:endParaRPr kumimoji="0" lang="fr-FR" sz="4800" b="1" i="0" u="none" strike="noStrike" kern="1200" cap="none" spc="0" normalizeH="0" baseline="0" noProof="0" dirty="0">
              <a:ln>
                <a:noFill/>
              </a:ln>
              <a:solidFill>
                <a:srgbClr val="002060"/>
              </a:solidFill>
              <a:effectLst/>
              <a:uLnTx/>
              <a:uFillTx/>
              <a:latin typeface="+mj-lt"/>
              <a:ea typeface="+mj-ea"/>
              <a:cs typeface="+mj-cs"/>
            </a:endParaRPr>
          </a:p>
        </p:txBody>
      </p:sp>
      <p:sp>
        <p:nvSpPr>
          <p:cNvPr id="17" name="Rectangle 16"/>
          <p:cNvSpPr/>
          <p:nvPr/>
        </p:nvSpPr>
        <p:spPr>
          <a:xfrm>
            <a:off x="320040" y="670560"/>
            <a:ext cx="899160" cy="7010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8924" y="207465"/>
            <a:ext cx="10515600" cy="1325563"/>
          </a:xfrm>
        </p:spPr>
        <p:txBody>
          <a:bodyPr/>
          <a:lstStyle/>
          <a:p>
            <a:r>
              <a:rPr lang="fr-FR" b="1" dirty="0">
                <a:solidFill>
                  <a:srgbClr val="C00000"/>
                </a:solidFill>
              </a:rPr>
              <a:t>Un routeur est un ordinateur</a:t>
            </a:r>
          </a:p>
        </p:txBody>
      </p:sp>
      <p:sp>
        <p:nvSpPr>
          <p:cNvPr id="4" name="Espace réservé du numéro de diapositive 3"/>
          <p:cNvSpPr>
            <a:spLocks noGrp="1"/>
          </p:cNvSpPr>
          <p:nvPr>
            <p:ph type="sldNum" sz="quarter" idx="12"/>
          </p:nvPr>
        </p:nvSpPr>
        <p:spPr/>
        <p:txBody>
          <a:bodyPr/>
          <a:lstStyle/>
          <a:p>
            <a:fld id="{194EA0E9-6AA5-4C72-ADD8-CBD3FCBC5038}" type="slidenum">
              <a:rPr lang="fr-FR" smtClean="0"/>
              <a:pPr/>
              <a:t>2</a:t>
            </a:fld>
            <a:endParaRPr lang="fr-FR"/>
          </a:p>
        </p:txBody>
      </p:sp>
      <p:sp>
        <p:nvSpPr>
          <p:cNvPr id="5" name="Rectangle 4"/>
          <p:cNvSpPr/>
          <p:nvPr/>
        </p:nvSpPr>
        <p:spPr>
          <a:xfrm>
            <a:off x="977462" y="1791701"/>
            <a:ext cx="10105696" cy="1200329"/>
          </a:xfrm>
          <a:prstGeom prst="rect">
            <a:avLst/>
          </a:prstGeom>
        </p:spPr>
        <p:txBody>
          <a:bodyPr wrap="square">
            <a:spAutoFit/>
          </a:bodyPr>
          <a:lstStyle/>
          <a:p>
            <a:pPr algn="just"/>
            <a:r>
              <a:rPr lang="fr-FR" sz="2400" dirty="0"/>
              <a:t>Il existe de nombreux types de routeur d'infrastructure. En fait, les routeurs Cisco sont conçus pour répondre aux besoins de nombreux types d'entreprises et de réseaux</a:t>
            </a:r>
          </a:p>
        </p:txBody>
      </p:sp>
      <p:sp>
        <p:nvSpPr>
          <p:cNvPr id="6" name="AutoShape 3">
            <a:extLst>
              <a:ext uri="{FF2B5EF4-FFF2-40B4-BE49-F238E27FC236}">
                <a16:creationId xmlns:a16="http://schemas.microsoft.com/office/drawing/2014/main" id="{63F64719-DA42-4240-A21B-77A9DF80934A}"/>
              </a:ext>
            </a:extLst>
          </p:cNvPr>
          <p:cNvSpPr>
            <a:spLocks noChangeArrowheads="1"/>
          </p:cNvSpPr>
          <p:nvPr/>
        </p:nvSpPr>
        <p:spPr bwMode="auto">
          <a:xfrm rot="5400000">
            <a:off x="1223850" y="3482446"/>
            <a:ext cx="98829" cy="154940"/>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7" name="AutoShape 3">
            <a:extLst>
              <a:ext uri="{FF2B5EF4-FFF2-40B4-BE49-F238E27FC236}">
                <a16:creationId xmlns:a16="http://schemas.microsoft.com/office/drawing/2014/main" id="{63F64719-DA42-4240-A21B-77A9DF80934A}"/>
              </a:ext>
            </a:extLst>
          </p:cNvPr>
          <p:cNvSpPr>
            <a:spLocks noChangeArrowheads="1"/>
          </p:cNvSpPr>
          <p:nvPr/>
        </p:nvSpPr>
        <p:spPr bwMode="auto">
          <a:xfrm rot="5400000">
            <a:off x="1234370" y="3130346"/>
            <a:ext cx="98829" cy="154940"/>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8" name="AutoShape 3">
            <a:extLst>
              <a:ext uri="{FF2B5EF4-FFF2-40B4-BE49-F238E27FC236}">
                <a16:creationId xmlns:a16="http://schemas.microsoft.com/office/drawing/2014/main" id="{63F64719-DA42-4240-A21B-77A9DF80934A}"/>
              </a:ext>
            </a:extLst>
          </p:cNvPr>
          <p:cNvSpPr>
            <a:spLocks noChangeArrowheads="1"/>
          </p:cNvSpPr>
          <p:nvPr/>
        </p:nvSpPr>
        <p:spPr bwMode="auto">
          <a:xfrm rot="5400000">
            <a:off x="1250136" y="3887091"/>
            <a:ext cx="98829" cy="154940"/>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9" name="Rectangle 8"/>
          <p:cNvSpPr/>
          <p:nvPr/>
        </p:nvSpPr>
        <p:spPr>
          <a:xfrm>
            <a:off x="1558422" y="3023619"/>
            <a:ext cx="1160895" cy="369332"/>
          </a:xfrm>
          <a:prstGeom prst="rect">
            <a:avLst/>
          </a:prstGeom>
        </p:spPr>
        <p:txBody>
          <a:bodyPr wrap="none">
            <a:spAutoFit/>
          </a:bodyPr>
          <a:lstStyle/>
          <a:p>
            <a:r>
              <a:rPr lang="fr-FR" b="1" dirty="0"/>
              <a:t>Les filiales</a:t>
            </a:r>
            <a:endParaRPr lang="fr-FR" dirty="0"/>
          </a:p>
        </p:txBody>
      </p:sp>
      <p:sp>
        <p:nvSpPr>
          <p:cNvPr id="10" name="Rectangle 9"/>
          <p:cNvSpPr/>
          <p:nvPr/>
        </p:nvSpPr>
        <p:spPr>
          <a:xfrm>
            <a:off x="1560781" y="3370458"/>
            <a:ext cx="2795765" cy="369332"/>
          </a:xfrm>
          <a:prstGeom prst="rect">
            <a:avLst/>
          </a:prstGeom>
        </p:spPr>
        <p:txBody>
          <a:bodyPr wrap="none">
            <a:spAutoFit/>
          </a:bodyPr>
          <a:lstStyle/>
          <a:p>
            <a:r>
              <a:rPr lang="fr-FR" b="1" dirty="0"/>
              <a:t>Les réseaux étendus (WAN)</a:t>
            </a:r>
            <a:endParaRPr lang="fr-FR" dirty="0"/>
          </a:p>
        </p:txBody>
      </p:sp>
      <p:sp>
        <p:nvSpPr>
          <p:cNvPr id="11" name="Rectangle 10"/>
          <p:cNvSpPr/>
          <p:nvPr/>
        </p:nvSpPr>
        <p:spPr>
          <a:xfrm>
            <a:off x="1555857" y="3796127"/>
            <a:ext cx="2868670" cy="369332"/>
          </a:xfrm>
          <a:prstGeom prst="rect">
            <a:avLst/>
          </a:prstGeom>
        </p:spPr>
        <p:txBody>
          <a:bodyPr wrap="none">
            <a:spAutoFit/>
          </a:bodyPr>
          <a:lstStyle/>
          <a:p>
            <a:r>
              <a:rPr lang="fr-FR" b="1" dirty="0"/>
              <a:t>Les fournisseurs de services </a:t>
            </a:r>
            <a:endParaRPr lang="fr-FR" dirty="0"/>
          </a:p>
        </p:txBody>
      </p:sp>
      <p:sp>
        <p:nvSpPr>
          <p:cNvPr id="16" name="Rectangle 15"/>
          <p:cNvSpPr/>
          <p:nvPr/>
        </p:nvSpPr>
        <p:spPr>
          <a:xfrm>
            <a:off x="1171903" y="4619325"/>
            <a:ext cx="9974318" cy="461665"/>
          </a:xfrm>
          <a:prstGeom prst="rect">
            <a:avLst/>
          </a:prstGeom>
        </p:spPr>
        <p:txBody>
          <a:bodyPr wrap="square">
            <a:spAutoFit/>
          </a:bodyPr>
          <a:lstStyle/>
          <a:p>
            <a:r>
              <a:rPr lang="fr-FR" sz="2400" dirty="0">
                <a:solidFill>
                  <a:srgbClr val="C00000"/>
                </a:solidFill>
              </a:rPr>
              <a:t>La certification CCNA se concentre sur les routeurs destinés aux filiales.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3</a:t>
            </a:fld>
            <a:endParaRPr lang="fr-FR"/>
          </a:p>
        </p:txBody>
      </p:sp>
      <p:sp>
        <p:nvSpPr>
          <p:cNvPr id="5" name="Rectangle 4"/>
          <p:cNvSpPr/>
          <p:nvPr/>
        </p:nvSpPr>
        <p:spPr>
          <a:xfrm>
            <a:off x="804041" y="1687132"/>
            <a:ext cx="11146221" cy="3416320"/>
          </a:xfrm>
          <a:prstGeom prst="rect">
            <a:avLst/>
          </a:prstGeom>
        </p:spPr>
        <p:txBody>
          <a:bodyPr wrap="square">
            <a:spAutoFit/>
          </a:bodyPr>
          <a:lstStyle/>
          <a:p>
            <a:r>
              <a:rPr lang="fr-FR" sz="2400" dirty="0"/>
              <a:t>Quelles que soient leur fonction, leur taille et leur complexité, tous les modèles de routeur sont en fait des ordinateurs. </a:t>
            </a:r>
          </a:p>
          <a:p>
            <a:endParaRPr lang="fr-FR" sz="2400" dirty="0"/>
          </a:p>
          <a:p>
            <a:r>
              <a:rPr lang="fr-FR" sz="2400" dirty="0"/>
              <a:t>Les routeurs nécessitent les éléments suivants :</a:t>
            </a:r>
          </a:p>
          <a:p>
            <a:endParaRPr lang="fr-FR" sz="2400" dirty="0"/>
          </a:p>
          <a:p>
            <a:r>
              <a:rPr lang="fr-FR" sz="2400" b="1" dirty="0"/>
              <a:t>Des processeurs (UC).</a:t>
            </a:r>
          </a:p>
          <a:p>
            <a:r>
              <a:rPr lang="fr-FR" sz="2400" b="1" dirty="0"/>
              <a:t>Des systèmes d'exploitation (SE).</a:t>
            </a:r>
          </a:p>
          <a:p>
            <a:r>
              <a:rPr lang="fr-FR" sz="2400" b="1" dirty="0"/>
              <a:t>Une mémoire composée de mémoire vive (RAM), de mémoire morte (ROM), de mémoire vive non volatile (NVRAM) et de mémoire Flash.</a:t>
            </a:r>
          </a:p>
        </p:txBody>
      </p:sp>
      <p:sp>
        <p:nvSpPr>
          <p:cNvPr id="6" name="AutoShape 3">
            <a:extLst>
              <a:ext uri="{FF2B5EF4-FFF2-40B4-BE49-F238E27FC236}">
                <a16:creationId xmlns:a16="http://schemas.microsoft.com/office/drawing/2014/main" id="{63F64719-DA42-4240-A21B-77A9DF80934A}"/>
              </a:ext>
            </a:extLst>
          </p:cNvPr>
          <p:cNvSpPr>
            <a:spLocks noChangeArrowheads="1"/>
          </p:cNvSpPr>
          <p:nvPr/>
        </p:nvSpPr>
        <p:spPr bwMode="auto">
          <a:xfrm rot="5400000">
            <a:off x="524886" y="4060528"/>
            <a:ext cx="98829" cy="154940"/>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7" name="AutoShape 3">
            <a:extLst>
              <a:ext uri="{FF2B5EF4-FFF2-40B4-BE49-F238E27FC236}">
                <a16:creationId xmlns:a16="http://schemas.microsoft.com/office/drawing/2014/main" id="{63F64719-DA42-4240-A21B-77A9DF80934A}"/>
              </a:ext>
            </a:extLst>
          </p:cNvPr>
          <p:cNvSpPr>
            <a:spLocks noChangeArrowheads="1"/>
          </p:cNvSpPr>
          <p:nvPr/>
        </p:nvSpPr>
        <p:spPr bwMode="auto">
          <a:xfrm rot="5400000">
            <a:off x="535406" y="3708428"/>
            <a:ext cx="98829" cy="154940"/>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8" name="AutoShape 3">
            <a:extLst>
              <a:ext uri="{FF2B5EF4-FFF2-40B4-BE49-F238E27FC236}">
                <a16:creationId xmlns:a16="http://schemas.microsoft.com/office/drawing/2014/main" id="{63F64719-DA42-4240-A21B-77A9DF80934A}"/>
              </a:ext>
            </a:extLst>
          </p:cNvPr>
          <p:cNvSpPr>
            <a:spLocks noChangeArrowheads="1"/>
          </p:cNvSpPr>
          <p:nvPr/>
        </p:nvSpPr>
        <p:spPr bwMode="auto">
          <a:xfrm rot="5400000">
            <a:off x="551172" y="4465173"/>
            <a:ext cx="98829" cy="154940"/>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9" name="Titre 1"/>
          <p:cNvSpPr>
            <a:spLocks noGrp="1"/>
          </p:cNvSpPr>
          <p:nvPr>
            <p:ph type="title"/>
          </p:nvPr>
        </p:nvSpPr>
        <p:spPr>
          <a:xfrm>
            <a:off x="1058924" y="207465"/>
            <a:ext cx="10515600" cy="1325563"/>
          </a:xfrm>
        </p:spPr>
        <p:txBody>
          <a:bodyPr/>
          <a:lstStyle/>
          <a:p>
            <a:r>
              <a:rPr lang="fr-FR" b="1" dirty="0">
                <a:solidFill>
                  <a:srgbClr val="C00000"/>
                </a:solidFill>
              </a:rPr>
              <a:t>Un routeur est un ordinateur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4</a:t>
            </a:fld>
            <a:endParaRPr lang="fr-FR"/>
          </a:p>
        </p:txBody>
      </p:sp>
      <p:sp>
        <p:nvSpPr>
          <p:cNvPr id="5" name="Titre 1"/>
          <p:cNvSpPr>
            <a:spLocks noGrp="1"/>
          </p:cNvSpPr>
          <p:nvPr>
            <p:ph type="title"/>
          </p:nvPr>
        </p:nvSpPr>
        <p:spPr>
          <a:xfrm>
            <a:off x="1058924" y="507019"/>
            <a:ext cx="10515600" cy="1325563"/>
          </a:xfrm>
        </p:spPr>
        <p:txBody>
          <a:bodyPr>
            <a:normAutofit fontScale="90000"/>
          </a:bodyPr>
          <a:lstStyle/>
          <a:p>
            <a:r>
              <a:rPr lang="fr-FR" b="1" dirty="0">
                <a:solidFill>
                  <a:srgbClr val="C00000"/>
                </a:solidFill>
              </a:rPr>
              <a:t>Processeur et système d'exploitation </a:t>
            </a:r>
            <a:br>
              <a:rPr lang="fr-FR" b="1" dirty="0">
                <a:solidFill>
                  <a:srgbClr val="C00000"/>
                </a:solidFill>
              </a:rPr>
            </a:br>
            <a:r>
              <a:rPr lang="fr-FR" b="1" dirty="0">
                <a:solidFill>
                  <a:srgbClr val="C00000"/>
                </a:solidFill>
              </a:rPr>
              <a:t>des routeurs</a:t>
            </a:r>
            <a:br>
              <a:rPr lang="fr-FR" b="1" dirty="0">
                <a:solidFill>
                  <a:srgbClr val="C00000"/>
                </a:solidFill>
              </a:rPr>
            </a:br>
            <a:endParaRPr lang="fr-FR" b="1" dirty="0">
              <a:solidFill>
                <a:srgbClr val="C00000"/>
              </a:solidFill>
            </a:endParaRPr>
          </a:p>
        </p:txBody>
      </p:sp>
      <p:sp>
        <p:nvSpPr>
          <p:cNvPr id="6" name="Rectangle 5"/>
          <p:cNvSpPr/>
          <p:nvPr/>
        </p:nvSpPr>
        <p:spPr>
          <a:xfrm>
            <a:off x="289034" y="1409940"/>
            <a:ext cx="4456386" cy="2031325"/>
          </a:xfrm>
          <a:prstGeom prst="rect">
            <a:avLst/>
          </a:prstGeom>
        </p:spPr>
        <p:txBody>
          <a:bodyPr wrap="square">
            <a:spAutoFit/>
          </a:bodyPr>
          <a:lstStyle/>
          <a:p>
            <a:pPr algn="just"/>
            <a:r>
              <a:rPr lang="fr-FR" dirty="0"/>
              <a:t>Comme tous les ordinateurs, tablettes, consoles de jeux et appareils intelligents, les périphériques Cisco nécessitent </a:t>
            </a:r>
            <a:r>
              <a:rPr lang="fr-FR" b="1" dirty="0">
                <a:solidFill>
                  <a:srgbClr val="C00000"/>
                </a:solidFill>
              </a:rPr>
              <a:t>un processeur </a:t>
            </a:r>
            <a:r>
              <a:rPr lang="fr-FR" dirty="0"/>
              <a:t>pour exécuter les instructions du système d'exploitation, telles que l'initialisation du système, les fonctions de routage et les fonctions de commutation</a:t>
            </a:r>
          </a:p>
        </p:txBody>
      </p:sp>
      <p:sp>
        <p:nvSpPr>
          <p:cNvPr id="7" name="Rectangle 6"/>
          <p:cNvSpPr/>
          <p:nvPr/>
        </p:nvSpPr>
        <p:spPr>
          <a:xfrm>
            <a:off x="1844566" y="4815290"/>
            <a:ext cx="9569667" cy="1477328"/>
          </a:xfrm>
          <a:prstGeom prst="rect">
            <a:avLst/>
          </a:prstGeom>
        </p:spPr>
        <p:txBody>
          <a:bodyPr wrap="square">
            <a:spAutoFit/>
          </a:bodyPr>
          <a:lstStyle/>
          <a:p>
            <a:pPr algn="just"/>
            <a:r>
              <a:rPr lang="fr-FR" dirty="0"/>
              <a:t>Le processeur a besoin d'un système d'exploitation pour assurer des fonctions de routage et de commutation. </a:t>
            </a:r>
            <a:r>
              <a:rPr lang="fr-FR" b="1" dirty="0">
                <a:solidFill>
                  <a:srgbClr val="C00000"/>
                </a:solidFill>
              </a:rPr>
              <a:t>Le système d'exploitation Cisco IOS </a:t>
            </a:r>
            <a:r>
              <a:rPr lang="fr-FR" dirty="0"/>
              <a:t>est le logiciel système utilisé pour la plupart des périphériques Cisco, indépendamment de leur taille et de leur type. Ce logiciel est utilisé pour des routeurs, des commutateurs de réseau local, des petits points d'accès sans fil, des grands routeurs dotés de dizaines d'interfaces et bien d'autres périphériques.</a:t>
            </a:r>
          </a:p>
        </p:txBody>
      </p:sp>
      <p:pic>
        <p:nvPicPr>
          <p:cNvPr id="2" name="Picture 2"/>
          <p:cNvPicPr>
            <a:picLocks noChangeAspect="1" noChangeArrowheads="1"/>
          </p:cNvPicPr>
          <p:nvPr/>
        </p:nvPicPr>
        <p:blipFill>
          <a:blip r:embed="rId2"/>
          <a:srcRect/>
          <a:stretch>
            <a:fillRect/>
          </a:stretch>
        </p:blipFill>
        <p:spPr bwMode="auto">
          <a:xfrm>
            <a:off x="6261046" y="1243504"/>
            <a:ext cx="5629275" cy="2857500"/>
          </a:xfrm>
          <a:prstGeom prst="rect">
            <a:avLst/>
          </a:prstGeom>
          <a:noFill/>
          <a:ln w="9525">
            <a:noFill/>
            <a:miter lim="800000"/>
            <a:headEnd/>
            <a:tailEnd/>
          </a:ln>
          <a:effectLst/>
        </p:spPr>
      </p:pic>
      <p:cxnSp>
        <p:nvCxnSpPr>
          <p:cNvPr id="10" name="Connecteur droit avec flèche 9"/>
          <p:cNvCxnSpPr/>
          <p:nvPr/>
        </p:nvCxnSpPr>
        <p:spPr>
          <a:xfrm>
            <a:off x="4698128" y="2191406"/>
            <a:ext cx="4083269" cy="725215"/>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5</a:t>
            </a:fld>
            <a:endParaRPr lang="fr-FR"/>
          </a:p>
        </p:txBody>
      </p:sp>
      <p:sp>
        <p:nvSpPr>
          <p:cNvPr id="5" name="Titre 1"/>
          <p:cNvSpPr>
            <a:spLocks noGrp="1"/>
          </p:cNvSpPr>
          <p:nvPr>
            <p:ph type="title"/>
          </p:nvPr>
        </p:nvSpPr>
        <p:spPr>
          <a:xfrm>
            <a:off x="1058924" y="191699"/>
            <a:ext cx="10515600" cy="1325563"/>
          </a:xfrm>
        </p:spPr>
        <p:txBody>
          <a:bodyPr>
            <a:normAutofit/>
          </a:bodyPr>
          <a:lstStyle/>
          <a:p>
            <a:r>
              <a:rPr lang="fr-FR" b="1" dirty="0">
                <a:solidFill>
                  <a:srgbClr val="C00000"/>
                </a:solidFill>
              </a:rPr>
              <a:t> Mémoire des routeurs</a:t>
            </a:r>
          </a:p>
        </p:txBody>
      </p:sp>
      <p:sp>
        <p:nvSpPr>
          <p:cNvPr id="8" name="Rectangle 7"/>
          <p:cNvSpPr/>
          <p:nvPr/>
        </p:nvSpPr>
        <p:spPr>
          <a:xfrm>
            <a:off x="1045778" y="1259064"/>
            <a:ext cx="10368455" cy="830997"/>
          </a:xfrm>
          <a:prstGeom prst="rect">
            <a:avLst/>
          </a:prstGeom>
        </p:spPr>
        <p:txBody>
          <a:bodyPr wrap="square">
            <a:spAutoFit/>
          </a:bodyPr>
          <a:lstStyle/>
          <a:p>
            <a:r>
              <a:rPr lang="fr-FR" sz="2400" dirty="0"/>
              <a:t>Un routeur accède à </a:t>
            </a:r>
            <a:r>
              <a:rPr lang="fr-FR" sz="2400" b="1" dirty="0">
                <a:solidFill>
                  <a:srgbClr val="C00000"/>
                </a:solidFill>
              </a:rPr>
              <a:t>une mémoire volatile </a:t>
            </a:r>
            <a:r>
              <a:rPr lang="fr-FR" sz="2400" dirty="0"/>
              <a:t>et à </a:t>
            </a:r>
            <a:r>
              <a:rPr lang="fr-FR" sz="2400" b="1" dirty="0">
                <a:solidFill>
                  <a:srgbClr val="0070C0"/>
                </a:solidFill>
              </a:rPr>
              <a:t>une mémoire non volatile</a:t>
            </a:r>
            <a:r>
              <a:rPr lang="fr-FR" sz="2400" dirty="0"/>
              <a:t>. </a:t>
            </a:r>
            <a:br>
              <a:rPr lang="fr-FR" sz="2400" dirty="0"/>
            </a:br>
            <a:endParaRPr lang="fr-FR" sz="2400" dirty="0"/>
          </a:p>
        </p:txBody>
      </p:sp>
      <p:pic>
        <p:nvPicPr>
          <p:cNvPr id="3074" name="Picture 2"/>
          <p:cNvPicPr>
            <a:picLocks noChangeAspect="1" noChangeArrowheads="1"/>
          </p:cNvPicPr>
          <p:nvPr/>
        </p:nvPicPr>
        <p:blipFill>
          <a:blip r:embed="rId2"/>
          <a:srcRect/>
          <a:stretch>
            <a:fillRect/>
          </a:stretch>
        </p:blipFill>
        <p:spPr bwMode="auto">
          <a:xfrm>
            <a:off x="362607" y="1828802"/>
            <a:ext cx="8434552" cy="2883612"/>
          </a:xfrm>
          <a:prstGeom prst="rect">
            <a:avLst/>
          </a:prstGeom>
          <a:noFill/>
          <a:ln w="9525">
            <a:noFill/>
            <a:miter lim="800000"/>
            <a:headEnd/>
            <a:tailEnd/>
          </a:ln>
          <a:effectLst/>
        </p:spPr>
      </p:pic>
      <p:sp>
        <p:nvSpPr>
          <p:cNvPr id="7" name="Rectangle 6"/>
          <p:cNvSpPr/>
          <p:nvPr/>
        </p:nvSpPr>
        <p:spPr>
          <a:xfrm>
            <a:off x="304800" y="4680182"/>
            <a:ext cx="4125310" cy="2031325"/>
          </a:xfrm>
          <a:prstGeom prst="rect">
            <a:avLst/>
          </a:prstGeom>
        </p:spPr>
        <p:txBody>
          <a:bodyPr wrap="square">
            <a:spAutoFit/>
          </a:bodyPr>
          <a:lstStyle/>
          <a:p>
            <a:pPr algn="just"/>
            <a:r>
              <a:rPr lang="fr-FR" b="1" dirty="0">
                <a:solidFill>
                  <a:srgbClr val="C00000"/>
                </a:solidFill>
              </a:rPr>
              <a:t>La mémoire vive (RAM) :</a:t>
            </a:r>
            <a:r>
              <a:rPr lang="fr-FR" dirty="0"/>
              <a:t> il s'agit de la mémoire volatile utilisée sur les routeurs Cisco pour stocker les applications, les processus et les données requises par le processeur. Les routeurs Cisco utilisent une RAM rapide appelée SDRAM (mémoire vive dynamique synchrone). </a:t>
            </a:r>
          </a:p>
        </p:txBody>
      </p:sp>
      <p:sp>
        <p:nvSpPr>
          <p:cNvPr id="9" name="Rectangle 8"/>
          <p:cNvSpPr/>
          <p:nvPr/>
        </p:nvSpPr>
        <p:spPr>
          <a:xfrm>
            <a:off x="4529958" y="4670009"/>
            <a:ext cx="3005959" cy="1754326"/>
          </a:xfrm>
          <a:prstGeom prst="rect">
            <a:avLst/>
          </a:prstGeom>
        </p:spPr>
        <p:txBody>
          <a:bodyPr wrap="square">
            <a:spAutoFit/>
          </a:bodyPr>
          <a:lstStyle/>
          <a:p>
            <a:pPr algn="just"/>
            <a:r>
              <a:rPr lang="fr-FR" b="1" dirty="0">
                <a:solidFill>
                  <a:srgbClr val="0070C0"/>
                </a:solidFill>
              </a:rPr>
              <a:t>La mémoire vive non volatile (NVRAM) :</a:t>
            </a:r>
            <a:r>
              <a:rPr lang="fr-FR" dirty="0"/>
              <a:t> cette mémoire est utilisée comme stockage permanent du fichier de configuration initiale (startup-config).</a:t>
            </a:r>
          </a:p>
        </p:txBody>
      </p:sp>
      <p:sp>
        <p:nvSpPr>
          <p:cNvPr id="10" name="Rectangle 9"/>
          <p:cNvSpPr/>
          <p:nvPr/>
        </p:nvSpPr>
        <p:spPr>
          <a:xfrm>
            <a:off x="7651530" y="4699338"/>
            <a:ext cx="4172608" cy="1754326"/>
          </a:xfrm>
          <a:prstGeom prst="rect">
            <a:avLst/>
          </a:prstGeom>
        </p:spPr>
        <p:txBody>
          <a:bodyPr wrap="square">
            <a:spAutoFit/>
          </a:bodyPr>
          <a:lstStyle/>
          <a:p>
            <a:pPr algn="just"/>
            <a:r>
              <a:rPr lang="fr-FR" b="1" dirty="0">
                <a:solidFill>
                  <a:srgbClr val="0070C0"/>
                </a:solidFill>
              </a:rPr>
              <a:t>La mémoire Flash :</a:t>
            </a:r>
            <a:r>
              <a:rPr lang="fr-FR" dirty="0"/>
              <a:t> il s'agit d'une mémoire non volatile d'ordinateur utilisée comme stockage permanent pour IOS et d'autres fichiers relatifs au système . Lors du redémarrage d'un routeur, IOS est copié de la mémoire Flash vers la mémoire vive.</a:t>
            </a:r>
          </a:p>
        </p:txBody>
      </p:sp>
      <p:sp>
        <p:nvSpPr>
          <p:cNvPr id="11" name="Rectangle 10"/>
          <p:cNvSpPr/>
          <p:nvPr/>
        </p:nvSpPr>
        <p:spPr>
          <a:xfrm>
            <a:off x="8965324" y="1810857"/>
            <a:ext cx="3226676" cy="2862322"/>
          </a:xfrm>
          <a:prstGeom prst="rect">
            <a:avLst/>
          </a:prstGeom>
        </p:spPr>
        <p:txBody>
          <a:bodyPr wrap="square">
            <a:spAutoFit/>
          </a:bodyPr>
          <a:lstStyle/>
          <a:p>
            <a:pPr algn="just"/>
            <a:r>
              <a:rPr lang="fr-FR" b="1" dirty="0">
                <a:solidFill>
                  <a:srgbClr val="0070C0"/>
                </a:solidFill>
              </a:rPr>
              <a:t>La mémoire morte (ROM) :</a:t>
            </a:r>
            <a:r>
              <a:rPr lang="fr-FR" dirty="0"/>
              <a:t> cette mémoire non volatile sert à stocker des instructions de fonctionnement essentielles et une version limitée d'IOS. La mémoire morte est intégrée au </a:t>
            </a:r>
            <a:r>
              <a:rPr lang="fr-FR" dirty="0" err="1"/>
              <a:t>micrologiciel</a:t>
            </a:r>
            <a:r>
              <a:rPr lang="fr-FR" dirty="0"/>
              <a:t> sur un circuit intégré situé dans le routeur qui ne peut être modifié que par Cisco. </a:t>
            </a:r>
          </a:p>
        </p:txBody>
      </p:sp>
      <p:cxnSp>
        <p:nvCxnSpPr>
          <p:cNvPr id="13" name="Connecteur droit 12"/>
          <p:cNvCxnSpPr/>
          <p:nvPr/>
        </p:nvCxnSpPr>
        <p:spPr>
          <a:xfrm rot="16200000" flipH="1">
            <a:off x="2049518" y="4146332"/>
            <a:ext cx="4840016" cy="15767"/>
          </a:xfrm>
          <a:prstGeom prst="line">
            <a:avLst/>
          </a:prstGeom>
          <a:ln w="31750">
            <a:solidFill>
              <a:srgbClr val="C00000"/>
            </a:solidFill>
          </a:ln>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53520" y="365125"/>
            <a:ext cx="10515600" cy="1325563"/>
          </a:xfrm>
        </p:spPr>
        <p:txBody>
          <a:bodyPr>
            <a:normAutofit/>
          </a:bodyPr>
          <a:lstStyle/>
          <a:p>
            <a:r>
              <a:rPr lang="fr-FR" b="1" dirty="0">
                <a:solidFill>
                  <a:srgbClr val="C00000"/>
                </a:solidFill>
              </a:rPr>
              <a:t>À l'intérieur d'un routeur</a:t>
            </a:r>
            <a:br>
              <a:rPr lang="fr-FR" b="1" dirty="0">
                <a:solidFill>
                  <a:srgbClr val="C00000"/>
                </a:solidFill>
              </a:rPr>
            </a:br>
            <a:endParaRPr lang="fr-FR" b="1" dirty="0">
              <a:solidFill>
                <a:srgbClr val="C00000"/>
              </a:solidFill>
            </a:endParaRPr>
          </a:p>
        </p:txBody>
      </p:sp>
      <p:sp>
        <p:nvSpPr>
          <p:cNvPr id="4" name="Espace réservé du numéro de diapositive 3"/>
          <p:cNvSpPr>
            <a:spLocks noGrp="1"/>
          </p:cNvSpPr>
          <p:nvPr>
            <p:ph type="sldNum" sz="quarter" idx="12"/>
          </p:nvPr>
        </p:nvSpPr>
        <p:spPr/>
        <p:txBody>
          <a:bodyPr/>
          <a:lstStyle/>
          <a:p>
            <a:fld id="{194EA0E9-6AA5-4C72-ADD8-CBD3FCBC5038}" type="slidenum">
              <a:rPr lang="fr-FR" smtClean="0"/>
              <a:pPr/>
              <a:t>6</a:t>
            </a:fld>
            <a:endParaRPr lang="fr-FR"/>
          </a:p>
        </p:txBody>
      </p:sp>
      <p:pic>
        <p:nvPicPr>
          <p:cNvPr id="4098" name="Picture 2"/>
          <p:cNvPicPr>
            <a:picLocks noChangeAspect="1" noChangeArrowheads="1"/>
          </p:cNvPicPr>
          <p:nvPr/>
        </p:nvPicPr>
        <p:blipFill>
          <a:blip r:embed="rId2"/>
          <a:srcRect/>
          <a:stretch>
            <a:fillRect/>
          </a:stretch>
        </p:blipFill>
        <p:spPr bwMode="auto">
          <a:xfrm>
            <a:off x="3121572" y="2058075"/>
            <a:ext cx="4855287" cy="3502671"/>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1876097" y="5756219"/>
            <a:ext cx="5490835" cy="512811"/>
          </a:xfrm>
          <a:prstGeom prst="rect">
            <a:avLst/>
          </a:prstGeom>
          <a:noFill/>
          <a:ln w="9525">
            <a:noFill/>
            <a:miter lim="800000"/>
            <a:headEnd/>
            <a:tailEnd/>
          </a:ln>
          <a:effectLst/>
        </p:spPr>
      </p:pic>
      <p:cxnSp>
        <p:nvCxnSpPr>
          <p:cNvPr id="12" name="Connecteur droit avec flèche 11"/>
          <p:cNvCxnSpPr/>
          <p:nvPr/>
        </p:nvCxnSpPr>
        <p:spPr>
          <a:xfrm rot="5400000" flipH="1" flipV="1">
            <a:off x="4225159" y="4698124"/>
            <a:ext cx="1529255" cy="709449"/>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pic>
        <p:nvPicPr>
          <p:cNvPr id="4100" name="Picture 4"/>
          <p:cNvPicPr>
            <a:picLocks noChangeAspect="1" noChangeArrowheads="1"/>
          </p:cNvPicPr>
          <p:nvPr/>
        </p:nvPicPr>
        <p:blipFill>
          <a:blip r:embed="rId4"/>
          <a:srcRect/>
          <a:stretch>
            <a:fillRect/>
          </a:stretch>
        </p:blipFill>
        <p:spPr bwMode="auto">
          <a:xfrm>
            <a:off x="5508243" y="1528435"/>
            <a:ext cx="4505475" cy="300365"/>
          </a:xfrm>
          <a:prstGeom prst="rect">
            <a:avLst/>
          </a:prstGeom>
          <a:noFill/>
          <a:ln w="9525">
            <a:noFill/>
            <a:miter lim="800000"/>
            <a:headEnd/>
            <a:tailEnd/>
          </a:ln>
          <a:effectLst/>
        </p:spPr>
      </p:pic>
      <p:cxnSp>
        <p:nvCxnSpPr>
          <p:cNvPr id="14" name="Connecteur droit avec flèche 13"/>
          <p:cNvCxnSpPr/>
          <p:nvPr/>
        </p:nvCxnSpPr>
        <p:spPr>
          <a:xfrm rot="10800000" flipV="1">
            <a:off x="7236372" y="1876100"/>
            <a:ext cx="725214" cy="693682"/>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pic>
        <p:nvPicPr>
          <p:cNvPr id="4101" name="Picture 5"/>
          <p:cNvPicPr>
            <a:picLocks noChangeAspect="1" noChangeArrowheads="1"/>
          </p:cNvPicPr>
          <p:nvPr/>
        </p:nvPicPr>
        <p:blipFill>
          <a:blip r:embed="rId5"/>
          <a:srcRect/>
          <a:stretch>
            <a:fillRect/>
          </a:stretch>
        </p:blipFill>
        <p:spPr bwMode="auto">
          <a:xfrm>
            <a:off x="6888879" y="6323779"/>
            <a:ext cx="5303121" cy="534221"/>
          </a:xfrm>
          <a:prstGeom prst="rect">
            <a:avLst/>
          </a:prstGeom>
          <a:noFill/>
          <a:ln w="9525">
            <a:noFill/>
            <a:miter lim="800000"/>
            <a:headEnd/>
            <a:tailEnd/>
          </a:ln>
          <a:effectLst/>
        </p:spPr>
      </p:pic>
      <p:cxnSp>
        <p:nvCxnSpPr>
          <p:cNvPr id="18" name="Connecteur droit avec flèche 17"/>
          <p:cNvCxnSpPr/>
          <p:nvPr/>
        </p:nvCxnSpPr>
        <p:spPr>
          <a:xfrm rot="10800000">
            <a:off x="7425559" y="4918841"/>
            <a:ext cx="1476704" cy="146094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pic>
        <p:nvPicPr>
          <p:cNvPr id="4102" name="Picture 6"/>
          <p:cNvPicPr>
            <a:picLocks noChangeAspect="1" noChangeArrowheads="1"/>
          </p:cNvPicPr>
          <p:nvPr/>
        </p:nvPicPr>
        <p:blipFill>
          <a:blip r:embed="rId6"/>
          <a:srcRect/>
          <a:stretch>
            <a:fillRect/>
          </a:stretch>
        </p:blipFill>
        <p:spPr bwMode="auto">
          <a:xfrm>
            <a:off x="8405977" y="4042869"/>
            <a:ext cx="643430" cy="507970"/>
          </a:xfrm>
          <a:prstGeom prst="rect">
            <a:avLst/>
          </a:prstGeom>
          <a:noFill/>
          <a:ln w="9525">
            <a:noFill/>
            <a:miter lim="800000"/>
            <a:headEnd/>
            <a:tailEnd/>
          </a:ln>
          <a:effectLst/>
        </p:spPr>
      </p:pic>
      <p:cxnSp>
        <p:nvCxnSpPr>
          <p:cNvPr id="21" name="Connecteur droit avec flèche 20"/>
          <p:cNvCxnSpPr>
            <a:stCxn id="4102" idx="1"/>
          </p:cNvCxnSpPr>
          <p:nvPr/>
        </p:nvCxnSpPr>
        <p:spPr>
          <a:xfrm rot="10800000" flipV="1">
            <a:off x="6668817" y="4296853"/>
            <a:ext cx="1737161" cy="22897"/>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pic>
        <p:nvPicPr>
          <p:cNvPr id="4103" name="Picture 7"/>
          <p:cNvPicPr>
            <a:picLocks noChangeAspect="1" noChangeArrowheads="1"/>
          </p:cNvPicPr>
          <p:nvPr/>
        </p:nvPicPr>
        <p:blipFill>
          <a:blip r:embed="rId7"/>
          <a:srcRect/>
          <a:stretch>
            <a:fillRect/>
          </a:stretch>
        </p:blipFill>
        <p:spPr bwMode="auto">
          <a:xfrm>
            <a:off x="0" y="2835987"/>
            <a:ext cx="4377627" cy="616661"/>
          </a:xfrm>
          <a:prstGeom prst="rect">
            <a:avLst/>
          </a:prstGeom>
          <a:noFill/>
          <a:ln w="9525">
            <a:noFill/>
            <a:miter lim="800000"/>
            <a:headEnd/>
            <a:tailEnd/>
          </a:ln>
          <a:effectLst/>
        </p:spPr>
      </p:pic>
      <p:cxnSp>
        <p:nvCxnSpPr>
          <p:cNvPr id="25" name="Connecteur droit avec flèche 24"/>
          <p:cNvCxnSpPr/>
          <p:nvPr/>
        </p:nvCxnSpPr>
        <p:spPr>
          <a:xfrm>
            <a:off x="2711669" y="3326524"/>
            <a:ext cx="3294993" cy="756746"/>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28" name="Connecteur droit avec flèche 27"/>
          <p:cNvCxnSpPr/>
          <p:nvPr/>
        </p:nvCxnSpPr>
        <p:spPr>
          <a:xfrm rot="10800000" flipV="1">
            <a:off x="5249919" y="1860331"/>
            <a:ext cx="2695902" cy="551793"/>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7</a:t>
            </a:fld>
            <a:endParaRPr lang="fr-FR"/>
          </a:p>
        </p:txBody>
      </p:sp>
      <p:sp>
        <p:nvSpPr>
          <p:cNvPr id="5" name="Titre 1"/>
          <p:cNvSpPr>
            <a:spLocks noGrp="1"/>
          </p:cNvSpPr>
          <p:nvPr>
            <p:ph type="title"/>
          </p:nvPr>
        </p:nvSpPr>
        <p:spPr>
          <a:xfrm>
            <a:off x="1153520" y="365125"/>
            <a:ext cx="10515600" cy="1325563"/>
          </a:xfrm>
        </p:spPr>
        <p:txBody>
          <a:bodyPr>
            <a:normAutofit/>
          </a:bodyPr>
          <a:lstStyle/>
          <a:p>
            <a:r>
              <a:rPr lang="fr-FR" b="1" dirty="0">
                <a:solidFill>
                  <a:srgbClr val="C00000"/>
                </a:solidFill>
              </a:rPr>
              <a:t>Connexion à un routeur</a:t>
            </a:r>
            <a:br>
              <a:rPr lang="fr-FR" b="1" dirty="0">
                <a:solidFill>
                  <a:srgbClr val="C00000"/>
                </a:solidFill>
              </a:rPr>
            </a:br>
            <a:endParaRPr lang="fr-FR" b="1" dirty="0">
              <a:solidFill>
                <a:srgbClr val="C00000"/>
              </a:solidFill>
            </a:endParaRPr>
          </a:p>
        </p:txBody>
      </p:sp>
      <p:pic>
        <p:nvPicPr>
          <p:cNvPr id="5122" name="Picture 2"/>
          <p:cNvPicPr>
            <a:picLocks noChangeAspect="1" noChangeArrowheads="1"/>
          </p:cNvPicPr>
          <p:nvPr/>
        </p:nvPicPr>
        <p:blipFill>
          <a:blip r:embed="rId3"/>
          <a:srcRect/>
          <a:stretch>
            <a:fillRect/>
          </a:stretch>
        </p:blipFill>
        <p:spPr bwMode="auto">
          <a:xfrm>
            <a:off x="0" y="3126171"/>
            <a:ext cx="7310295" cy="3731829"/>
          </a:xfrm>
          <a:prstGeom prst="rect">
            <a:avLst/>
          </a:prstGeom>
          <a:noFill/>
          <a:ln w="9525">
            <a:noFill/>
            <a:miter lim="800000"/>
            <a:headEnd/>
            <a:tailEnd/>
          </a:ln>
          <a:effectLst/>
        </p:spPr>
      </p:pic>
      <p:pic>
        <p:nvPicPr>
          <p:cNvPr id="5123" name="Picture 3"/>
          <p:cNvPicPr>
            <a:picLocks noChangeAspect="1" noChangeArrowheads="1"/>
          </p:cNvPicPr>
          <p:nvPr/>
        </p:nvPicPr>
        <p:blipFill>
          <a:blip r:embed="rId4"/>
          <a:srcRect/>
          <a:stretch>
            <a:fillRect/>
          </a:stretch>
        </p:blipFill>
        <p:spPr bwMode="auto">
          <a:xfrm>
            <a:off x="0" y="1481959"/>
            <a:ext cx="6524285" cy="1366407"/>
          </a:xfrm>
          <a:prstGeom prst="rect">
            <a:avLst/>
          </a:prstGeom>
          <a:noFill/>
          <a:ln w="9525">
            <a:noFill/>
            <a:miter lim="800000"/>
            <a:headEnd/>
            <a:tailEnd/>
          </a:ln>
          <a:effectLst/>
        </p:spPr>
      </p:pic>
      <p:cxnSp>
        <p:nvCxnSpPr>
          <p:cNvPr id="9" name="Connecteur droit avec flèche 8"/>
          <p:cNvCxnSpPr/>
          <p:nvPr/>
        </p:nvCxnSpPr>
        <p:spPr>
          <a:xfrm rot="5400000">
            <a:off x="1671147" y="3499947"/>
            <a:ext cx="2522481" cy="819806"/>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pic>
        <p:nvPicPr>
          <p:cNvPr id="5124" name="Picture 4"/>
          <p:cNvPicPr>
            <a:picLocks noChangeAspect="1" noChangeArrowheads="1"/>
          </p:cNvPicPr>
          <p:nvPr/>
        </p:nvPicPr>
        <p:blipFill>
          <a:blip r:embed="rId5"/>
          <a:srcRect/>
          <a:stretch>
            <a:fillRect/>
          </a:stretch>
        </p:blipFill>
        <p:spPr bwMode="auto">
          <a:xfrm>
            <a:off x="6844862" y="2681780"/>
            <a:ext cx="5481202" cy="975820"/>
          </a:xfrm>
          <a:prstGeom prst="rect">
            <a:avLst/>
          </a:prstGeom>
          <a:noFill/>
          <a:ln w="9525">
            <a:noFill/>
            <a:miter lim="800000"/>
            <a:headEnd/>
            <a:tailEnd/>
          </a:ln>
          <a:effectLst/>
        </p:spPr>
      </p:pic>
      <p:cxnSp>
        <p:nvCxnSpPr>
          <p:cNvPr id="13" name="Connecteur droit avec flèche 12"/>
          <p:cNvCxnSpPr/>
          <p:nvPr/>
        </p:nvCxnSpPr>
        <p:spPr>
          <a:xfrm rot="10800000" flipV="1">
            <a:off x="5596760" y="3578771"/>
            <a:ext cx="2554013" cy="1592321"/>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pic>
        <p:nvPicPr>
          <p:cNvPr id="5126" name="Picture 6"/>
          <p:cNvPicPr>
            <a:picLocks noChangeAspect="1" noChangeArrowheads="1"/>
          </p:cNvPicPr>
          <p:nvPr/>
        </p:nvPicPr>
        <p:blipFill>
          <a:blip r:embed="rId6"/>
          <a:srcRect/>
          <a:stretch>
            <a:fillRect/>
          </a:stretch>
        </p:blipFill>
        <p:spPr bwMode="auto">
          <a:xfrm>
            <a:off x="6986213" y="4858603"/>
            <a:ext cx="5205787" cy="1479135"/>
          </a:xfrm>
          <a:prstGeom prst="rect">
            <a:avLst/>
          </a:prstGeom>
          <a:noFill/>
          <a:ln w="9525">
            <a:noFill/>
            <a:miter lim="800000"/>
            <a:headEnd/>
            <a:tailEnd/>
          </a:ln>
          <a:effectLst/>
        </p:spPr>
      </p:pic>
      <p:cxnSp>
        <p:nvCxnSpPr>
          <p:cNvPr id="20" name="Connecteur droit avec flèche 19"/>
          <p:cNvCxnSpPr/>
          <p:nvPr/>
        </p:nvCxnSpPr>
        <p:spPr>
          <a:xfrm rot="10800000">
            <a:off x="5139560" y="5628291"/>
            <a:ext cx="2033751" cy="693683"/>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8</a:t>
            </a:fld>
            <a:endParaRPr lang="fr-FR"/>
          </a:p>
        </p:txBody>
      </p:sp>
      <p:sp>
        <p:nvSpPr>
          <p:cNvPr id="5" name="Titre 1"/>
          <p:cNvSpPr>
            <a:spLocks noGrp="1"/>
          </p:cNvSpPr>
          <p:nvPr>
            <p:ph type="title"/>
          </p:nvPr>
        </p:nvSpPr>
        <p:spPr>
          <a:xfrm>
            <a:off x="1153520" y="365125"/>
            <a:ext cx="10515600" cy="1325563"/>
          </a:xfrm>
        </p:spPr>
        <p:txBody>
          <a:bodyPr>
            <a:normAutofit/>
          </a:bodyPr>
          <a:lstStyle/>
          <a:p>
            <a:r>
              <a:rPr lang="fr-FR" b="1" dirty="0">
                <a:solidFill>
                  <a:srgbClr val="C00000"/>
                </a:solidFill>
              </a:rPr>
              <a:t>Connexion à un routeur</a:t>
            </a:r>
            <a:br>
              <a:rPr lang="fr-FR" b="1" dirty="0">
                <a:solidFill>
                  <a:srgbClr val="C00000"/>
                </a:solidFill>
              </a:rPr>
            </a:br>
            <a:endParaRPr lang="fr-FR" b="1" dirty="0">
              <a:solidFill>
                <a:srgbClr val="C00000"/>
              </a:solidFill>
            </a:endParaRPr>
          </a:p>
        </p:txBody>
      </p:sp>
      <p:pic>
        <p:nvPicPr>
          <p:cNvPr id="6" name="Picture 2"/>
          <p:cNvPicPr>
            <a:picLocks noChangeAspect="1" noChangeArrowheads="1"/>
          </p:cNvPicPr>
          <p:nvPr/>
        </p:nvPicPr>
        <p:blipFill>
          <a:blip r:embed="rId2"/>
          <a:srcRect/>
          <a:stretch>
            <a:fillRect/>
          </a:stretch>
        </p:blipFill>
        <p:spPr bwMode="auto">
          <a:xfrm>
            <a:off x="0" y="3126171"/>
            <a:ext cx="7310295" cy="3731829"/>
          </a:xfrm>
          <a:prstGeom prst="rect">
            <a:avLst/>
          </a:prstGeom>
          <a:noFill/>
          <a:ln w="9525">
            <a:noFill/>
            <a:miter lim="800000"/>
            <a:headEnd/>
            <a:tailEnd/>
          </a:ln>
          <a:effectLst/>
        </p:spPr>
      </p:pic>
      <p:pic>
        <p:nvPicPr>
          <p:cNvPr id="6146" name="Picture 2"/>
          <p:cNvPicPr>
            <a:picLocks noChangeAspect="1" noChangeArrowheads="1"/>
          </p:cNvPicPr>
          <p:nvPr/>
        </p:nvPicPr>
        <p:blipFill>
          <a:blip r:embed="rId3"/>
          <a:srcRect/>
          <a:stretch>
            <a:fillRect/>
          </a:stretch>
        </p:blipFill>
        <p:spPr bwMode="auto">
          <a:xfrm>
            <a:off x="4317946" y="1653079"/>
            <a:ext cx="5803516" cy="1319489"/>
          </a:xfrm>
          <a:prstGeom prst="rect">
            <a:avLst/>
          </a:prstGeom>
          <a:noFill/>
          <a:ln w="9525">
            <a:noFill/>
            <a:miter lim="800000"/>
            <a:headEnd/>
            <a:tailEnd/>
          </a:ln>
          <a:effectLst/>
        </p:spPr>
      </p:pic>
      <p:cxnSp>
        <p:nvCxnSpPr>
          <p:cNvPr id="8" name="Connecteur droit avec flèche 7"/>
          <p:cNvCxnSpPr/>
          <p:nvPr/>
        </p:nvCxnSpPr>
        <p:spPr>
          <a:xfrm rot="5400000">
            <a:off x="5746531" y="3318642"/>
            <a:ext cx="2412128" cy="1072057"/>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pic>
        <p:nvPicPr>
          <p:cNvPr id="11" name="Picture 5"/>
          <p:cNvPicPr>
            <a:picLocks noChangeAspect="1" noChangeArrowheads="1"/>
          </p:cNvPicPr>
          <p:nvPr/>
        </p:nvPicPr>
        <p:blipFill>
          <a:blip r:embed="rId4"/>
          <a:srcRect/>
          <a:stretch>
            <a:fillRect/>
          </a:stretch>
        </p:blipFill>
        <p:spPr bwMode="auto">
          <a:xfrm>
            <a:off x="7181850" y="4199375"/>
            <a:ext cx="5010150" cy="1076325"/>
          </a:xfrm>
          <a:prstGeom prst="rect">
            <a:avLst/>
          </a:prstGeom>
          <a:noFill/>
          <a:ln w="9525">
            <a:noFill/>
            <a:miter lim="800000"/>
            <a:headEnd/>
            <a:tailEnd/>
          </a:ln>
          <a:effectLst/>
        </p:spPr>
      </p:pic>
      <p:cxnSp>
        <p:nvCxnSpPr>
          <p:cNvPr id="12" name="Connecteur droit avec flèche 11"/>
          <p:cNvCxnSpPr/>
          <p:nvPr/>
        </p:nvCxnSpPr>
        <p:spPr>
          <a:xfrm rot="10800000" flipV="1">
            <a:off x="2364829" y="5265678"/>
            <a:ext cx="6111767" cy="1213949"/>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9</a:t>
            </a:fld>
            <a:endParaRPr lang="fr-FR"/>
          </a:p>
        </p:txBody>
      </p:sp>
      <p:sp>
        <p:nvSpPr>
          <p:cNvPr id="5" name="Titre 1"/>
          <p:cNvSpPr>
            <a:spLocks noGrp="1"/>
          </p:cNvSpPr>
          <p:nvPr>
            <p:ph type="title"/>
          </p:nvPr>
        </p:nvSpPr>
        <p:spPr>
          <a:xfrm>
            <a:off x="1200816" y="522783"/>
            <a:ext cx="10515600" cy="1325563"/>
          </a:xfrm>
        </p:spPr>
        <p:txBody>
          <a:bodyPr>
            <a:normAutofit/>
          </a:bodyPr>
          <a:lstStyle/>
          <a:p>
            <a:r>
              <a:rPr lang="fr-FR" b="1" dirty="0">
                <a:solidFill>
                  <a:srgbClr val="C00000"/>
                </a:solidFill>
              </a:rPr>
              <a:t>Interfaces LAN et WAN</a:t>
            </a:r>
            <a:br>
              <a:rPr lang="fr-FR" b="1" dirty="0">
                <a:solidFill>
                  <a:srgbClr val="C00000"/>
                </a:solidFill>
              </a:rPr>
            </a:br>
            <a:endParaRPr lang="fr-FR" b="1" dirty="0">
              <a:solidFill>
                <a:srgbClr val="C00000"/>
              </a:solidFill>
            </a:endParaRPr>
          </a:p>
        </p:txBody>
      </p:sp>
      <p:sp>
        <p:nvSpPr>
          <p:cNvPr id="6" name="Rectangle 5"/>
          <p:cNvSpPr/>
          <p:nvPr/>
        </p:nvSpPr>
        <p:spPr>
          <a:xfrm>
            <a:off x="425668" y="1106989"/>
            <a:ext cx="11225049" cy="1200329"/>
          </a:xfrm>
          <a:prstGeom prst="rect">
            <a:avLst/>
          </a:prstGeom>
        </p:spPr>
        <p:txBody>
          <a:bodyPr wrap="square">
            <a:spAutoFit/>
          </a:bodyPr>
          <a:lstStyle/>
          <a:p>
            <a:r>
              <a:rPr lang="fr-FR" sz="2400" dirty="0"/>
              <a:t>Les connexions sur un routeur Cisco peuvent être regroupées en deux catégories :</a:t>
            </a:r>
          </a:p>
          <a:p>
            <a:pPr>
              <a:buFont typeface="Arial" pitchFamily="34" charset="0"/>
              <a:buChar char="•"/>
            </a:pPr>
            <a:r>
              <a:rPr lang="fr-FR" sz="2400" dirty="0"/>
              <a:t>  Les interfaces de routeur intra-bandes </a:t>
            </a:r>
          </a:p>
          <a:p>
            <a:pPr>
              <a:buFont typeface="Arial" pitchFamily="34" charset="0"/>
              <a:buChar char="•"/>
            </a:pPr>
            <a:r>
              <a:rPr lang="fr-FR" sz="2400" dirty="0"/>
              <a:t>  Les ports de gestion. </a:t>
            </a:r>
            <a:endParaRPr lang="fr-FR" sz="2200" dirty="0"/>
          </a:p>
        </p:txBody>
      </p:sp>
      <p:pic>
        <p:nvPicPr>
          <p:cNvPr id="7170" name="Picture 2"/>
          <p:cNvPicPr>
            <a:picLocks noChangeAspect="1" noChangeArrowheads="1"/>
          </p:cNvPicPr>
          <p:nvPr/>
        </p:nvPicPr>
        <p:blipFill>
          <a:blip r:embed="rId2"/>
          <a:srcRect/>
          <a:stretch>
            <a:fillRect/>
          </a:stretch>
        </p:blipFill>
        <p:spPr bwMode="auto">
          <a:xfrm>
            <a:off x="362443" y="2400300"/>
            <a:ext cx="5381625" cy="4457700"/>
          </a:xfrm>
          <a:prstGeom prst="rect">
            <a:avLst/>
          </a:prstGeom>
          <a:noFill/>
          <a:ln w="9525">
            <a:noFill/>
            <a:miter lim="800000"/>
            <a:headEnd/>
            <a:tailEnd/>
          </a:ln>
          <a:effectLst/>
        </p:spPr>
      </p:pic>
      <p:pic>
        <p:nvPicPr>
          <p:cNvPr id="7171" name="Picture 3"/>
          <p:cNvPicPr>
            <a:picLocks noChangeAspect="1" noChangeArrowheads="1"/>
          </p:cNvPicPr>
          <p:nvPr/>
        </p:nvPicPr>
        <p:blipFill>
          <a:blip r:embed="rId3"/>
          <a:srcRect/>
          <a:stretch>
            <a:fillRect/>
          </a:stretch>
        </p:blipFill>
        <p:spPr bwMode="auto">
          <a:xfrm>
            <a:off x="6129667" y="2412622"/>
            <a:ext cx="5324475" cy="442912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10</a:t>
            </a:fld>
            <a:endParaRPr lang="fr-FR"/>
          </a:p>
        </p:txBody>
      </p:sp>
      <p:sp>
        <p:nvSpPr>
          <p:cNvPr id="8" name="Titre 1"/>
          <p:cNvSpPr>
            <a:spLocks noGrp="1"/>
          </p:cNvSpPr>
          <p:nvPr>
            <p:ph type="title"/>
          </p:nvPr>
        </p:nvSpPr>
        <p:spPr>
          <a:xfrm>
            <a:off x="1200816" y="522783"/>
            <a:ext cx="10515600" cy="1325563"/>
          </a:xfrm>
        </p:spPr>
        <p:txBody>
          <a:bodyPr>
            <a:normAutofit/>
          </a:bodyPr>
          <a:lstStyle/>
          <a:p>
            <a:r>
              <a:rPr lang="fr-FR" b="1" dirty="0">
                <a:solidFill>
                  <a:srgbClr val="C00000"/>
                </a:solidFill>
              </a:rPr>
              <a:t>Interfaces LAN et WAN</a:t>
            </a:r>
            <a:br>
              <a:rPr lang="fr-FR" b="1" dirty="0">
                <a:solidFill>
                  <a:srgbClr val="C00000"/>
                </a:solidFill>
              </a:rPr>
            </a:br>
            <a:endParaRPr lang="fr-FR" b="1" dirty="0">
              <a:solidFill>
                <a:srgbClr val="C00000"/>
              </a:solidFill>
            </a:endParaRPr>
          </a:p>
        </p:txBody>
      </p:sp>
      <p:sp>
        <p:nvSpPr>
          <p:cNvPr id="9" name="Rectangle 8"/>
          <p:cNvSpPr/>
          <p:nvPr/>
        </p:nvSpPr>
        <p:spPr>
          <a:xfrm>
            <a:off x="1008993" y="1362810"/>
            <a:ext cx="10594427" cy="4093428"/>
          </a:xfrm>
          <a:prstGeom prst="rect">
            <a:avLst/>
          </a:prstGeom>
        </p:spPr>
        <p:txBody>
          <a:bodyPr wrap="square">
            <a:spAutoFit/>
          </a:bodyPr>
          <a:lstStyle/>
          <a:p>
            <a:pPr algn="just"/>
            <a:endParaRPr lang="fr-FR" sz="2000" dirty="0"/>
          </a:p>
          <a:p>
            <a:pPr algn="just"/>
            <a:r>
              <a:rPr lang="fr-FR" sz="2000" b="1" dirty="0">
                <a:solidFill>
                  <a:srgbClr val="0070C0"/>
                </a:solidFill>
              </a:rPr>
              <a:t>Console :</a:t>
            </a:r>
            <a:r>
              <a:rPr lang="fr-FR" sz="2000" dirty="0"/>
              <a:t> port de gestion physique permettant un accès hors bande à un périphérique Cisco. L'accès hors bande désigne l'accès via un canal de gestion dédié qui est utilisé uniquement pour la maintenance des périphériques.</a:t>
            </a:r>
          </a:p>
          <a:p>
            <a:pPr algn="just"/>
            <a:endParaRPr lang="fr-FR" sz="2000" dirty="0"/>
          </a:p>
          <a:p>
            <a:pPr algn="just"/>
            <a:r>
              <a:rPr lang="fr-FR" sz="2000" b="1" dirty="0">
                <a:solidFill>
                  <a:srgbClr val="0070C0"/>
                </a:solidFill>
              </a:rPr>
              <a:t>Secure Shell (SSH) :</a:t>
            </a:r>
            <a:r>
              <a:rPr lang="fr-FR" sz="2000" dirty="0"/>
              <a:t> moyen d'établir à distance une connexion CLI sécurisée via une interface virtuelle sur un réseau. À la différence des connexions de console, les connexions SSH requièrent des services réseau actifs sur le périphérique, notamment une interface active possédant une adresse.</a:t>
            </a:r>
          </a:p>
          <a:p>
            <a:pPr algn="just"/>
            <a:endParaRPr lang="fr-FR" sz="2000" dirty="0"/>
          </a:p>
          <a:p>
            <a:pPr algn="just"/>
            <a:r>
              <a:rPr lang="fr-FR" sz="2000" b="1" dirty="0">
                <a:solidFill>
                  <a:srgbClr val="0070C0"/>
                </a:solidFill>
              </a:rPr>
              <a:t>Telnet :</a:t>
            </a:r>
            <a:r>
              <a:rPr lang="fr-FR" sz="2000" dirty="0">
                <a:solidFill>
                  <a:srgbClr val="0070C0"/>
                </a:solidFill>
              </a:rPr>
              <a:t> </a:t>
            </a:r>
            <a:r>
              <a:rPr lang="fr-FR" sz="2000" dirty="0"/>
              <a:t>moyen non sécurisé d'établir une session CLI à distance via une interface virtuelle sur un réseau. Contrairement aux connexions SSH, Telnet ne fournit pas de connexion chiffrée de manière sécurisée. Les informations d'authentification des utilisateurs, les mots de passe et les commandes sont envoyés sur le réseau en clair.</a:t>
            </a:r>
          </a:p>
        </p:txBody>
      </p:sp>
      <p:sp>
        <p:nvSpPr>
          <p:cNvPr id="10" name="Rectangle 9"/>
          <p:cNvSpPr/>
          <p:nvPr/>
        </p:nvSpPr>
        <p:spPr>
          <a:xfrm>
            <a:off x="241737" y="5484223"/>
            <a:ext cx="11503573" cy="923330"/>
          </a:xfrm>
          <a:prstGeom prst="rect">
            <a:avLst/>
          </a:prstGeom>
        </p:spPr>
        <p:txBody>
          <a:bodyPr wrap="square">
            <a:spAutoFit/>
          </a:bodyPr>
          <a:lstStyle/>
          <a:p>
            <a:pPr algn="just"/>
            <a:r>
              <a:rPr lang="fr-FR" b="1" dirty="0">
                <a:solidFill>
                  <a:srgbClr val="00B050"/>
                </a:solidFill>
              </a:rPr>
              <a:t>Les routeurs peuvent également prendre en charge un port auxiliaire qui était utilisé auparavant pour établir une session CLI à distance à l'aide d'un modem. Tout comme la connexion de console, le port auxiliaire (AUX) est hors bande et ne nécessite aucun service réseau pour être configuré ou disponible sur le périphérique.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11</a:t>
            </a:fld>
            <a:endParaRPr lang="fr-FR"/>
          </a:p>
        </p:txBody>
      </p:sp>
      <p:sp>
        <p:nvSpPr>
          <p:cNvPr id="5" name="Titre 1"/>
          <p:cNvSpPr>
            <a:spLocks noGrp="1"/>
          </p:cNvSpPr>
          <p:nvPr>
            <p:ph type="title"/>
          </p:nvPr>
        </p:nvSpPr>
        <p:spPr>
          <a:xfrm>
            <a:off x="1279644" y="220724"/>
            <a:ext cx="10515600" cy="1325563"/>
          </a:xfrm>
        </p:spPr>
        <p:txBody>
          <a:bodyPr>
            <a:normAutofit/>
          </a:bodyPr>
          <a:lstStyle/>
          <a:p>
            <a:r>
              <a:rPr lang="fr-FR" b="1" dirty="0">
                <a:solidFill>
                  <a:srgbClr val="C00000"/>
                </a:solidFill>
              </a:rPr>
              <a:t>Fichiers de démarrage prédéfinis</a:t>
            </a:r>
          </a:p>
        </p:txBody>
      </p:sp>
      <p:sp>
        <p:nvSpPr>
          <p:cNvPr id="6" name="Rectangle 5"/>
          <p:cNvSpPr/>
          <p:nvPr/>
        </p:nvSpPr>
        <p:spPr>
          <a:xfrm>
            <a:off x="446684" y="1466390"/>
            <a:ext cx="5969876" cy="4893647"/>
          </a:xfrm>
          <a:prstGeom prst="rect">
            <a:avLst/>
          </a:prstGeom>
        </p:spPr>
        <p:txBody>
          <a:bodyPr wrap="square">
            <a:spAutoFit/>
          </a:bodyPr>
          <a:lstStyle/>
          <a:p>
            <a:pPr algn="just"/>
            <a:r>
              <a:rPr lang="fr-FR" sz="2400" dirty="0"/>
              <a:t>Lors du démarrage, les routeurs et les commutateurs Cisco chargent l'image IOS et le fichier de configuration initiale dans la mémoire vive.</a:t>
            </a:r>
          </a:p>
          <a:p>
            <a:pPr algn="just"/>
            <a:endParaRPr lang="fr-FR" sz="2400" dirty="0"/>
          </a:p>
          <a:p>
            <a:pPr algn="just"/>
            <a:r>
              <a:rPr lang="fr-FR" sz="2400" dirty="0"/>
              <a:t>La configuration en cours est modifiée lorsque l'administrateur réseau configure le périphérique. Les modifications apportées au fichier </a:t>
            </a:r>
            <a:r>
              <a:rPr lang="fr-FR" sz="2400" b="1" dirty="0"/>
              <a:t>running-config</a:t>
            </a:r>
            <a:r>
              <a:rPr lang="fr-FR" sz="2400" dirty="0"/>
              <a:t> doivent être enregistrées dans le fichier de configuration initiale sur la mémoire vive non volatile (NVRAM), au cas où le routeur serait redémarré ou mis hors tension.</a:t>
            </a:r>
          </a:p>
        </p:txBody>
      </p:sp>
      <p:pic>
        <p:nvPicPr>
          <p:cNvPr id="8194" name="Picture 2"/>
          <p:cNvPicPr>
            <a:picLocks noChangeAspect="1" noChangeArrowheads="1"/>
          </p:cNvPicPr>
          <p:nvPr/>
        </p:nvPicPr>
        <p:blipFill>
          <a:blip r:embed="rId2"/>
          <a:srcRect/>
          <a:stretch>
            <a:fillRect/>
          </a:stretch>
        </p:blipFill>
        <p:spPr bwMode="auto">
          <a:xfrm>
            <a:off x="6592003" y="1647349"/>
            <a:ext cx="5599997" cy="4404492"/>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16584" y="223231"/>
            <a:ext cx="10515600" cy="1325563"/>
          </a:xfrm>
        </p:spPr>
        <p:txBody>
          <a:bodyPr/>
          <a:lstStyle/>
          <a:p>
            <a:r>
              <a:rPr lang="fr-FR" b="1" dirty="0">
                <a:solidFill>
                  <a:srgbClr val="C00000"/>
                </a:solidFill>
              </a:rPr>
              <a:t>Processus de démarrage d'un routeur</a:t>
            </a:r>
          </a:p>
        </p:txBody>
      </p:sp>
      <p:sp>
        <p:nvSpPr>
          <p:cNvPr id="4" name="Espace réservé du numéro de diapositive 3"/>
          <p:cNvSpPr>
            <a:spLocks noGrp="1"/>
          </p:cNvSpPr>
          <p:nvPr>
            <p:ph type="sldNum" sz="quarter" idx="12"/>
          </p:nvPr>
        </p:nvSpPr>
        <p:spPr/>
        <p:txBody>
          <a:bodyPr/>
          <a:lstStyle/>
          <a:p>
            <a:fld id="{194EA0E9-6AA5-4C72-ADD8-CBD3FCBC5038}" type="slidenum">
              <a:rPr lang="fr-FR" smtClean="0"/>
              <a:pPr/>
              <a:t>12</a:t>
            </a:fld>
            <a:endParaRPr lang="fr-FR"/>
          </a:p>
        </p:txBody>
      </p:sp>
      <p:sp>
        <p:nvSpPr>
          <p:cNvPr id="5" name="Rectangle 4"/>
          <p:cNvSpPr/>
          <p:nvPr/>
        </p:nvSpPr>
        <p:spPr>
          <a:xfrm>
            <a:off x="210207" y="1500123"/>
            <a:ext cx="5118538" cy="1015663"/>
          </a:xfrm>
          <a:prstGeom prst="rect">
            <a:avLst/>
          </a:prstGeom>
        </p:spPr>
        <p:txBody>
          <a:bodyPr wrap="square">
            <a:spAutoFit/>
          </a:bodyPr>
          <a:lstStyle/>
          <a:p>
            <a:pPr algn="just"/>
            <a:r>
              <a:rPr lang="fr-FR" sz="2000" dirty="0"/>
              <a:t>Le processus de démarrage comporte trois phases principales. Elles sont illustrées sur la figure: </a:t>
            </a:r>
          </a:p>
        </p:txBody>
      </p:sp>
      <p:pic>
        <p:nvPicPr>
          <p:cNvPr id="9218" name="Picture 2"/>
          <p:cNvPicPr>
            <a:picLocks noChangeAspect="1" noChangeArrowheads="1"/>
          </p:cNvPicPr>
          <p:nvPr/>
        </p:nvPicPr>
        <p:blipFill>
          <a:blip r:embed="rId2"/>
          <a:srcRect/>
          <a:stretch>
            <a:fillRect/>
          </a:stretch>
        </p:blipFill>
        <p:spPr bwMode="auto">
          <a:xfrm>
            <a:off x="5312979" y="1193251"/>
            <a:ext cx="6879021" cy="3662527"/>
          </a:xfrm>
          <a:prstGeom prst="rect">
            <a:avLst/>
          </a:prstGeom>
          <a:noFill/>
          <a:ln w="9525">
            <a:noFill/>
            <a:miter lim="800000"/>
            <a:headEnd/>
            <a:tailEnd/>
          </a:ln>
          <a:effectLst/>
        </p:spPr>
      </p:pic>
      <p:sp>
        <p:nvSpPr>
          <p:cNvPr id="8" name="Rectangle 7"/>
          <p:cNvSpPr/>
          <p:nvPr/>
        </p:nvSpPr>
        <p:spPr>
          <a:xfrm>
            <a:off x="430924" y="2674570"/>
            <a:ext cx="4866290" cy="2031325"/>
          </a:xfrm>
          <a:prstGeom prst="rect">
            <a:avLst/>
          </a:prstGeom>
        </p:spPr>
        <p:txBody>
          <a:bodyPr wrap="square">
            <a:spAutoFit/>
          </a:bodyPr>
          <a:lstStyle/>
          <a:p>
            <a:pPr marL="342900" indent="-342900" algn="just">
              <a:buAutoNum type="arabicPeriod"/>
            </a:pPr>
            <a:r>
              <a:rPr lang="fr-FR" dirty="0"/>
              <a:t>Exécution du test POST et chargement du programme de démarrage.</a:t>
            </a:r>
          </a:p>
          <a:p>
            <a:pPr marL="342900" indent="-342900" algn="just">
              <a:buAutoNum type="arabicPeriod"/>
            </a:pPr>
            <a:r>
              <a:rPr lang="fr-FR" dirty="0"/>
              <a:t> Localisation et chargement du logiciel Cisco IOS.</a:t>
            </a:r>
          </a:p>
          <a:p>
            <a:pPr marL="342900" indent="-342900" algn="just">
              <a:buAutoNum type="arabicPeriod"/>
            </a:pPr>
            <a:r>
              <a:rPr lang="fr-FR" dirty="0"/>
              <a:t> Recherche et chargement du fichier de configuration initiale ou passage en mode configuration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solidFill>
                  <a:srgbClr val="C00000"/>
                </a:solidFill>
              </a:rPr>
              <a:t>Résultat de la commande ‘show version’</a:t>
            </a:r>
            <a:br>
              <a:rPr lang="fr-FR" b="1" dirty="0">
                <a:solidFill>
                  <a:srgbClr val="C00000"/>
                </a:solidFill>
              </a:rPr>
            </a:br>
            <a:endParaRPr lang="fr-FR" b="1" dirty="0">
              <a:solidFill>
                <a:srgbClr val="C00000"/>
              </a:solidFill>
            </a:endParaRPr>
          </a:p>
        </p:txBody>
      </p:sp>
      <p:sp>
        <p:nvSpPr>
          <p:cNvPr id="4" name="Espace réservé du numéro de diapositive 3"/>
          <p:cNvSpPr>
            <a:spLocks noGrp="1"/>
          </p:cNvSpPr>
          <p:nvPr>
            <p:ph type="sldNum" sz="quarter" idx="12"/>
          </p:nvPr>
        </p:nvSpPr>
        <p:spPr/>
        <p:txBody>
          <a:bodyPr/>
          <a:lstStyle/>
          <a:p>
            <a:fld id="{194EA0E9-6AA5-4C72-ADD8-CBD3FCBC5038}" type="slidenum">
              <a:rPr lang="fr-FR" smtClean="0"/>
              <a:pPr/>
              <a:t>13</a:t>
            </a:fld>
            <a:endParaRPr lang="fr-FR"/>
          </a:p>
        </p:txBody>
      </p:sp>
      <p:pic>
        <p:nvPicPr>
          <p:cNvPr id="12290" name="Picture 2"/>
          <p:cNvPicPr>
            <a:picLocks noChangeAspect="1" noChangeArrowheads="1"/>
          </p:cNvPicPr>
          <p:nvPr/>
        </p:nvPicPr>
        <p:blipFill>
          <a:blip r:embed="rId2"/>
          <a:srcRect/>
          <a:stretch>
            <a:fillRect/>
          </a:stretch>
        </p:blipFill>
        <p:spPr bwMode="auto">
          <a:xfrm>
            <a:off x="299546" y="1461485"/>
            <a:ext cx="8094772" cy="5396515"/>
          </a:xfrm>
          <a:prstGeom prst="rect">
            <a:avLst/>
          </a:prstGeom>
          <a:noFill/>
          <a:ln w="9525">
            <a:noFill/>
            <a:miter lim="800000"/>
            <a:headEnd/>
            <a:tailEnd/>
          </a:ln>
          <a:effectLst/>
        </p:spPr>
      </p:pic>
      <p:sp>
        <p:nvSpPr>
          <p:cNvPr id="6" name="Rectangle 5"/>
          <p:cNvSpPr/>
          <p:nvPr/>
        </p:nvSpPr>
        <p:spPr>
          <a:xfrm>
            <a:off x="8550166" y="1634045"/>
            <a:ext cx="3258206" cy="2862322"/>
          </a:xfrm>
          <a:prstGeom prst="rect">
            <a:avLst/>
          </a:prstGeom>
        </p:spPr>
        <p:txBody>
          <a:bodyPr wrap="square">
            <a:spAutoFit/>
          </a:bodyPr>
          <a:lstStyle/>
          <a:p>
            <a:pPr algn="just"/>
            <a:r>
              <a:rPr lang="fr-FR" dirty="0"/>
              <a:t>la commande </a:t>
            </a:r>
            <a:r>
              <a:rPr lang="fr-FR" b="1" dirty="0">
                <a:solidFill>
                  <a:srgbClr val="C00000"/>
                </a:solidFill>
              </a:rPr>
              <a:t>show version</a:t>
            </a:r>
            <a:r>
              <a:rPr lang="fr-FR" dirty="0">
                <a:solidFill>
                  <a:srgbClr val="C00000"/>
                </a:solidFill>
              </a:rPr>
              <a:t> </a:t>
            </a:r>
            <a:r>
              <a:rPr lang="fr-FR" dirty="0"/>
              <a:t>affiche des informations sur la version du logiciel Cisco IOS actuellement en cours d'exécution sur le routeur, sur la version du programme de démarrage, ainsi que sur la configuration matérielle, en indiquant notamment la quantité de mémoire système.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0456" y="365125"/>
            <a:ext cx="10515600" cy="1325563"/>
          </a:xfrm>
        </p:spPr>
        <p:txBody>
          <a:bodyPr>
            <a:normAutofit/>
          </a:bodyPr>
          <a:lstStyle/>
          <a:p>
            <a:r>
              <a:rPr lang="fr-FR" b="1" dirty="0">
                <a:solidFill>
                  <a:srgbClr val="C00000"/>
                </a:solidFill>
              </a:rPr>
              <a:t>Opérations de configuration de base d'un routeur</a:t>
            </a:r>
          </a:p>
        </p:txBody>
      </p:sp>
      <p:sp>
        <p:nvSpPr>
          <p:cNvPr id="4" name="Espace réservé du numéro de diapositive 3"/>
          <p:cNvSpPr>
            <a:spLocks noGrp="1"/>
          </p:cNvSpPr>
          <p:nvPr>
            <p:ph type="sldNum" sz="quarter" idx="12"/>
          </p:nvPr>
        </p:nvSpPr>
        <p:spPr/>
        <p:txBody>
          <a:bodyPr/>
          <a:lstStyle/>
          <a:p>
            <a:fld id="{194EA0E9-6AA5-4C72-ADD8-CBD3FCBC5038}" type="slidenum">
              <a:rPr lang="fr-FR" smtClean="0"/>
              <a:pPr/>
              <a:t>14</a:t>
            </a:fld>
            <a:endParaRPr lang="fr-FR"/>
          </a:p>
        </p:txBody>
      </p:sp>
      <p:pic>
        <p:nvPicPr>
          <p:cNvPr id="10242" name="Picture 2"/>
          <p:cNvPicPr>
            <a:picLocks noChangeAspect="1" noChangeArrowheads="1"/>
          </p:cNvPicPr>
          <p:nvPr/>
        </p:nvPicPr>
        <p:blipFill>
          <a:blip r:embed="rId2"/>
          <a:srcRect/>
          <a:stretch>
            <a:fillRect/>
          </a:stretch>
        </p:blipFill>
        <p:spPr bwMode="auto">
          <a:xfrm>
            <a:off x="0" y="1544273"/>
            <a:ext cx="6676468" cy="5354527"/>
          </a:xfrm>
          <a:prstGeom prst="rect">
            <a:avLst/>
          </a:prstGeom>
          <a:noFill/>
          <a:ln w="9525">
            <a:noFill/>
            <a:miter lim="800000"/>
            <a:headEnd/>
            <a:tailEnd/>
          </a:ln>
          <a:effectLst/>
        </p:spPr>
      </p:pic>
      <p:pic>
        <p:nvPicPr>
          <p:cNvPr id="10243" name="Picture 3"/>
          <p:cNvPicPr>
            <a:picLocks noChangeAspect="1" noChangeArrowheads="1"/>
          </p:cNvPicPr>
          <p:nvPr/>
        </p:nvPicPr>
        <p:blipFill>
          <a:blip r:embed="rId3"/>
          <a:srcRect/>
          <a:stretch>
            <a:fillRect/>
          </a:stretch>
        </p:blipFill>
        <p:spPr bwMode="auto">
          <a:xfrm>
            <a:off x="5938509" y="1179786"/>
            <a:ext cx="2937477" cy="1599987"/>
          </a:xfrm>
          <a:prstGeom prst="rect">
            <a:avLst/>
          </a:prstGeom>
          <a:noFill/>
          <a:ln w="9525">
            <a:noFill/>
            <a:miter lim="800000"/>
            <a:headEnd/>
            <a:tailEnd/>
          </a:ln>
          <a:effectLst/>
        </p:spPr>
      </p:pic>
      <p:cxnSp>
        <p:nvCxnSpPr>
          <p:cNvPr id="9" name="Connecteur droit avec flèche 8"/>
          <p:cNvCxnSpPr/>
          <p:nvPr/>
        </p:nvCxnSpPr>
        <p:spPr>
          <a:xfrm>
            <a:off x="2222938" y="1828800"/>
            <a:ext cx="3657600" cy="425669"/>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8906485" y="1699313"/>
            <a:ext cx="2901888" cy="646331"/>
          </a:xfrm>
          <a:prstGeom prst="rect">
            <a:avLst/>
          </a:prstGeom>
        </p:spPr>
        <p:txBody>
          <a:bodyPr wrap="square">
            <a:spAutoFit/>
          </a:bodyPr>
          <a:lstStyle/>
          <a:p>
            <a:r>
              <a:rPr lang="fr-FR" dirty="0">
                <a:solidFill>
                  <a:srgbClr val="BC8FDD"/>
                </a:solidFill>
              </a:rPr>
              <a:t>Un nom d'hôte est attribué au routeur.</a:t>
            </a:r>
          </a:p>
        </p:txBody>
      </p:sp>
      <p:pic>
        <p:nvPicPr>
          <p:cNvPr id="10244" name="Picture 4"/>
          <p:cNvPicPr>
            <a:picLocks noChangeAspect="1" noChangeArrowheads="1"/>
          </p:cNvPicPr>
          <p:nvPr/>
        </p:nvPicPr>
        <p:blipFill>
          <a:blip r:embed="rId4"/>
          <a:srcRect/>
          <a:stretch>
            <a:fillRect/>
          </a:stretch>
        </p:blipFill>
        <p:spPr bwMode="auto">
          <a:xfrm>
            <a:off x="4981904" y="2874907"/>
            <a:ext cx="4342562" cy="3573189"/>
          </a:xfrm>
          <a:prstGeom prst="rect">
            <a:avLst/>
          </a:prstGeom>
          <a:noFill/>
          <a:ln w="9525">
            <a:noFill/>
            <a:miter lim="800000"/>
            <a:headEnd/>
            <a:tailEnd/>
          </a:ln>
          <a:effectLst/>
        </p:spPr>
      </p:pic>
      <p:sp>
        <p:nvSpPr>
          <p:cNvPr id="15" name="Accolade ouvrante 14"/>
          <p:cNvSpPr/>
          <p:nvPr/>
        </p:nvSpPr>
        <p:spPr>
          <a:xfrm flipH="1">
            <a:off x="4367047" y="2301764"/>
            <a:ext cx="331076" cy="2601311"/>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7" name="Rectangle 16"/>
          <p:cNvSpPr/>
          <p:nvPr/>
        </p:nvSpPr>
        <p:spPr>
          <a:xfrm>
            <a:off x="9333187" y="2891898"/>
            <a:ext cx="2858814" cy="2308324"/>
          </a:xfrm>
          <a:prstGeom prst="rect">
            <a:avLst/>
          </a:prstGeom>
        </p:spPr>
        <p:txBody>
          <a:bodyPr wrap="square">
            <a:spAutoFit/>
          </a:bodyPr>
          <a:lstStyle/>
          <a:p>
            <a:pPr algn="just"/>
            <a:r>
              <a:rPr lang="fr-FR" dirty="0">
                <a:solidFill>
                  <a:srgbClr val="BC8FDD"/>
                </a:solidFill>
              </a:rPr>
              <a:t>les lignes du mode d'exécution privilégié, du mode d'exécution utilisateur et d'accès à distance sont sécurisées par un mot de passe et tous les mots de passe du fichier de configuration sont chiffrés.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1"/>
          <p:cNvSpPr>
            <a:spLocks noGrp="1"/>
          </p:cNvSpPr>
          <p:nvPr>
            <p:ph type="title"/>
          </p:nvPr>
        </p:nvSpPr>
        <p:spPr>
          <a:xfrm>
            <a:off x="1090456" y="365125"/>
            <a:ext cx="10515600" cy="1325563"/>
          </a:xfrm>
        </p:spPr>
        <p:txBody>
          <a:bodyPr>
            <a:normAutofit/>
          </a:bodyPr>
          <a:lstStyle/>
          <a:p>
            <a:r>
              <a:rPr lang="fr-FR" b="1" dirty="0">
                <a:solidFill>
                  <a:srgbClr val="C00000"/>
                </a:solidFill>
              </a:rPr>
              <a:t>Opérations de configuration de base d'un routeur</a:t>
            </a:r>
          </a:p>
        </p:txBody>
      </p:sp>
      <p:pic>
        <p:nvPicPr>
          <p:cNvPr id="10" name="Picture 2"/>
          <p:cNvPicPr>
            <a:picLocks noChangeAspect="1" noChangeArrowheads="1"/>
          </p:cNvPicPr>
          <p:nvPr/>
        </p:nvPicPr>
        <p:blipFill>
          <a:blip r:embed="rId2"/>
          <a:srcRect/>
          <a:stretch>
            <a:fillRect/>
          </a:stretch>
        </p:blipFill>
        <p:spPr bwMode="auto">
          <a:xfrm>
            <a:off x="-1" y="1503472"/>
            <a:ext cx="6676468" cy="5354527"/>
          </a:xfrm>
          <a:prstGeom prst="rect">
            <a:avLst/>
          </a:prstGeom>
          <a:noFill/>
          <a:ln w="9525">
            <a:noFill/>
            <a:miter lim="800000"/>
            <a:headEnd/>
            <a:tailEnd/>
          </a:ln>
          <a:effectLst/>
        </p:spPr>
      </p:pic>
      <p:pic>
        <p:nvPicPr>
          <p:cNvPr id="11266" name="Picture 2"/>
          <p:cNvPicPr>
            <a:picLocks noChangeAspect="1" noChangeArrowheads="1"/>
          </p:cNvPicPr>
          <p:nvPr/>
        </p:nvPicPr>
        <p:blipFill>
          <a:blip r:embed="rId3"/>
          <a:srcRect/>
          <a:stretch>
            <a:fillRect/>
          </a:stretch>
        </p:blipFill>
        <p:spPr bwMode="auto">
          <a:xfrm>
            <a:off x="5798426" y="2621346"/>
            <a:ext cx="4523496" cy="2218667"/>
          </a:xfrm>
          <a:prstGeom prst="rect">
            <a:avLst/>
          </a:prstGeom>
          <a:noFill/>
          <a:ln w="9525">
            <a:noFill/>
            <a:miter lim="800000"/>
            <a:headEnd/>
            <a:tailEnd/>
          </a:ln>
          <a:effectLst/>
        </p:spPr>
      </p:pic>
      <p:cxnSp>
        <p:nvCxnSpPr>
          <p:cNvPr id="11" name="Connecteur droit avec flèche 10"/>
          <p:cNvCxnSpPr/>
          <p:nvPr/>
        </p:nvCxnSpPr>
        <p:spPr>
          <a:xfrm flipV="1">
            <a:off x="1954925" y="3610303"/>
            <a:ext cx="3799489" cy="1560786"/>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0264523" y="2992084"/>
            <a:ext cx="1559616" cy="1477328"/>
          </a:xfrm>
          <a:prstGeom prst="rect">
            <a:avLst/>
          </a:prstGeom>
        </p:spPr>
        <p:txBody>
          <a:bodyPr wrap="square">
            <a:spAutoFit/>
          </a:bodyPr>
          <a:lstStyle/>
          <a:p>
            <a:pPr algn="ctr"/>
            <a:r>
              <a:rPr lang="fr-FR" dirty="0">
                <a:solidFill>
                  <a:srgbClr val="BC8FDD"/>
                </a:solidFill>
              </a:rPr>
              <a:t>La configuration d'un avertissement légal </a:t>
            </a:r>
          </a:p>
        </p:txBody>
      </p:sp>
      <p:pic>
        <p:nvPicPr>
          <p:cNvPr id="11267" name="Picture 3"/>
          <p:cNvPicPr>
            <a:picLocks noChangeAspect="1" noChangeArrowheads="1"/>
          </p:cNvPicPr>
          <p:nvPr/>
        </p:nvPicPr>
        <p:blipFill>
          <a:blip r:embed="rId4"/>
          <a:srcRect/>
          <a:stretch>
            <a:fillRect/>
          </a:stretch>
        </p:blipFill>
        <p:spPr bwMode="auto">
          <a:xfrm>
            <a:off x="3908042" y="5315443"/>
            <a:ext cx="4664963" cy="1290309"/>
          </a:xfrm>
          <a:prstGeom prst="rect">
            <a:avLst/>
          </a:prstGeom>
          <a:noFill/>
          <a:ln w="9525">
            <a:noFill/>
            <a:miter lim="800000"/>
            <a:headEnd/>
            <a:tailEnd/>
          </a:ln>
          <a:effectLst/>
        </p:spPr>
      </p:pic>
      <p:sp>
        <p:nvSpPr>
          <p:cNvPr id="15" name="Rectangle 14"/>
          <p:cNvSpPr/>
          <p:nvPr/>
        </p:nvSpPr>
        <p:spPr>
          <a:xfrm>
            <a:off x="8665841" y="5845644"/>
            <a:ext cx="3197863" cy="369332"/>
          </a:xfrm>
          <a:prstGeom prst="rect">
            <a:avLst/>
          </a:prstGeom>
        </p:spPr>
        <p:txBody>
          <a:bodyPr wrap="none">
            <a:spAutoFit/>
          </a:bodyPr>
          <a:lstStyle/>
          <a:p>
            <a:r>
              <a:rPr lang="fr-FR" dirty="0">
                <a:solidFill>
                  <a:srgbClr val="BC8FDD"/>
                </a:solidFill>
              </a:rPr>
              <a:t> La configuration est enregistrée</a:t>
            </a:r>
          </a:p>
        </p:txBody>
      </p:sp>
      <p:cxnSp>
        <p:nvCxnSpPr>
          <p:cNvPr id="16" name="Connecteur droit avec flèche 15"/>
          <p:cNvCxnSpPr>
            <a:endCxn id="11267" idx="1"/>
          </p:cNvCxnSpPr>
          <p:nvPr/>
        </p:nvCxnSpPr>
        <p:spPr>
          <a:xfrm>
            <a:off x="1355834" y="5896303"/>
            <a:ext cx="2552208" cy="64295"/>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err="1">
                <a:solidFill>
                  <a:srgbClr val="C00000"/>
                </a:solidFill>
              </a:rPr>
              <a:t>Packet</a:t>
            </a:r>
            <a:r>
              <a:rPr lang="fr-FR" b="1" dirty="0">
                <a:solidFill>
                  <a:srgbClr val="C00000"/>
                </a:solidFill>
              </a:rPr>
              <a:t> Tracer - Configuration des paramètres initiaux du routeur</a:t>
            </a:r>
          </a:p>
        </p:txBody>
      </p:sp>
      <p:sp>
        <p:nvSpPr>
          <p:cNvPr id="3" name="Espace réservé du contenu 2"/>
          <p:cNvSpPr>
            <a:spLocks noGrp="1"/>
          </p:cNvSpPr>
          <p:nvPr>
            <p:ph idx="1"/>
          </p:nvPr>
        </p:nvSpPr>
        <p:spPr/>
        <p:txBody>
          <a:bodyPr/>
          <a:lstStyle/>
          <a:p>
            <a:pPr algn="just"/>
            <a:r>
              <a:rPr lang="fr-FR" dirty="0"/>
              <a:t>Au cours de cet exercice, vous allez effectuer des configurations de base sur les routeurs, sécuriser l'accès à l'interface en ligne de commande (CLI) et au port de console à l'aide de mots de passe chiffrés et en texte clair et configurer les messages affichés lors de la connexion des utilisateurs au routeur. Ces bannières avertissent également les utilisateurs non autorisés que l'accès est interdit. Enfin, vous allez vérifier et enregistrer votre configuration en cours.</a:t>
            </a:r>
          </a:p>
          <a:p>
            <a:endParaRPr lang="fr-FR" dirty="0"/>
          </a:p>
        </p:txBody>
      </p:sp>
      <p:sp>
        <p:nvSpPr>
          <p:cNvPr id="4" name="Espace réservé du numéro de diapositive 3"/>
          <p:cNvSpPr>
            <a:spLocks noGrp="1"/>
          </p:cNvSpPr>
          <p:nvPr>
            <p:ph type="sldNum" sz="quarter" idx="12"/>
          </p:nvPr>
        </p:nvSpPr>
        <p:spPr/>
        <p:txBody>
          <a:bodyPr/>
          <a:lstStyle/>
          <a:p>
            <a:fld id="{194EA0E9-6AA5-4C72-ADD8-CBD3FCBC5038}" type="slidenum">
              <a:rPr lang="fr-FR" smtClean="0"/>
              <a:pPr/>
              <a:t>16</a:t>
            </a:fld>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5963686"/>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5690</TotalTime>
  <Words>1113</Words>
  <Application>Microsoft Office PowerPoint</Application>
  <PresentationFormat>Widescreen</PresentationFormat>
  <Paragraphs>78</Paragraphs>
  <Slides>17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Raleway Black</vt:lpstr>
      <vt:lpstr>Office Theme</vt:lpstr>
      <vt:lpstr>PowerPoint Presentation</vt:lpstr>
      <vt:lpstr>Un routeur est un ordinateur</vt:lpstr>
      <vt:lpstr>Un routeur est un ordinateur</vt:lpstr>
      <vt:lpstr>Processeur et système d'exploitation  des routeurs </vt:lpstr>
      <vt:lpstr> Mémoire des routeurs</vt:lpstr>
      <vt:lpstr>À l'intérieur d'un routeur </vt:lpstr>
      <vt:lpstr>Connexion à un routeur </vt:lpstr>
      <vt:lpstr>Connexion à un routeur </vt:lpstr>
      <vt:lpstr>Interfaces LAN et WAN </vt:lpstr>
      <vt:lpstr>Interfaces LAN et WAN </vt:lpstr>
      <vt:lpstr>Fichiers de démarrage prédéfinis</vt:lpstr>
      <vt:lpstr>Processus de démarrage d'un routeur</vt:lpstr>
      <vt:lpstr>Résultat de la commande ‘show version’ </vt:lpstr>
      <vt:lpstr>Opérations de configuration de base d'un routeur</vt:lpstr>
      <vt:lpstr>Opérations de configuration de base d'un routeur</vt:lpstr>
      <vt:lpstr>Packet Tracer - Configuration des paramètres initiaux du routeur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Oussama Jebali</dc:creator>
  <cp:lastModifiedBy>hafawa messaoudi</cp:lastModifiedBy>
  <cp:revision>431</cp:revision>
  <dcterms:created xsi:type="dcterms:W3CDTF">2015-03-06T15:17:24Z</dcterms:created>
  <dcterms:modified xsi:type="dcterms:W3CDTF">2021-11-19T12:56:53Z</dcterms:modified>
</cp:coreProperties>
</file>