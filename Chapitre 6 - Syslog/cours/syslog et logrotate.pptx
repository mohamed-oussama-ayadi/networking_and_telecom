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97" r:id="rId6"/>
    <p:sldId id="322" r:id="rId7"/>
    <p:sldId id="298" r:id="rId8"/>
    <p:sldId id="323" r:id="rId9"/>
    <p:sldId id="300" r:id="rId10"/>
    <p:sldId id="299" r:id="rId11"/>
    <p:sldId id="324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9" r:id="rId22"/>
    <p:sldId id="325" r:id="rId23"/>
    <p:sldId id="326" r:id="rId24"/>
    <p:sldId id="327" r:id="rId25"/>
    <p:sldId id="328" r:id="rId26"/>
  </p:sldIdLst>
  <p:sldSz cx="13320713" cy="10080625"/>
  <p:notesSz cx="6858000" cy="9144000"/>
  <p:embeddedFontLst>
    <p:embeddedFont>
      <p:font typeface="Bodoni" panose="020B0604020202020204" charset="0"/>
      <p:regular r:id="rId28"/>
      <p:bold r:id="rId29"/>
      <p:italic r:id="rId30"/>
      <p:boldItalic r:id="rId31"/>
    </p:embeddedFont>
    <p:embeddedFont>
      <p:font typeface="Helvetica Neue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5" roundtripDataSignature="AMtx7miwcAWSxgFvl/1gmhgQlHnNtPK1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BF4BE3-F381-4AE4-9D4D-7CC0099F43B4}">
  <a:tblStyle styleId="{5DBF4BE3-F381-4AE4-9D4D-7CC0099F43B4}" styleName="Table_0">
    <a:wholeTbl>
      <a:tcTxStyle b="off" i="off">
        <a:font>
          <a:latin typeface="Bodoni SvtyTwo ITC TT-Book"/>
          <a:ea typeface="Bodoni SvtyTwo ITC TT-Book"/>
          <a:cs typeface="Bodoni SvtyTwo ITC TT-Book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6" autoAdjust="0"/>
    <p:restoredTop sz="82226" autoAdjust="0"/>
  </p:normalViewPr>
  <p:slideViewPr>
    <p:cSldViewPr snapToGrid="0">
      <p:cViewPr varScale="1">
        <p:scale>
          <a:sx n="42" d="100"/>
          <a:sy n="42" d="100"/>
        </p:scale>
        <p:origin x="17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85" Type="http://customschemas.google.com/relationships/presentationmetadata" Target="meta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2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16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6912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823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543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909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13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Le démon </a:t>
            </a:r>
            <a:r>
              <a:rPr lang="fr-FR" sz="2400" dirty="0" err="1" smtClean="0"/>
              <a:t>rsyslogd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a pour charge de collecter les messages de service provenant des applications et du noyau puis de les répartir dans des fichiers de logs (habituellement stockés dans le répertoire </a:t>
            </a:r>
            <a:r>
              <a:rPr lang="fr-FR" sz="2400" dirty="0" smtClean="0"/>
              <a:t>/var/log/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). Il obéit au fichier de configuration </a:t>
            </a:r>
            <a:r>
              <a:rPr lang="fr-FR" sz="2400" dirty="0" smtClean="0"/>
              <a:t>/</a:t>
            </a:r>
            <a:r>
              <a:rPr lang="fr-FR" sz="2400" dirty="0" err="1" smtClean="0"/>
              <a:t>etc</a:t>
            </a:r>
            <a:r>
              <a:rPr lang="fr-FR" sz="2400" dirty="0" smtClean="0"/>
              <a:t>/</a:t>
            </a:r>
            <a:r>
              <a:rPr lang="fr-FR" sz="2400" dirty="0" err="1" smtClean="0"/>
              <a:t>rsyslog.conf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dirty="0"/>
          </a:p>
        </p:txBody>
      </p:sp>
      <p:sp>
        <p:nvSpPr>
          <p:cNvPr id="126" name="Google Shape;1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9805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Il existe 3 versions différentes de </a:t>
            </a: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syslog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 :</a:t>
            </a:r>
          </a:p>
          <a:p>
            <a:r>
              <a:rPr lang="fr-FR" sz="2262" b="1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Syslog</a:t>
            </a:r>
            <a:r>
              <a:rPr lang="fr-FR" sz="2262" b="1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: la version initiale. Les autres versions sont des versions améliorées. </a:t>
            </a:r>
          </a:p>
          <a:p>
            <a:r>
              <a:rPr lang="fr-FR" sz="2262" b="1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Syslog-ng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: il étend les fonctionnalités initiales en ajoutant le filtrage basé sur le contenu, le support TCP et le chiffrement TLS.</a:t>
            </a:r>
          </a:p>
          <a:p>
            <a:r>
              <a:rPr lang="fr-FR" sz="2262" b="1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Rsyslog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: la dernière version, mais aussi la plus utilisée.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1389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0443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Chaque message de log est associé à un sous-système applicatif nommé </a:t>
            </a: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facility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4742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Ignorer les messages : </a:t>
            </a:r>
            <a:r>
              <a:rPr lang="fr-FR" sz="2262" b="1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~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Sur un serveur en UDP : </a:t>
            </a:r>
            <a:r>
              <a:rPr lang="fr-FR" sz="2262" b="1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@server 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(port par défaut = 514, si port différent @@</a:t>
            </a: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server:port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r>
              <a:rPr lang="fr-FR" dirty="0" smtClean="0"/>
              <a:t>@192.168.21.200 # Envoie en UDP vers un serveur </a:t>
            </a:r>
            <a:r>
              <a:rPr lang="fr-FR" dirty="0" err="1" smtClean="0"/>
              <a:t>syslog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Sur un serveur en TCP : </a:t>
            </a:r>
            <a:r>
              <a:rPr lang="fr-FR" sz="2262" b="1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@@server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 (port par défaut = 514, si port différent @@</a:t>
            </a:r>
            <a:r>
              <a:rPr lang="fr-FR" sz="2262" b="0" i="0" u="none" strike="noStrike" cap="none" dirty="0" err="1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server:port</a:t>
            </a: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4078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3422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6013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685800"/>
            <a:ext cx="45307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0041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0733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3387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3461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2400" b="0" i="0" u="none" strike="noStrike" cap="none" dirty="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03464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 défaut, 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logrotate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 exécuté quotidiennement en exécutant le script 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etc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cron.daily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logrotate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2551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 défaut, 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logrotate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est exécuté quotidiennement en exécutant le script 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shell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etc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cron.daily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logrotate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262" b="0" i="0" u="none" strike="noStrike" cap="none" dirty="0" smtClean="0">
                <a:solidFill>
                  <a:srgbClr val="000000"/>
                </a:solidFill>
                <a:effectLst/>
                <a:latin typeface="Helvetica Neue"/>
                <a:ea typeface="Helvetica Neue"/>
                <a:cs typeface="Helvetica Neue"/>
                <a:sym typeface="Helvetica Neue"/>
              </a:rPr>
              <a:t>'size' est également un paramètre important si vous souhaitez contrôler la taille des logs accumulés par le système. Par exemple, pour limiter ce poids à 100MB, on ajouterait: </a:t>
            </a:r>
            <a:r>
              <a:rPr lang="fr-FR" sz="2400" dirty="0" smtClean="0"/>
              <a:t>size 100M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Prerotate</a:t>
            </a:r>
            <a:r>
              <a:rPr lang="fr-FR" sz="2400" b="0" i="0" u="none" strike="noStrike" cap="none" dirty="0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 </a:t>
            </a: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postrotate</a:t>
            </a:r>
            <a:endParaRPr lang="fr-FR" sz="2400" b="0" i="0" u="none" strike="noStrike" cap="none" dirty="0" smtClea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400" b="0" i="0" u="none" strike="noStrike" cap="none" dirty="0" err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copytruncate</a:t>
            </a:r>
            <a:endParaRPr lang="fr-FR" sz="2400" b="0" i="0" u="none" strike="noStrike" cap="none" dirty="0" smtClean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73229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- Centré" type="tx">
  <p:cSld name="TITLE_AND_BOD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1"/>
          <p:cNvSpPr txBox="1">
            <a:spLocks noGrp="1"/>
          </p:cNvSpPr>
          <p:nvPr>
            <p:ph type="title"/>
          </p:nvPr>
        </p:nvSpPr>
        <p:spPr>
          <a:xfrm>
            <a:off x="520341" y="3793360"/>
            <a:ext cx="1228003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1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">
  <p:cSld name="Titre et sous-titr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2"/>
          <p:cNvCxnSpPr/>
          <p:nvPr/>
        </p:nvCxnSpPr>
        <p:spPr>
          <a:xfrm>
            <a:off x="520341" y="6812297"/>
            <a:ext cx="1229094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6" name="Google Shape;16;p42"/>
          <p:cNvCxnSpPr/>
          <p:nvPr/>
        </p:nvCxnSpPr>
        <p:spPr>
          <a:xfrm>
            <a:off x="520341" y="4226512"/>
            <a:ext cx="1229152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520341" y="3640622"/>
            <a:ext cx="7375824" cy="48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body" idx="2"/>
          </p:nvPr>
        </p:nvSpPr>
        <p:spPr>
          <a:xfrm>
            <a:off x="8481548" y="4279015"/>
            <a:ext cx="434484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20" name="Google Shape;20;p42"/>
          <p:cNvSpPr/>
          <p:nvPr/>
        </p:nvSpPr>
        <p:spPr>
          <a:xfrm>
            <a:off x="261257" y="435429"/>
            <a:ext cx="12830629" cy="2031951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 txBox="1">
            <a:spLocks noGrp="1"/>
          </p:cNvSpPr>
          <p:nvPr>
            <p:ph type="title"/>
          </p:nvPr>
        </p:nvSpPr>
        <p:spPr>
          <a:xfrm>
            <a:off x="338220" y="905681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1F5F"/>
              </a:buClr>
              <a:buSzPts val="4643"/>
              <a:buFont typeface="Arial"/>
              <a:buNone/>
              <a:defRPr sz="4643" b="1" i="0" u="sng">
                <a:solidFill>
                  <a:srgbClr val="001F5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6576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160"/>
              <a:buChar char="●"/>
              <a:defRPr b="0" i="0">
                <a:solidFill>
                  <a:schemeClr val="dk1"/>
                </a:solidFill>
              </a:defRPr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24" name="Google Shape;24;p4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91919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1919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91919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68"/>
              <a:buFont typeface="Palatino"/>
              <a:buNone/>
              <a:defRPr sz="2468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8205450" y="14801161"/>
            <a:ext cx="751681" cy="417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9138" marR="0" lvl="0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9138" marR="0" lvl="1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49138" marR="0" lvl="2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49138" marR="0" lvl="3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49138" marR="0" lvl="4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9138" marR="0" lvl="5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9138" marR="0" lvl="6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9138" marR="0" lvl="7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9138" marR="0" lvl="8" indent="0" algn="ctr">
              <a:lnSpc>
                <a:spcPct val="9915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95"/>
              <a:buFont typeface="Arial"/>
              <a:buNone/>
              <a:defRPr sz="30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9138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e">
  <p:cSld name="Photo - Horizonta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45"/>
          <p:cNvCxnSpPr/>
          <p:nvPr/>
        </p:nvCxnSpPr>
        <p:spPr>
          <a:xfrm rot="10800000" flipH="1">
            <a:off x="8188500" y="7290052"/>
            <a:ext cx="1" cy="1697838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3" name="Google Shape;33;p45"/>
          <p:cNvCxnSpPr/>
          <p:nvPr/>
        </p:nvCxnSpPr>
        <p:spPr>
          <a:xfrm>
            <a:off x="520341" y="9437460"/>
            <a:ext cx="1229094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4" name="Google Shape;34;p45"/>
          <p:cNvCxnSpPr/>
          <p:nvPr/>
        </p:nvCxnSpPr>
        <p:spPr>
          <a:xfrm>
            <a:off x="520341" y="6851675"/>
            <a:ext cx="12291524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35;p45"/>
          <p:cNvCxnSpPr/>
          <p:nvPr/>
        </p:nvCxnSpPr>
        <p:spPr>
          <a:xfrm rot="10800000" flipH="1">
            <a:off x="8188500" y="7290052"/>
            <a:ext cx="1" cy="1697838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36" name="Google Shape;36;p45"/>
          <p:cNvSpPr txBox="1">
            <a:spLocks noGrp="1"/>
          </p:cNvSpPr>
          <p:nvPr>
            <p:ph type="body" idx="1"/>
          </p:nvPr>
        </p:nvSpPr>
        <p:spPr>
          <a:xfrm>
            <a:off x="520341" y="6318288"/>
            <a:ext cx="7375824" cy="489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37" name="Google Shape;37;p45"/>
          <p:cNvSpPr>
            <a:spLocks noGrp="1"/>
          </p:cNvSpPr>
          <p:nvPr>
            <p:ph type="pic" idx="2"/>
          </p:nvPr>
        </p:nvSpPr>
        <p:spPr>
          <a:xfrm>
            <a:off x="598391" y="577536"/>
            <a:ext cx="12110922" cy="7324204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5"/>
          <p:cNvSpPr txBox="1">
            <a:spLocks noGrp="1"/>
          </p:cNvSpPr>
          <p:nvPr>
            <p:ph type="title"/>
          </p:nvPr>
        </p:nvSpPr>
        <p:spPr>
          <a:xfrm>
            <a:off x="520341" y="6904178"/>
            <a:ext cx="7375824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body" idx="3"/>
          </p:nvPr>
        </p:nvSpPr>
        <p:spPr>
          <a:xfrm>
            <a:off x="8481548" y="6904178"/>
            <a:ext cx="4344842" cy="249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e">
  <p:cSld name="Photo - Vertica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46"/>
          <p:cNvCxnSpPr/>
          <p:nvPr/>
        </p:nvCxnSpPr>
        <p:spPr>
          <a:xfrm>
            <a:off x="520340" y="5040313"/>
            <a:ext cx="5814265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43" name="Google Shape;43;p46"/>
          <p:cNvCxnSpPr/>
          <p:nvPr/>
        </p:nvCxnSpPr>
        <p:spPr>
          <a:xfrm>
            <a:off x="520340" y="2861427"/>
            <a:ext cx="5814205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4" name="Google Shape;44;p46"/>
          <p:cNvSpPr txBox="1">
            <a:spLocks noGrp="1"/>
          </p:cNvSpPr>
          <p:nvPr>
            <p:ph type="body" idx="1"/>
          </p:nvPr>
        </p:nvSpPr>
        <p:spPr>
          <a:xfrm>
            <a:off x="520341" y="1874045"/>
            <a:ext cx="5814803" cy="89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5" name="Google Shape;45;p46"/>
          <p:cNvSpPr>
            <a:spLocks noGrp="1"/>
          </p:cNvSpPr>
          <p:nvPr>
            <p:ph type="pic" idx="2"/>
          </p:nvPr>
        </p:nvSpPr>
        <p:spPr>
          <a:xfrm>
            <a:off x="6867569" y="610350"/>
            <a:ext cx="5947945" cy="879429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6"/>
          <p:cNvSpPr txBox="1">
            <a:spLocks noGrp="1"/>
          </p:cNvSpPr>
          <p:nvPr>
            <p:ph type="title"/>
          </p:nvPr>
        </p:nvSpPr>
        <p:spPr>
          <a:xfrm>
            <a:off x="520341" y="2900805"/>
            <a:ext cx="5814803" cy="2100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8F00"/>
              </a:buClr>
              <a:buSzPts val="4100"/>
              <a:buFont typeface="Bodoni"/>
              <a:buNone/>
              <a:defRPr sz="4100">
                <a:solidFill>
                  <a:srgbClr val="008F00"/>
                </a:solidFill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body" idx="3"/>
          </p:nvPr>
        </p:nvSpPr>
        <p:spPr>
          <a:xfrm>
            <a:off x="520341" y="5197822"/>
            <a:ext cx="5814803" cy="4147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2400"/>
              <a:buFont typeface="Palatino"/>
              <a:buNone/>
              <a:defRPr sz="2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, puces et photo">
  <p:cSld name="Titre, puces et phot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>
            <a:spLocks noGrp="1"/>
          </p:cNvSpPr>
          <p:nvPr>
            <p:ph type="pic" idx="2"/>
          </p:nvPr>
        </p:nvSpPr>
        <p:spPr>
          <a:xfrm>
            <a:off x="6985569" y="1798237"/>
            <a:ext cx="5710735" cy="8443572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47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body" idx="1"/>
          </p:nvPr>
        </p:nvSpPr>
        <p:spPr>
          <a:xfrm>
            <a:off x="520340" y="2822050"/>
            <a:ext cx="5957897" cy="6562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1pPr>
            <a:lvl2pPr marL="914400" lvl="1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2pPr>
            <a:lvl3pPr marL="1371600" lvl="2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3pPr>
            <a:lvl4pPr marL="1828800" lvl="3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4pPr>
            <a:lvl5pPr marL="2286000" lvl="4" indent="-35242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950"/>
              <a:buChar char="●"/>
              <a:defRPr sz="30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ces">
  <p:cSld name="Puce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>
            <a:spLocks noGrp="1"/>
          </p:cNvSpPr>
          <p:nvPr>
            <p:ph type="body" idx="1"/>
          </p:nvPr>
        </p:nvSpPr>
        <p:spPr>
          <a:xfrm>
            <a:off x="520341" y="1312582"/>
            <a:ext cx="12280032" cy="745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 photos">
  <p:cSld name="3 photo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9"/>
          <p:cNvSpPr>
            <a:spLocks noGrp="1"/>
          </p:cNvSpPr>
          <p:nvPr>
            <p:ph type="pic" idx="2"/>
          </p:nvPr>
        </p:nvSpPr>
        <p:spPr>
          <a:xfrm>
            <a:off x="6413078" y="4554657"/>
            <a:ext cx="6860482" cy="4869677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49"/>
          <p:cNvSpPr>
            <a:spLocks noGrp="1"/>
          </p:cNvSpPr>
          <p:nvPr>
            <p:ph type="pic" idx="3"/>
          </p:nvPr>
        </p:nvSpPr>
        <p:spPr>
          <a:xfrm>
            <a:off x="6842476" y="656291"/>
            <a:ext cx="5970907" cy="36358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49"/>
          <p:cNvSpPr>
            <a:spLocks noGrp="1"/>
          </p:cNvSpPr>
          <p:nvPr>
            <p:ph type="pic" idx="4"/>
          </p:nvPr>
        </p:nvSpPr>
        <p:spPr>
          <a:xfrm>
            <a:off x="494324" y="630039"/>
            <a:ext cx="5868047" cy="8676163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49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">
  <p:cSld name="Cita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0"/>
          <p:cNvSpPr txBox="1">
            <a:spLocks noGrp="1"/>
          </p:cNvSpPr>
          <p:nvPr>
            <p:ph type="body" idx="1"/>
          </p:nvPr>
        </p:nvSpPr>
        <p:spPr>
          <a:xfrm>
            <a:off x="546358" y="6169133"/>
            <a:ext cx="12227998" cy="564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14141"/>
              </a:buClr>
              <a:buSzPts val="3000"/>
              <a:buFont typeface="Palatino"/>
              <a:buNone/>
              <a:defRPr sz="3000" i="1"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body" idx="2"/>
          </p:nvPr>
        </p:nvSpPr>
        <p:spPr>
          <a:xfrm>
            <a:off x="1300851" y="4436375"/>
            <a:ext cx="10719011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1800"/>
              <a:buNone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 2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51"/>
          <p:cNvCxnSpPr/>
          <p:nvPr/>
        </p:nvCxnSpPr>
        <p:spPr>
          <a:xfrm>
            <a:off x="2055344" y="2943463"/>
            <a:ext cx="9216550" cy="1"/>
          </a:xfrm>
          <a:prstGeom prst="straightConnector1">
            <a:avLst/>
          </a:prstGeom>
          <a:noFill/>
          <a:ln w="9525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68" name="Google Shape;68;p51"/>
          <p:cNvCxnSpPr/>
          <p:nvPr/>
        </p:nvCxnSpPr>
        <p:spPr>
          <a:xfrm>
            <a:off x="2055344" y="1752296"/>
            <a:ext cx="9216550" cy="1"/>
          </a:xfrm>
          <a:prstGeom prst="straightConnector1">
            <a:avLst/>
          </a:prstGeom>
          <a:noFill/>
          <a:ln w="9525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9" name="Google Shape;69;p51"/>
          <p:cNvSpPr txBox="1">
            <a:spLocks noGrp="1"/>
          </p:cNvSpPr>
          <p:nvPr>
            <p:ph type="title"/>
          </p:nvPr>
        </p:nvSpPr>
        <p:spPr>
          <a:xfrm>
            <a:off x="2055344" y="1880272"/>
            <a:ext cx="9210026" cy="94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6800"/>
              <a:buFont typeface="Bodoni"/>
              <a:buNone/>
              <a:defRPr sz="680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body" idx="1"/>
          </p:nvPr>
        </p:nvSpPr>
        <p:spPr>
          <a:xfrm>
            <a:off x="2055344" y="3297861"/>
            <a:ext cx="9210026" cy="472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rmAutofit/>
          </a:bodyPr>
          <a:lstStyle>
            <a:lvl1pPr marL="457200" lvl="0" indent="-35814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1pPr>
            <a:lvl2pPr marL="914400" lvl="1" indent="-35814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2pPr>
            <a:lvl3pPr marL="1371600" lvl="2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3pPr>
            <a:lvl4pPr marL="1828800" lvl="3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4pPr>
            <a:lvl5pPr marL="2286000" lvl="4" indent="-35813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040"/>
              <a:buChar char="●"/>
              <a:defRPr sz="3400"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sldNum" idx="12"/>
          </p:nvPr>
        </p:nvSpPr>
        <p:spPr>
          <a:xfrm>
            <a:off x="6423845" y="8436617"/>
            <a:ext cx="4632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600"/>
              <a:buFont typeface="Palatino"/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 b="0" i="0" u="none" strike="noStrike" cap="none">
              <a:solidFill>
                <a:srgbClr val="4C4946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puces">
  <p:cSld name="Titre et puces 3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52"/>
          <p:cNvCxnSpPr/>
          <p:nvPr/>
        </p:nvCxnSpPr>
        <p:spPr>
          <a:xfrm>
            <a:off x="520339" y="2244514"/>
            <a:ext cx="12288733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4" name="Google Shape;74;p52"/>
          <p:cNvCxnSpPr/>
          <p:nvPr/>
        </p:nvCxnSpPr>
        <p:spPr>
          <a:xfrm>
            <a:off x="520339" y="656291"/>
            <a:ext cx="12288733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5" name="Google Shape;75;p52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1pPr>
            <a:lvl2pPr marL="914400" lvl="1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2pPr>
            <a:lvl3pPr marL="1371600" lvl="2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3pPr>
            <a:lvl4pPr marL="1828800" lvl="3" indent="-29718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4pPr>
            <a:lvl5pPr marL="2286000" lvl="4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5pPr>
            <a:lvl6pPr marL="2743200" lvl="5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6pPr>
            <a:lvl7pPr marL="3200400" lvl="6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7pPr>
            <a:lvl8pPr marL="3657600" lvl="7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8pPr>
            <a:lvl9pPr marL="4114800" lvl="8" indent="-297179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080"/>
              <a:buChar char="●"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>
                <a:solidFill>
                  <a:srgbClr val="4C4946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0">
            <a:alpha val="25882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40"/>
          <p:cNvCxnSpPr/>
          <p:nvPr/>
        </p:nvCxnSpPr>
        <p:spPr>
          <a:xfrm>
            <a:off x="520340" y="2244514"/>
            <a:ext cx="12288731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7;p40"/>
          <p:cNvCxnSpPr/>
          <p:nvPr/>
        </p:nvCxnSpPr>
        <p:spPr>
          <a:xfrm>
            <a:off x="520340" y="656291"/>
            <a:ext cx="12288731" cy="0"/>
          </a:xfrm>
          <a:prstGeom prst="straightConnector1">
            <a:avLst/>
          </a:prstGeom>
          <a:noFill/>
          <a:ln w="12700" cap="flat" cmpd="sng">
            <a:solidFill>
              <a:srgbClr val="444444">
                <a:alpha val="29803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" name="Google Shape;8;p40"/>
          <p:cNvSpPr txBox="1">
            <a:spLocks noGrp="1"/>
          </p:cNvSpPr>
          <p:nvPr>
            <p:ph type="title"/>
          </p:nvPr>
        </p:nvSpPr>
        <p:spPr>
          <a:xfrm>
            <a:off x="338220" y="905681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marR="0" lvl="1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2pPr>
            <a:lvl3pPr marR="0" lvl="2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3pPr>
            <a:lvl4pPr marR="0" lvl="3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4pPr>
            <a:lvl5pPr marR="0" lvl="4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5pPr>
            <a:lvl6pPr marR="0" lvl="5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6pPr>
            <a:lvl7pPr marR="0" lvl="6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7pPr>
            <a:lvl8pPr marR="0" lvl="7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8pPr>
            <a:lvl9pPr marR="0" lvl="8" algn="ctr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  <a:defRPr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9" name="Google Shape;9;p40"/>
          <p:cNvSpPr txBox="1">
            <a:spLocks noGrp="1"/>
          </p:cNvSpPr>
          <p:nvPr>
            <p:ph type="body" idx="1"/>
          </p:nvPr>
        </p:nvSpPr>
        <p:spPr>
          <a:xfrm>
            <a:off x="520341" y="2717043"/>
            <a:ext cx="12280032" cy="630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914400" marR="0" lvl="1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1371600" marR="0" lvl="2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929292"/>
              </a:buClr>
              <a:buSzPts val="2160"/>
              <a:buFont typeface="Arial"/>
              <a:buChar char="●"/>
              <a:defRPr sz="3600" b="0" i="0" u="none" strike="noStrike" cap="none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endParaRPr/>
          </a:p>
        </p:txBody>
      </p:sp>
      <p:sp>
        <p:nvSpPr>
          <p:cNvPr id="10" name="Google Shape;10;p40"/>
          <p:cNvSpPr txBox="1">
            <a:spLocks noGrp="1"/>
          </p:cNvSpPr>
          <p:nvPr>
            <p:ph type="sldNum" idx="12"/>
          </p:nvPr>
        </p:nvSpPr>
        <p:spPr>
          <a:xfrm>
            <a:off x="6382945" y="9568718"/>
            <a:ext cx="541815" cy="379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1800"/>
              <a:buFont typeface="Palatino"/>
              <a:buNone/>
              <a:defRPr sz="1800" b="0" i="0" u="none" strike="noStrike" cap="none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title"/>
          </p:nvPr>
        </p:nvSpPr>
        <p:spPr>
          <a:xfrm>
            <a:off x="665956" y="3376279"/>
            <a:ext cx="11988800" cy="241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 Administration &amp; Sécurité des Systèmes d’Exploitation 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body" idx="4294967295"/>
          </p:nvPr>
        </p:nvSpPr>
        <p:spPr>
          <a:xfrm>
            <a:off x="4813844" y="7535714"/>
            <a:ext cx="4241801" cy="241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None/>
            </a:pPr>
            <a:r>
              <a:rPr lang="fr-FR" sz="3200"/>
              <a:t>Année Universitaire 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None/>
            </a:pPr>
            <a:r>
              <a:rPr lang="fr-FR" sz="3200"/>
              <a:t>2022-2023  </a:t>
            </a:r>
            <a:endParaRPr/>
          </a:p>
        </p:txBody>
      </p:sp>
      <p:cxnSp>
        <p:nvCxnSpPr>
          <p:cNvPr id="84" name="Google Shape;84;p1"/>
          <p:cNvCxnSpPr/>
          <p:nvPr/>
        </p:nvCxnSpPr>
        <p:spPr>
          <a:xfrm>
            <a:off x="499181" y="3290977"/>
            <a:ext cx="12322353" cy="1"/>
          </a:xfrm>
          <a:prstGeom prst="straightConnector1">
            <a:avLst/>
          </a:prstGeom>
          <a:noFill/>
          <a:ln w="12700" cap="flat" cmpd="sng">
            <a:solidFill>
              <a:srgbClr val="C0C0C0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5" name="Google Shape;85;p1"/>
          <p:cNvCxnSpPr/>
          <p:nvPr/>
        </p:nvCxnSpPr>
        <p:spPr>
          <a:xfrm>
            <a:off x="499180" y="5874580"/>
            <a:ext cx="12322352" cy="1"/>
          </a:xfrm>
          <a:prstGeom prst="straightConnector1">
            <a:avLst/>
          </a:prstGeom>
          <a:noFill/>
          <a:ln w="12700" cap="flat" cmpd="sng">
            <a:solidFill>
              <a:srgbClr val="C0C0C0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6" name="Google Shape;86;p1"/>
          <p:cNvSpPr/>
          <p:nvPr/>
        </p:nvSpPr>
        <p:spPr>
          <a:xfrm>
            <a:off x="499180" y="1096201"/>
            <a:ext cx="12460376" cy="595035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40632" y="401053"/>
            <a:ext cx="12718924" cy="2149624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200"/>
              <a:buFont typeface="Palatino"/>
              <a:buNone/>
            </a:pPr>
            <a:endParaRPr sz="3200" b="0" i="0" u="none" strike="noStrike" cap="none">
              <a:solidFill>
                <a:srgbClr val="FFFFFF"/>
              </a:solidFill>
              <a:latin typeface="Palatino"/>
              <a:ea typeface="Palatino"/>
              <a:cs typeface="Palatino"/>
              <a:sym typeface="Palatino"/>
            </a:endParaRPr>
          </a:p>
        </p:txBody>
      </p:sp>
      <p:pic>
        <p:nvPicPr>
          <p:cNvPr id="88" name="Google Shape;88;p1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7124" y="980600"/>
            <a:ext cx="3995521" cy="1478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ctrTitle" idx="4294967295"/>
          </p:nvPr>
        </p:nvSpPr>
        <p:spPr>
          <a:xfrm>
            <a:off x="449179" y="5144549"/>
            <a:ext cx="12061853" cy="24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 fontScale="90000"/>
          </a:bodyPr>
          <a:lstStyle/>
          <a:p>
            <a:pPr algn="ctr"/>
            <a:r>
              <a:rPr lang="fr-FR" sz="7000" b="0" i="0" u="none" strike="noStrike" cap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Chapitre VI </a:t>
            </a:r>
            <a:r>
              <a:rPr lang="fr-FR" sz="7000" b="0" i="0" u="none" strike="noStrike" cap="none" dirty="0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:</a:t>
            </a:r>
            <a:r>
              <a:rPr lang="fr-FR" dirty="0"/>
              <a:t>Tâches d’	administration</a:t>
            </a:r>
            <a:br>
              <a:rPr lang="fr-FR" dirty="0"/>
            </a:br>
            <a:r>
              <a:rPr lang="fr-FR" dirty="0"/>
              <a:t>Syslog</a:t>
            </a:r>
            <a:br>
              <a:rPr lang="fr-FR" dirty="0"/>
            </a:b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4299182" y="836362"/>
            <a:ext cx="4017664" cy="142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sz="7000" b="0" u="none">
                <a:solidFill>
                  <a:srgbClr val="D93E2B"/>
                </a:solidFill>
                <a:latin typeface="Bodoni"/>
                <a:ea typeface="Bodoni"/>
                <a:cs typeface="Bodoni"/>
                <a:sym typeface="Bodoni"/>
              </a:rPr>
              <a:t>Objectifs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954796" y="3170831"/>
            <a:ext cx="11411120" cy="417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375" rIns="0" bIns="0" anchor="t" anchorCtr="0">
            <a:spAutoFit/>
          </a:bodyPr>
          <a:lstStyle/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endParaRPr lang="fr-FR" sz="3600" b="0" u="none" strike="noStrike" cap="none" dirty="0">
              <a:solidFill>
                <a:srgbClr val="4141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r>
              <a:rPr lang="fr-FR" sz="3600" dirty="0">
                <a:solidFill>
                  <a:srgbClr val="414141"/>
                </a:solidFill>
                <a:latin typeface="Palatino"/>
                <a:ea typeface="Times New Roman"/>
                <a:cs typeface="Times New Roman"/>
                <a:sym typeface="Times New Roman"/>
              </a:rPr>
              <a:t>Manipuler les fichiers de configuration de journalisation</a:t>
            </a:r>
          </a:p>
          <a:p>
            <a:pPr marL="571500" marR="0" lvl="0" indent="-571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600"/>
              <a:buFont typeface="Wingdings" pitchFamily="2" charset="2"/>
              <a:buChar char="Ø"/>
            </a:pPr>
            <a:r>
              <a:rPr lang="fr-FR" sz="3600" dirty="0">
                <a:solidFill>
                  <a:srgbClr val="414141"/>
                </a:solidFill>
                <a:latin typeface="Palatino"/>
                <a:ea typeface="Times New Roman"/>
                <a:cs typeface="Times New Roman"/>
                <a:sym typeface="Times New Roman"/>
              </a:rPr>
              <a:t>Enregistrer l’historique des services dans des fichiers journaux .</a:t>
            </a:r>
            <a:endParaRPr lang="fr-FR" sz="3600" b="0" u="none" strike="noStrike" cap="none" dirty="0">
              <a:solidFill>
                <a:srgbClr val="414141"/>
              </a:solidFill>
              <a:latin typeface="Palatino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2205412" y="9243038"/>
            <a:ext cx="416842" cy="402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9138" marR="0" lvl="0" indent="0" algn="ctr" rtl="0">
              <a:lnSpc>
                <a:spcPct val="100646"/>
              </a:lnSpc>
              <a:spcBef>
                <a:spcPts val="0"/>
              </a:spcBef>
              <a:spcAft>
                <a:spcPts val="0"/>
              </a:spcAft>
              <a:buClr>
                <a:srgbClr val="414141"/>
              </a:buClr>
              <a:buSzPts val="3095"/>
              <a:buFont typeface="Arial"/>
              <a:buNone/>
            </a:pPr>
            <a:fld id="{00000000-1234-1234-1234-123412341234}" type="slidenum">
              <a:rPr lang="fr-FR" sz="3095" b="0" i="0" u="none" strike="noStrike" cap="none">
                <a:solidFill>
                  <a:srgbClr val="41414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3095" b="0" i="0" u="none" strike="noStrike" cap="none">
              <a:solidFill>
                <a:srgbClr val="4141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dirty="0"/>
              <a:t>Plan</a:t>
            </a: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1416676" y="2924375"/>
            <a:ext cx="9997913" cy="6496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Introduction : Concepts de Base</a:t>
            </a:r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endParaRPr lang="fr-FR" dirty="0"/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 err="1"/>
              <a:t>RSyslog</a:t>
            </a:r>
            <a:endParaRPr lang="fr-FR" dirty="0"/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lang="fr-FR" dirty="0"/>
          </a:p>
          <a:p>
            <a:pPr marL="571500" lvl="0" indent="-571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pitchFamily="2" charset="2"/>
              <a:buChar char="Ø"/>
            </a:pPr>
            <a:r>
              <a:rPr lang="fr-FR" dirty="0"/>
              <a:t>Rotation du log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6600"/>
              <a:buFont typeface="Bodoni"/>
              <a:buNone/>
            </a:pPr>
            <a:r>
              <a:rPr lang="fr-FR" sz="6600" dirty="0">
                <a:solidFill>
                  <a:srgbClr val="D93E2B"/>
                </a:solidFill>
                <a:latin typeface="Bodoni"/>
              </a:rPr>
              <a:t>Introduction : Concepts de Base</a:t>
            </a:r>
            <a:endParaRPr sz="66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317224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>
            <a:spLocks noGrp="1"/>
          </p:cNvSpPr>
          <p:nvPr>
            <p:ph type="title"/>
          </p:nvPr>
        </p:nvSpPr>
        <p:spPr>
          <a:xfrm>
            <a:off x="520341" y="826926"/>
            <a:ext cx="12280032" cy="12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3E2B"/>
              </a:buClr>
              <a:buSzPts val="7000"/>
              <a:buFont typeface="Bodoni"/>
              <a:buNone/>
            </a:pPr>
            <a:r>
              <a:rPr lang="fr-FR" dirty="0"/>
              <a:t>Syslog: Pour quoi faire </a:t>
            </a:r>
            <a:endParaRPr dirty="0"/>
          </a:p>
        </p:txBody>
      </p:sp>
      <p:sp>
        <p:nvSpPr>
          <p:cNvPr id="129" name="Google Shape;129;p7"/>
          <p:cNvSpPr txBox="1">
            <a:spLocks noGrp="1"/>
          </p:cNvSpPr>
          <p:nvPr>
            <p:ph type="body" idx="1"/>
          </p:nvPr>
        </p:nvSpPr>
        <p:spPr>
          <a:xfrm>
            <a:off x="520341" y="2237105"/>
            <a:ext cx="12280032" cy="4027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fr-FR" sz="2800" dirty="0">
                <a:solidFill>
                  <a:srgbClr val="FF0000"/>
                </a:solidFill>
              </a:rPr>
              <a:t>Les </a:t>
            </a:r>
            <a:r>
              <a:rPr lang="fr-FR" sz="2800" i="1" dirty="0">
                <a:solidFill>
                  <a:srgbClr val="FF0000"/>
                </a:solidFill>
              </a:rPr>
              <a:t>fichiers journaux</a:t>
            </a:r>
            <a:r>
              <a:rPr lang="fr-FR" sz="2800" dirty="0">
                <a:solidFill>
                  <a:srgbClr val="FF0000"/>
                </a:solidFill>
              </a:rPr>
              <a:t> </a:t>
            </a:r>
            <a:r>
              <a:rPr lang="fr-FR" sz="2800" dirty="0"/>
              <a:t>sont des fichiers qui contiennent des messages sur le système, y compris sur le noyau, les services, et les applications qui sont exécutées dessus.</a:t>
            </a:r>
          </a:p>
          <a:p>
            <a:pPr algn="just">
              <a:buFont typeface="Wingdings" pitchFamily="2" charset="2"/>
              <a:buChar char="Ø"/>
            </a:pPr>
            <a:r>
              <a:rPr lang="fr-FR" sz="2800" dirty="0" smtClean="0"/>
              <a:t>Il </a:t>
            </a:r>
            <a:r>
              <a:rPr lang="fr-FR" sz="2800" dirty="0"/>
              <a:t>existe plusieurs types de fichiers journaux permettant de stocker diverses informations. </a:t>
            </a:r>
          </a:p>
          <a:p>
            <a:pPr algn="just">
              <a:buFont typeface="Wingdings" pitchFamily="2" charset="2"/>
              <a:buChar char="Ø"/>
            </a:pPr>
            <a:r>
              <a:rPr lang="fr-FR" sz="2800" dirty="0"/>
              <a:t>Certains fichiers journaux sont contrôlés par un démon nommé </a:t>
            </a:r>
            <a:r>
              <a:rPr lang="fr-FR" sz="2800" dirty="0" err="1" smtClean="0">
                <a:solidFill>
                  <a:srgbClr val="FF0000"/>
                </a:solidFill>
              </a:rPr>
              <a:t>rsyslogd</a:t>
            </a:r>
            <a:endParaRPr lang="fr-FR" sz="2800" dirty="0"/>
          </a:p>
          <a:p>
            <a:pPr algn="just">
              <a:buFont typeface="Wingdings" pitchFamily="2" charset="2"/>
              <a:buChar char="Ø"/>
            </a:pPr>
            <a:endParaRPr lang="fr-FR" sz="2400" dirty="0">
              <a:latin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34F3C2C9-9016-0CCE-7113-99D73E5EF0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2" b="7560"/>
          <a:stretch/>
        </p:blipFill>
        <p:spPr bwMode="auto">
          <a:xfrm>
            <a:off x="2784067" y="5776907"/>
            <a:ext cx="7297193" cy="42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15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A047C0D4-5A70-CE24-C681-4A11E2B2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 principe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31F99C29-041F-9FA6-FA23-7A21C13F0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4482779"/>
            <a:ext cx="12280032" cy="208696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fr-FR" sz="2800" dirty="0" smtClean="0"/>
          </a:p>
          <a:p>
            <a:pPr algn="just">
              <a:buFont typeface="Wingdings" panose="05000000000000000000" pitchFamily="2" charset="2"/>
              <a:buChar char="Ø"/>
            </a:pPr>
            <a:endParaRPr lang="fr-FR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Par défaut, les </a:t>
            </a:r>
            <a:r>
              <a:rPr lang="fr-FR" sz="2800" dirty="0"/>
              <a:t>fichiers de log se trouvent dans /</a:t>
            </a:r>
            <a:r>
              <a:rPr lang="fr-FR" sz="2800" dirty="0" smtClean="0"/>
              <a:t>var/log</a:t>
            </a:r>
            <a:endParaRPr lang="fr-FR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Le fichier de configuration de </a:t>
            </a:r>
            <a:r>
              <a:rPr lang="fr-FR" sz="2800" dirty="0" err="1" smtClean="0"/>
              <a:t>syslog</a:t>
            </a:r>
            <a:r>
              <a:rPr lang="fr-FR" sz="2800" dirty="0" smtClean="0"/>
              <a:t> est dans </a:t>
            </a:r>
            <a:r>
              <a:rPr lang="fr-FR" sz="2800" dirty="0" smtClean="0">
                <a:solidFill>
                  <a:srgbClr val="FF0000"/>
                </a:solidFill>
              </a:rPr>
              <a:t>/</a:t>
            </a:r>
            <a:r>
              <a:rPr lang="fr-FR" sz="2800" dirty="0" err="1" smtClean="0">
                <a:solidFill>
                  <a:srgbClr val="FF0000"/>
                </a:solidFill>
              </a:rPr>
              <a:t>etc</a:t>
            </a:r>
            <a:r>
              <a:rPr lang="fr-FR" sz="2800" dirty="0" smtClean="0">
                <a:solidFill>
                  <a:srgbClr val="FF0000"/>
                </a:solidFill>
              </a:rPr>
              <a:t>/</a:t>
            </a:r>
            <a:r>
              <a:rPr lang="fr-FR" sz="2800" dirty="0" err="1" smtClean="0">
                <a:solidFill>
                  <a:srgbClr val="FF0000"/>
                </a:solidFill>
              </a:rPr>
              <a:t>rsyslog.conf</a:t>
            </a:r>
            <a:endParaRPr lang="fr-FR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Par </a:t>
            </a:r>
            <a:r>
              <a:rPr lang="fr-FR" sz="2800" dirty="0"/>
              <a:t>mesure de sécurité, il est d'usage de mettre le répertoire /var/log dans une partition propre (afin d'éviter qu'une saturation de ce répertoire n'entraîne un arrêt du système tout entier</a:t>
            </a:r>
            <a:r>
              <a:rPr lang="fr-FR" sz="2800" dirty="0" smtClean="0"/>
              <a:t>).</a:t>
            </a:r>
            <a:endParaRPr lang="fr-FR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Les </a:t>
            </a:r>
            <a:r>
              <a:rPr lang="fr-FR" sz="2800" dirty="0"/>
              <a:t>fichiers de log sont les suivants </a:t>
            </a:r>
            <a:r>
              <a:rPr lang="fr-FR" sz="2800" dirty="0" smtClean="0"/>
              <a:t>:</a:t>
            </a:r>
            <a:endParaRPr lang="fr-FR" sz="28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800" b="1" dirty="0" smtClean="0"/>
              <a:t>/</a:t>
            </a:r>
            <a:r>
              <a:rPr lang="fr-FR" sz="2800" b="1" dirty="0"/>
              <a:t>var/log/messages</a:t>
            </a:r>
            <a:r>
              <a:rPr lang="fr-FR" sz="2800" dirty="0"/>
              <a:t> est le fichier système qui récupère tout. On trouve aussi les messages des programmes qui utilisent </a:t>
            </a:r>
            <a:r>
              <a:rPr lang="fr-FR" sz="2800" dirty="0" err="1"/>
              <a:t>syslog</a:t>
            </a:r>
            <a:r>
              <a:rPr lang="fr-FR" sz="2800" dirty="0"/>
              <a:t>, à savoir par exemple </a:t>
            </a:r>
            <a:r>
              <a:rPr lang="fr-FR" sz="2800" dirty="0" err="1"/>
              <a:t>named</a:t>
            </a:r>
            <a:r>
              <a:rPr lang="fr-FR" sz="2800" dirty="0"/>
              <a:t>, </a:t>
            </a:r>
            <a:r>
              <a:rPr lang="fr-FR" sz="2800" dirty="0" err="1"/>
              <a:t>sendmail</a:t>
            </a:r>
            <a:r>
              <a:rPr lang="fr-FR" sz="2800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800" b="1" dirty="0" smtClean="0"/>
              <a:t>/</a:t>
            </a:r>
            <a:r>
              <a:rPr lang="fr-FR" sz="2800" b="1" dirty="0" smtClean="0"/>
              <a:t>var/log/</a:t>
            </a:r>
            <a:r>
              <a:rPr lang="fr-FR" sz="2800" b="1" dirty="0" err="1" smtClean="0"/>
              <a:t>secure</a:t>
            </a:r>
            <a:r>
              <a:rPr lang="fr-FR" sz="2800" dirty="0"/>
              <a:t> </a:t>
            </a:r>
            <a:r>
              <a:rPr lang="fr-FR" sz="2800" dirty="0" smtClean="0"/>
              <a:t>c</a:t>
            </a:r>
            <a:r>
              <a:rPr lang="fr-FR" sz="2800" dirty="0" smtClean="0"/>
              <a:t>ontient </a:t>
            </a:r>
            <a:r>
              <a:rPr lang="fr-FR" sz="2800" dirty="0"/>
              <a:t>les informations de connexions. Chaque login y est enregistré</a:t>
            </a:r>
            <a:r>
              <a:rPr lang="fr-FR" sz="2800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fr-FR" sz="2800" b="1" dirty="0" smtClean="0"/>
              <a:t>/</a:t>
            </a:r>
            <a:r>
              <a:rPr lang="fr-FR" sz="2800" b="1" dirty="0" smtClean="0"/>
              <a:t>var/log/</a:t>
            </a:r>
            <a:r>
              <a:rPr lang="fr-FR" sz="2800" b="1" dirty="0" err="1" smtClean="0"/>
              <a:t>maillog</a:t>
            </a:r>
            <a:r>
              <a:rPr lang="fr-FR" sz="2800" dirty="0"/>
              <a:t> </a:t>
            </a:r>
            <a:r>
              <a:rPr lang="fr-FR" sz="2800" dirty="0" smtClean="0"/>
              <a:t>c</a:t>
            </a:r>
            <a:r>
              <a:rPr lang="fr-FR" sz="2800" dirty="0" smtClean="0"/>
              <a:t>ontient </a:t>
            </a:r>
            <a:r>
              <a:rPr lang="fr-FR" sz="2800" dirty="0"/>
              <a:t>un enregistrement du trafic de courrier entrant et sortant.</a:t>
            </a:r>
            <a:br>
              <a:rPr lang="fr-FR" sz="2800" dirty="0"/>
            </a:b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979238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F663909C-A013-EC15-EE82-EF7CE1A4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300" dirty="0"/>
              <a:t>L'installation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B5FE864A-06F4-D5A2-8EE5-6942C670A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3300" dirty="0"/>
              <a:t>Par </a:t>
            </a:r>
            <a:r>
              <a:rPr lang="fr-FR" sz="3300" dirty="0" smtClean="0"/>
              <a:t>défaut, il </a:t>
            </a:r>
            <a:r>
              <a:rPr lang="fr-FR" sz="3300" dirty="0"/>
              <a:t>est installé avec la plupart des </a:t>
            </a:r>
            <a:r>
              <a:rPr lang="fr-FR" sz="3300" dirty="0" err="1" smtClean="0"/>
              <a:t>distributions.Sinon</a:t>
            </a:r>
            <a:r>
              <a:rPr lang="fr-FR" sz="3300" dirty="0" smtClean="0"/>
              <a:t>, il </a:t>
            </a:r>
            <a:r>
              <a:rPr lang="fr-FR" sz="3300" dirty="0"/>
              <a:t>faut l'installer </a:t>
            </a:r>
            <a:r>
              <a:rPr lang="fr-FR" sz="3300" dirty="0" smtClean="0"/>
              <a:t>:</a:t>
            </a:r>
          </a:p>
          <a:p>
            <a:pPr marL="160020" indent="0" algn="just" eaLnBrk="1" hangingPunct="1">
              <a:lnSpc>
                <a:spcPct val="120000"/>
              </a:lnSpc>
              <a:buNone/>
            </a:pPr>
            <a:r>
              <a:rPr lang="fr-FR" sz="3000" b="1" dirty="0"/>
              <a:t> </a:t>
            </a:r>
            <a:r>
              <a:rPr lang="fr-FR" sz="3000" b="1" dirty="0" smtClean="0"/>
              <a:t> #</a:t>
            </a:r>
            <a:r>
              <a:rPr lang="fr-FR" sz="3000" b="1" dirty="0"/>
              <a:t>apt-get </a:t>
            </a:r>
            <a:r>
              <a:rPr lang="fr-FR" sz="3000" b="1" dirty="0" err="1"/>
              <a:t>install</a:t>
            </a:r>
            <a:r>
              <a:rPr lang="fr-FR" sz="3000" b="1" dirty="0"/>
              <a:t> </a:t>
            </a:r>
            <a:r>
              <a:rPr lang="fr-FR" sz="3000" b="1" dirty="0" err="1"/>
              <a:t>rsyslog</a:t>
            </a:r>
            <a:endParaRPr lang="fr-FR" sz="3000" dirty="0"/>
          </a:p>
          <a:p>
            <a:pPr eaLnBrk="1" hangingPunct="1"/>
            <a:endParaRPr lang="fr-FR" sz="3600" dirty="0"/>
          </a:p>
          <a:p>
            <a:pPr eaLnBrk="1" hangingPunct="1"/>
            <a:endParaRPr lang="fr-FR" sz="3600" dirty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fr-FR" sz="3400" dirty="0" smtClean="0"/>
              <a:t>Normalement, il </a:t>
            </a:r>
            <a:r>
              <a:rPr lang="fr-FR" sz="3400" dirty="0"/>
              <a:t>est lancé au démarrage de la </a:t>
            </a:r>
            <a:r>
              <a:rPr lang="fr-FR" sz="3400" dirty="0" smtClean="0"/>
              <a:t>machine. Sinon, on peut le lancer </a:t>
            </a:r>
            <a:r>
              <a:rPr lang="fr-FR" sz="3400" dirty="0"/>
              <a:t>avec les </a:t>
            </a:r>
            <a:r>
              <a:rPr lang="fr-FR" sz="3400" dirty="0" smtClean="0"/>
              <a:t>commandes:</a:t>
            </a:r>
            <a:endParaRPr lang="fr-FR" sz="3400" dirty="0"/>
          </a:p>
          <a:p>
            <a:pPr eaLnBrk="1" hangingPunct="1">
              <a:buNone/>
            </a:pPr>
            <a:r>
              <a:rPr lang="fr-FR" sz="3600" dirty="0"/>
              <a:t>	</a:t>
            </a:r>
            <a:r>
              <a:rPr lang="fr-FR" sz="3000" b="1" dirty="0"/>
              <a:t>#systemctl enable </a:t>
            </a:r>
            <a:r>
              <a:rPr lang="fr-FR" sz="3000" b="1" dirty="0" err="1"/>
              <a:t>rsyslog</a:t>
            </a:r>
            <a:r>
              <a:rPr lang="fr-FR" sz="3000" b="1" dirty="0"/>
              <a:t> </a:t>
            </a:r>
          </a:p>
          <a:p>
            <a:pPr eaLnBrk="1" hangingPunct="1">
              <a:buNone/>
            </a:pPr>
            <a:r>
              <a:rPr lang="fr-FR" sz="3000" b="1" dirty="0"/>
              <a:t>	#systemctl start </a:t>
            </a:r>
            <a:r>
              <a:rPr lang="fr-FR" sz="3000" b="1" dirty="0" err="1"/>
              <a:t>rsyslog</a:t>
            </a:r>
            <a:endParaRPr lang="fr-FR" sz="3000" b="1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901AB50A-A3F6-5ADA-FB3C-ECB96B455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389" y="4695086"/>
            <a:ext cx="9065572" cy="108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04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/>
          <a:p>
            <a:pPr algn="ctr">
              <a:lnSpc>
                <a:spcPct val="90000"/>
              </a:lnSpc>
              <a:buClr>
                <a:srgbClr val="D93E2B"/>
              </a:buClr>
              <a:buSzPts val="6600"/>
            </a:pPr>
            <a:r>
              <a:rPr lang="fr-FR" sz="6300" dirty="0" err="1">
                <a:solidFill>
                  <a:srgbClr val="D93E2B"/>
                </a:solidFill>
                <a:latin typeface="Bodoni"/>
                <a:sym typeface="Bodoni"/>
              </a:rPr>
              <a:t>RSyslog</a:t>
            </a:r>
            <a:endParaRPr lang="fr-FR" sz="6300" dirty="0">
              <a:solidFill>
                <a:srgbClr val="D93E2B"/>
              </a:solidFill>
              <a:latin typeface="Bodoni"/>
              <a:sym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87375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 de Configuration</a:t>
            </a:r>
            <a:endParaRPr lang="fr-FR" sz="6600" dirty="0"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3631642"/>
            <a:ext cx="12117486" cy="53146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/>
              <a:t>La configuration de </a:t>
            </a:r>
            <a:r>
              <a:rPr lang="fr-FR" sz="2800" dirty="0" err="1"/>
              <a:t>syslog</a:t>
            </a:r>
            <a:r>
              <a:rPr lang="fr-FR" sz="2800" dirty="0"/>
              <a:t> se fait dans le fichier </a:t>
            </a:r>
            <a:r>
              <a:rPr lang="fr-FR" sz="2800" b="1" dirty="0"/>
              <a:t>/</a:t>
            </a:r>
            <a:r>
              <a:rPr lang="fr-FR" sz="2800" b="1" dirty="0" err="1" smtClean="0"/>
              <a:t>etc</a:t>
            </a:r>
            <a:r>
              <a:rPr lang="fr-FR" sz="2800" b="1" dirty="0" smtClean="0"/>
              <a:t>/</a:t>
            </a:r>
            <a:r>
              <a:rPr lang="fr-FR" sz="2800" b="1" dirty="0" err="1" smtClean="0"/>
              <a:t>rsyslog.conf</a:t>
            </a:r>
            <a:endParaRPr lang="fr-FR" sz="2800" b="1" dirty="0" smtClean="0"/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252525"/>
                </a:solidFill>
              </a:rPr>
              <a:t>On peut y spécifier</a:t>
            </a:r>
            <a:r>
              <a:rPr lang="fr-FR" sz="2800" dirty="0" smtClean="0">
                <a:solidFill>
                  <a:srgbClr val="252525"/>
                </a:solidFill>
              </a:rPr>
              <a:t>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252525"/>
                </a:solidFill>
              </a:rPr>
              <a:t>des</a:t>
            </a:r>
            <a:r>
              <a:rPr lang="fr-FR" sz="2800" dirty="0">
                <a:solidFill>
                  <a:srgbClr val="252525"/>
                </a:solidFill>
              </a:rPr>
              <a:t> </a:t>
            </a:r>
            <a:r>
              <a:rPr lang="fr-FR" sz="2800" i="1" dirty="0">
                <a:solidFill>
                  <a:srgbClr val="252525"/>
                </a:solidFill>
              </a:rPr>
              <a:t>directives globales</a:t>
            </a:r>
            <a:r>
              <a:rPr lang="fr-FR" sz="2800" dirty="0">
                <a:solidFill>
                  <a:srgbClr val="252525"/>
                </a:solidFill>
              </a:rPr>
              <a:t>, </a:t>
            </a:r>
            <a:endParaRPr lang="fr-FR" sz="2800" dirty="0" smtClean="0">
              <a:solidFill>
                <a:srgbClr val="252525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252525"/>
                </a:solidFill>
              </a:rPr>
              <a:t>des</a:t>
            </a:r>
            <a:r>
              <a:rPr lang="fr-FR" sz="2800" dirty="0">
                <a:solidFill>
                  <a:srgbClr val="252525"/>
                </a:solidFill>
              </a:rPr>
              <a:t> </a:t>
            </a:r>
            <a:r>
              <a:rPr lang="fr-FR" sz="2800" i="1" dirty="0">
                <a:solidFill>
                  <a:srgbClr val="252525"/>
                </a:solidFill>
              </a:rPr>
              <a:t>modules</a:t>
            </a:r>
            <a:r>
              <a:rPr lang="fr-FR" sz="2800" dirty="0">
                <a:solidFill>
                  <a:srgbClr val="252525"/>
                </a:solidFill>
              </a:rPr>
              <a:t>, </a:t>
            </a:r>
            <a:endParaRPr lang="fr-FR" sz="2800" dirty="0" smtClean="0">
              <a:solidFill>
                <a:srgbClr val="252525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252525"/>
                </a:solidFill>
              </a:rPr>
              <a:t>des</a:t>
            </a:r>
            <a:r>
              <a:rPr lang="fr-FR" sz="2800" dirty="0">
                <a:solidFill>
                  <a:srgbClr val="252525"/>
                </a:solidFill>
              </a:rPr>
              <a:t> </a:t>
            </a:r>
            <a:r>
              <a:rPr lang="fr-FR" sz="2800" i="1" dirty="0">
                <a:solidFill>
                  <a:srgbClr val="252525"/>
                </a:solidFill>
              </a:rPr>
              <a:t>règles</a:t>
            </a:r>
            <a:r>
              <a:rPr lang="fr-FR" sz="2800" dirty="0">
                <a:solidFill>
                  <a:srgbClr val="252525"/>
                </a:solidFill>
              </a:rPr>
              <a:t> </a:t>
            </a:r>
            <a:r>
              <a:rPr lang="fr-FR" sz="2800" dirty="0" smtClean="0">
                <a:solidFill>
                  <a:srgbClr val="252525"/>
                </a:solidFill>
              </a:rPr>
              <a:t>de filtrage et d’action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rgbClr val="252525"/>
                </a:solidFill>
              </a:rPr>
              <a:t>des </a:t>
            </a:r>
            <a:r>
              <a:rPr lang="fr-FR" sz="2800" dirty="0">
                <a:solidFill>
                  <a:srgbClr val="252525"/>
                </a:solidFill>
              </a:rPr>
              <a:t>commentaires sous la forme d'un texte suivant un caractère dièse (</a:t>
            </a:r>
            <a:r>
              <a:rPr lang="fr-FR" sz="2800" dirty="0">
                <a:solidFill>
                  <a:srgbClr val="000000"/>
                </a:solidFill>
              </a:rPr>
              <a:t>#</a:t>
            </a:r>
            <a:r>
              <a:rPr lang="fr-FR" sz="2800" dirty="0">
                <a:solidFill>
                  <a:srgbClr val="252525"/>
                </a:solidFill>
              </a:rPr>
              <a:t>).</a:t>
            </a:r>
            <a:r>
              <a:rPr lang="fr-FR" sz="28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500" b="1" dirty="0" smtClean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5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2082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 de Configuration</a:t>
            </a:r>
            <a:endParaRPr lang="fr-FR" sz="6600" dirty="0"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568" y="2087005"/>
            <a:ext cx="12117486" cy="79936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La </a:t>
            </a:r>
            <a:r>
              <a:rPr lang="fr-FR" sz="2800" dirty="0"/>
              <a:t>structure du fichier </a:t>
            </a:r>
            <a:r>
              <a:rPr lang="fr-FR" sz="2800" dirty="0" err="1"/>
              <a:t>rsyslog.conf</a:t>
            </a:r>
            <a:r>
              <a:rPr lang="fr-FR" sz="2800" dirty="0"/>
              <a:t>  est comme suit </a:t>
            </a:r>
            <a:r>
              <a:rPr lang="fr-FR" sz="2800" dirty="0" smtClean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dirty="0" smtClean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Le </a:t>
            </a:r>
            <a:r>
              <a:rPr lang="fr-FR" sz="2800" dirty="0"/>
              <a:t>premier champ indique la famille du log (mail, FTP, NTP, UUCP, kernel, etc.) il s’agit de catégories généralistes.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 smtClean="0"/>
              <a:t>Derrière </a:t>
            </a:r>
            <a:r>
              <a:rPr lang="fr-FR" sz="2400" dirty="0"/>
              <a:t>la catégorie « mail », un serveur </a:t>
            </a:r>
            <a:r>
              <a:rPr lang="fr-FR" sz="2400" dirty="0" err="1"/>
              <a:t>Postfix</a:t>
            </a:r>
            <a:r>
              <a:rPr lang="fr-FR" sz="2400" dirty="0"/>
              <a:t> ou </a:t>
            </a:r>
            <a:r>
              <a:rPr lang="fr-FR" sz="2400" dirty="0" err="1"/>
              <a:t>Qmail</a:t>
            </a:r>
            <a:r>
              <a:rPr lang="fr-FR" sz="2400" dirty="0"/>
              <a:t> peut se cacher. </a:t>
            </a:r>
            <a:endParaRPr lang="fr-FR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 smtClean="0"/>
              <a:t>La catégorie </a:t>
            </a:r>
            <a:r>
              <a:rPr lang="fr-FR" sz="2400" dirty="0" err="1" smtClean="0"/>
              <a:t>cron</a:t>
            </a:r>
            <a:r>
              <a:rPr lang="fr-FR" sz="2400" dirty="0" smtClean="0"/>
              <a:t> concerne les </a:t>
            </a:r>
            <a:r>
              <a:rPr lang="fr-FR" sz="2400" dirty="0"/>
              <a:t>services de planification de tâches, </a:t>
            </a:r>
            <a:r>
              <a:rPr lang="fr-FR" sz="2400" dirty="0" err="1"/>
              <a:t>cron</a:t>
            </a:r>
            <a:r>
              <a:rPr lang="fr-FR" sz="2400" dirty="0"/>
              <a:t> et </a:t>
            </a:r>
            <a:r>
              <a:rPr lang="fr-FR" sz="2400" dirty="0" err="1"/>
              <a:t>atd</a:t>
            </a:r>
            <a:r>
              <a:rPr lang="fr-FR" sz="2400" dirty="0"/>
              <a:t> 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Le </a:t>
            </a:r>
            <a:r>
              <a:rPr lang="fr-FR" sz="2800" dirty="0"/>
              <a:t>deuxième champ est une indication sur le niveau de criticité du log (</a:t>
            </a:r>
            <a:r>
              <a:rPr lang="fr-FR" sz="2800" dirty="0" smtClean="0"/>
              <a:t>alerte, </a:t>
            </a:r>
            <a:r>
              <a:rPr lang="fr-FR" sz="2800" dirty="0"/>
              <a:t>erreur, notice, </a:t>
            </a:r>
            <a:r>
              <a:rPr lang="fr-FR" sz="2800" dirty="0" err="1"/>
              <a:t>debug</a:t>
            </a:r>
            <a:r>
              <a:rPr lang="fr-FR" sz="2800" dirty="0"/>
              <a:t>, etc.). </a:t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CDC649E9-40D2-225D-6FF5-9BD30693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237" y="3018866"/>
            <a:ext cx="10182148" cy="632322"/>
          </a:xfrm>
          <a:prstGeom prst="rect">
            <a:avLst/>
          </a:prstGeom>
          <a:solidFill>
            <a:srgbClr val="DFC867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hangingPunct="0">
              <a:lnSpc>
                <a:spcPct val="97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r>
              <a:rPr lang="fr-FR" sz="2800" dirty="0"/>
              <a:t>« Service »  « niveau de gravité » 	«destination des logs »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69" y="3860769"/>
            <a:ext cx="12477043" cy="207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26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177DDC6C-9A53-6EAE-5081-A24E1B6D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Service </a:t>
            </a:r>
            <a:r>
              <a:rPr lang="fr-FR" dirty="0" smtClean="0"/>
              <a:t>(</a:t>
            </a:r>
            <a:r>
              <a:rPr lang="fr-FR" dirty="0" err="1" smtClean="0"/>
              <a:t>facilities</a:t>
            </a:r>
            <a:r>
              <a:rPr lang="fr-FR" dirty="0"/>
              <a:t>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D0A08FDC-3C1A-E48C-949D-1609BE2D4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0" y="2253020"/>
            <a:ext cx="12280032" cy="1936844"/>
          </a:xfrm>
        </p:spPr>
        <p:txBody>
          <a:bodyPr/>
          <a:lstStyle/>
          <a:p>
            <a:r>
              <a:rPr lang="fr-FR" sz="2500" dirty="0"/>
              <a:t>Les différentes catégories de service sont :</a:t>
            </a:r>
          </a:p>
          <a:p>
            <a:endParaRPr lang="fr-FR" sz="2500" dirty="0"/>
          </a:p>
          <a:p>
            <a:endParaRPr lang="fr-FR" dirty="0"/>
          </a:p>
        </p:txBody>
      </p:sp>
      <p:graphicFrame>
        <p:nvGraphicFramePr>
          <p:cNvPr id="4" name="Group 175">
            <a:extLst>
              <a:ext uri="{FF2B5EF4-FFF2-40B4-BE49-F238E27FC236}">
                <a16:creationId xmlns="" xmlns:a16="http://schemas.microsoft.com/office/drawing/2014/main" id="{ED9BE7E4-B309-C2B9-BB9D-16CEA49DA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277216"/>
              </p:ext>
            </p:extLst>
          </p:nvPr>
        </p:nvGraphicFramePr>
        <p:xfrm>
          <a:off x="1487606" y="3023735"/>
          <a:ext cx="10563368" cy="6662217"/>
        </p:xfrm>
        <a:graphic>
          <a:graphicData uri="http://schemas.openxmlformats.org/drawingml/2006/table">
            <a:tbl>
              <a:tblPr/>
              <a:tblGrid>
                <a:gridCol w="53013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6201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66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auth</a:t>
                      </a: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 ou </a:t>
                      </a: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security</a:t>
                      </a: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 ou </a:t>
                      </a: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authpriv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de sécurité et d'authentification.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cron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de crontab et de at</a:t>
                      </a:r>
                      <a:endParaRPr lang="fr-FR" sz="2500" b="0" i="0" u="none" strike="noStrike" cap="none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662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daemon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</a:t>
                      </a:r>
                      <a:r>
                        <a:rPr lang="fr-FR" sz="2500" b="0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systémes</a:t>
                      </a: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 générés par le daemon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ftp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du serveur ftp</a:t>
                      </a:r>
                      <a:endParaRPr lang="fr-FR" sz="2500" b="0" i="0" u="none" strike="noStrike" cap="none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kern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du noyau</a:t>
                      </a:r>
                      <a:endParaRPr lang="fr-FR" sz="2500" b="0" i="0" u="none" strike="noStrike" cap="none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lpr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du serveur d'impression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mail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du serveur de messagerie</a:t>
                      </a:r>
                      <a:endParaRPr lang="fr-FR" sz="2500" b="0" i="0" u="none" strike="noStrike" cap="none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news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du serveur de news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949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syslog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de </a:t>
                      </a:r>
                      <a:r>
                        <a:rPr lang="fr-FR" sz="2500" b="0" i="0" u="none" strike="noStrike" cap="none" dirty="0" err="1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syslog</a:t>
                      </a: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 lui-même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063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1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user</a:t>
                      </a:r>
                      <a:endParaRPr lang="fr-FR" sz="2500" b="1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fr-FR" sz="2500" b="0" i="0" u="none" strike="noStrike" cap="none" dirty="0">
                          <a:solidFill>
                            <a:srgbClr val="414141"/>
                          </a:solidFill>
                          <a:latin typeface="Palatino"/>
                          <a:cs typeface="Times New Roman" pitchFamily="18" charset="0"/>
                          <a:sym typeface="Palatino"/>
                        </a:rPr>
                        <a:t>Messages générés par le programme en cours d'un utilisateur</a:t>
                      </a:r>
                      <a:endParaRPr lang="fr-FR" sz="2500" b="0" i="0" u="none" strike="noStrike" cap="none" dirty="0">
                        <a:solidFill>
                          <a:srgbClr val="414141"/>
                        </a:solidFill>
                        <a:latin typeface="Palatino"/>
                        <a:cs typeface="Arial" charset="0"/>
                        <a:sym typeface="Palatino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3470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16C331C0-537F-875C-16A2-4CC5EED7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300" dirty="0"/>
              <a:t>niveau de gravité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87BEE5E0-0D2C-6BFE-690E-09C3326F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198429"/>
            <a:ext cx="12280032" cy="790432"/>
          </a:xfrm>
        </p:spPr>
        <p:txBody>
          <a:bodyPr/>
          <a:lstStyle/>
          <a:p>
            <a:r>
              <a:rPr lang="fr-FR" sz="2500" dirty="0" smtClean="0"/>
              <a:t>La </a:t>
            </a:r>
            <a:r>
              <a:rPr lang="fr-FR" sz="2500" dirty="0"/>
              <a:t>liste de sévérité du message , classée de la  moins grave à la plus grave.</a:t>
            </a:r>
          </a:p>
        </p:txBody>
      </p:sp>
      <p:graphicFrame>
        <p:nvGraphicFramePr>
          <p:cNvPr id="4" name="Group 370">
            <a:extLst>
              <a:ext uri="{FF2B5EF4-FFF2-40B4-BE49-F238E27FC236}">
                <a16:creationId xmlns="" xmlns:a16="http://schemas.microsoft.com/office/drawing/2014/main" id="{BC8CA3EF-0D10-D051-6A3B-91CA10CCC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951273"/>
              </p:ext>
            </p:extLst>
          </p:nvPr>
        </p:nvGraphicFramePr>
        <p:xfrm>
          <a:off x="2101684" y="3302760"/>
          <a:ext cx="9117344" cy="6256020"/>
        </p:xfrm>
        <a:graphic>
          <a:graphicData uri="http://schemas.openxmlformats.org/drawingml/2006/table">
            <a:tbl>
              <a:tblPr/>
              <a:tblGrid>
                <a:gridCol w="303911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3911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03911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7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debug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Messages de </a:t>
                      </a: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debogage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6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info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Messages d'information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5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notice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Messages un peu plus importants que les messages info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4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warning ou </a:t>
                      </a: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warn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Messages d'avertissement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3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err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Messages d'erreur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2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crit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Situation critique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1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alert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Situation critique n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Times New Roman" pitchFamily="18" charset="0"/>
                        </a:rPr>
                        <a:t>é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cessitant une intervention imm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Times New Roman" pitchFamily="18" charset="0"/>
                        </a:rPr>
                        <a:t>é</a:t>
                      </a:r>
                      <a:r>
                        <a:rPr kumimoji="0" lang="fr-FR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diate</a:t>
                      </a:r>
                      <a:endParaRPr kumimoji="0" lang="fr-F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31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Palatino"/>
                          <a:cs typeface="Times New Roman" pitchFamily="18" charset="0"/>
                        </a:rPr>
                        <a:t>0</a:t>
                      </a:r>
                      <a:endParaRPr kumimoji="0" lang="fr-FR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emerg</a:t>
                      </a: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ou panic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Syst</a:t>
                      </a: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/>
                          <a:cs typeface="Times New Roman" pitchFamily="18" charset="0"/>
                        </a:rPr>
                        <a:t>è</a:t>
                      </a:r>
                      <a:r>
                        <a:rPr kumimoji="0" lang="fr-F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 inutilisable</a:t>
                      </a:r>
                      <a:endParaRPr kumimoji="0" lang="fr-F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820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DDA9BFDD-CB7C-D0FB-B02A-EC8834B5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7200" dirty="0"/>
              <a:t>destination des logs 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3C8B7DE7-9373-1A10-ADB3-2B8FE4E58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1950921"/>
            <a:ext cx="12800372" cy="83299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400" dirty="0"/>
              <a:t>Chaque événement étant catégorisé et ayant une priorité peut être stocké sur différents </a:t>
            </a:r>
            <a:r>
              <a:rPr lang="fr-FR" sz="2400" dirty="0" smtClean="0"/>
              <a:t>supports.</a:t>
            </a:r>
            <a:endParaRPr lang="fr-FR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 smtClean="0"/>
              <a:t>Destination</a:t>
            </a:r>
            <a:r>
              <a:rPr lang="fr-FR" sz="2400" b="1" dirty="0"/>
              <a:t>: </a:t>
            </a:r>
            <a:r>
              <a:rPr lang="fr-FR" sz="2400" dirty="0"/>
              <a:t>peut prendre les valeurs suivantes : </a:t>
            </a:r>
          </a:p>
          <a:p>
            <a:pPr lvl="1">
              <a:buFont typeface="Arial" pitchFamily="34" charset="0"/>
              <a:buChar char="•"/>
            </a:pPr>
            <a:r>
              <a:rPr lang="fr-FR" sz="2400" i="1" dirty="0"/>
              <a:t>&lt;nom de fichier absolu&gt; : un fichier de log </a:t>
            </a:r>
            <a:endParaRPr lang="fr-FR" sz="2400" dirty="0"/>
          </a:p>
          <a:p>
            <a:pPr lvl="1">
              <a:buFont typeface="Arial" pitchFamily="34" charset="0"/>
              <a:buChar char="•"/>
            </a:pPr>
            <a:r>
              <a:rPr lang="fr-FR" sz="2400" i="1" dirty="0"/>
              <a:t>&lt;nom de console ou de </a:t>
            </a:r>
            <a:r>
              <a:rPr lang="fr-FR" sz="2400" i="1" dirty="0" err="1"/>
              <a:t>tty</a:t>
            </a:r>
            <a:r>
              <a:rPr lang="fr-FR" sz="2400" i="1" dirty="0"/>
              <a:t>&gt; : un terminal ou une console </a:t>
            </a:r>
          </a:p>
          <a:p>
            <a:pPr lvl="1">
              <a:buFont typeface="Arial" pitchFamily="34" charset="0"/>
              <a:buChar char="•"/>
            </a:pPr>
            <a:r>
              <a:rPr lang="fr-FR" sz="2400" i="1" dirty="0"/>
              <a:t>&lt;nom d’utilisateur(s)&gt; : des utilisateurs </a:t>
            </a:r>
          </a:p>
          <a:p>
            <a:pPr lvl="1">
              <a:buFont typeface="Arial" pitchFamily="34" charset="0"/>
              <a:buChar char="•"/>
            </a:pPr>
            <a:r>
              <a:rPr lang="fr-FR" sz="2400" dirty="0"/>
              <a:t>@</a:t>
            </a:r>
            <a:r>
              <a:rPr lang="fr-FR" sz="2400" i="1" dirty="0"/>
              <a:t>nom_de_machine : une machine serveur de log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400" b="1" dirty="0"/>
              <a:t>Exemples</a:t>
            </a:r>
          </a:p>
          <a:p>
            <a:pPr lvl="1">
              <a:buFont typeface="Arial" pitchFamily="34" charset="0"/>
              <a:buChar char="•"/>
            </a:pPr>
            <a:r>
              <a:rPr lang="fr-FR" sz="2400" i="1" dirty="0">
                <a:sym typeface="Helvetica Neue"/>
              </a:rPr>
              <a:t>Un fichier avec synchronisation des écritures : </a:t>
            </a:r>
            <a:r>
              <a:rPr lang="fr-FR" sz="2400" b="1" i="1" dirty="0">
                <a:sym typeface="Helvetica Neue"/>
              </a:rPr>
              <a:t>/var/log/journal.log</a:t>
            </a:r>
            <a:endParaRPr lang="fr-FR" sz="2400" b="1" i="1" dirty="0"/>
          </a:p>
          <a:p>
            <a:pPr lvl="1">
              <a:buFont typeface="Arial" pitchFamily="34" charset="0"/>
              <a:buChar char="•"/>
            </a:pPr>
            <a:r>
              <a:rPr lang="fr-FR" sz="2400" i="1" dirty="0">
                <a:sym typeface="Helvetica Neue"/>
              </a:rPr>
              <a:t>Un fichier sans synchronisation d'écriture : </a:t>
            </a:r>
            <a:r>
              <a:rPr lang="fr-FR" sz="2400" b="1" i="1" dirty="0">
                <a:sym typeface="Helvetica Neue"/>
              </a:rPr>
              <a:t>-/var/log/journal.log</a:t>
            </a:r>
            <a:endParaRPr lang="fr-FR" sz="2400" b="1" i="1" dirty="0"/>
          </a:p>
          <a:p>
            <a:pPr lvl="1">
              <a:buFont typeface="Arial" pitchFamily="34" charset="0"/>
              <a:buChar char="•"/>
            </a:pPr>
            <a:r>
              <a:rPr lang="fr-FR" sz="2400" i="1" dirty="0">
                <a:sym typeface="Helvetica Neue"/>
              </a:rPr>
              <a:t>Un périphérique (La 12ème console par exemple) :</a:t>
            </a:r>
            <a:r>
              <a:rPr lang="fr-FR" sz="2400" b="1" i="1" dirty="0">
                <a:sym typeface="Helvetica Neue"/>
              </a:rPr>
              <a:t> -/</a:t>
            </a:r>
            <a:r>
              <a:rPr lang="fr-FR" sz="2400" b="1" i="1" dirty="0" err="1">
                <a:sym typeface="Helvetica Neue"/>
              </a:rPr>
              <a:t>dev</a:t>
            </a:r>
            <a:r>
              <a:rPr lang="fr-FR" sz="2400" b="1" i="1" dirty="0">
                <a:sym typeface="Helvetica Neue"/>
              </a:rPr>
              <a:t>/tty12</a:t>
            </a:r>
            <a:endParaRPr lang="fr-FR" sz="2400" b="1" i="1" dirty="0"/>
          </a:p>
        </p:txBody>
      </p:sp>
    </p:spTree>
    <p:extLst>
      <p:ext uri="{BB962C8B-B14F-4D97-AF65-F5344CB8AC3E}">
        <p14:creationId xmlns:p14="http://schemas.microsoft.com/office/powerpoint/2010/main" val="4277622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4FC0001-0136-E8B4-3162-C8ADD29C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Formalisme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369F0720-7724-D859-D563-0EDD54FB8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2494617"/>
            <a:ext cx="12280032" cy="736358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FF0000"/>
                </a:solidFill>
              </a:rPr>
              <a:t>une étoile </a:t>
            </a:r>
            <a:r>
              <a:rPr lang="fr-FR" sz="2800" dirty="0"/>
              <a:t>* pour désigner toutes les valeurs possibles d’un champ.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FF0000"/>
                </a:solidFill>
              </a:rPr>
              <a:t>une virgule </a:t>
            </a:r>
            <a:r>
              <a:rPr lang="fr-FR" sz="2800" dirty="0"/>
              <a:t>, pour séparer 2 noms de services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rgbClr val="FF0000"/>
                </a:solidFill>
              </a:rPr>
              <a:t>un point virgule</a:t>
            </a:r>
            <a:r>
              <a:rPr lang="fr-FR" sz="2800" dirty="0"/>
              <a:t> ; pour assembler deux sélecteurs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/>
              <a:t>la priorité </a:t>
            </a:r>
            <a:r>
              <a:rPr lang="fr-FR" sz="2800" dirty="0">
                <a:solidFill>
                  <a:srgbClr val="FF0000"/>
                </a:solidFill>
              </a:rPr>
              <a:t>none</a:t>
            </a:r>
            <a:r>
              <a:rPr lang="fr-FR" sz="2800" dirty="0"/>
              <a:t> signifie qu'aucun message ne doit être loggé pour le service correspondant.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b="1" dirty="0"/>
              <a:t>Exemples</a:t>
            </a:r>
            <a:r>
              <a:rPr lang="fr-FR" sz="2800" dirty="0"/>
              <a:t>: </a:t>
            </a:r>
            <a:endParaRPr lang="fr-FR" sz="2800" dirty="0" smtClean="0"/>
          </a:p>
          <a:p>
            <a:pPr lvl="1"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 smtClean="0"/>
              <a:t>Écrire </a:t>
            </a:r>
            <a:r>
              <a:rPr lang="fr-FR" sz="2800" dirty="0"/>
              <a:t>les logs d'erreur des services de mail et de news en différé dans /var/log/test.log </a:t>
            </a:r>
            <a:r>
              <a:rPr lang="fr-FR" sz="2800" dirty="0" smtClean="0"/>
              <a:t>: </a:t>
            </a:r>
            <a:r>
              <a:rPr lang="fr-FR" sz="2800" b="1" dirty="0" err="1" smtClean="0">
                <a:solidFill>
                  <a:srgbClr val="FF0000"/>
                </a:solidFill>
                <a:cs typeface="Courier New" panose="02070309020205020404" pitchFamily="49" charset="0"/>
              </a:rPr>
              <a:t>mail,news.err</a:t>
            </a: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   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/</a:t>
            </a: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var/log/test.log</a:t>
            </a:r>
          </a:p>
          <a:p>
            <a:pPr lvl="1" algn="just"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 smtClean="0"/>
              <a:t>Abandonner les messages </a:t>
            </a:r>
            <a:r>
              <a:rPr lang="fr-FR" sz="2800" dirty="0" err="1"/>
              <a:t>syslog</a:t>
            </a:r>
            <a:r>
              <a:rPr lang="fr-FR" sz="2800" dirty="0"/>
              <a:t> de </a:t>
            </a:r>
            <a:r>
              <a:rPr lang="fr-FR" sz="2800" dirty="0" err="1" smtClean="0"/>
              <a:t>cron</a:t>
            </a:r>
            <a:r>
              <a:rPr lang="fr-FR" sz="2800" dirty="0" smtClean="0">
                <a:solidFill>
                  <a:schemeClr val="tx1"/>
                </a:solidFill>
              </a:rPr>
              <a:t>: </a:t>
            </a: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cron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.* ~ </a:t>
            </a:r>
            <a:endParaRPr lang="fr-FR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842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9782F7FE-1D1E-B21D-E800-93AD2FC97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FF1CE23E-5BE0-D7D9-D188-70F392830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/>
              <a:t>Log tous les messages du noyau vers le fichier /var/log/kernel</a:t>
            </a:r>
          </a:p>
          <a:p>
            <a:pPr marL="160020" lvl="5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		kern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.* /var/log/kernel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/>
              <a:t>Log tous les messages dans le fichier /var/log/messages à partir du niveau info, sauf les messages du mail, que l'on place dans un autre fichier et les messages </a:t>
            </a:r>
            <a:r>
              <a:rPr lang="fr-FR" sz="2800" dirty="0" err="1"/>
              <a:t>authpriv</a:t>
            </a:r>
            <a:endParaRPr lang="fr-FR" sz="2800" dirty="0"/>
          </a:p>
          <a:p>
            <a:pPr marL="160020" lvl="5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		*.</a:t>
            </a:r>
            <a:r>
              <a:rPr lang="fr-FR" sz="28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info;mail.none;authpriv.none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  /var/log/messages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800" dirty="0" smtClean="0"/>
              <a:t>Placer les </a:t>
            </a:r>
            <a:r>
              <a:rPr lang="fr-FR" sz="2800" dirty="0"/>
              <a:t>messages </a:t>
            </a:r>
            <a:r>
              <a:rPr lang="fr-FR" sz="2800" dirty="0" err="1"/>
              <a:t>authpriv</a:t>
            </a:r>
            <a:r>
              <a:rPr lang="fr-FR" sz="2800" dirty="0"/>
              <a:t> qui donne les connexions infructueuses, les connexions avec la commande su.</a:t>
            </a:r>
          </a:p>
          <a:p>
            <a:pPr marL="160020" lvl="5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		authpriv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.* /var/log/</a:t>
            </a:r>
            <a:r>
              <a:rPr lang="fr-FR" sz="2800" b="1" dirty="0" err="1">
                <a:solidFill>
                  <a:srgbClr val="FF0000"/>
                </a:solidFill>
                <a:cs typeface="Courier New" panose="02070309020205020404" pitchFamily="49" charset="0"/>
              </a:rPr>
              <a:t>auth</a:t>
            </a:r>
            <a:endParaRPr lang="fr-FR" sz="2800" b="1" dirty="0">
              <a:solidFill>
                <a:srgbClr val="FF0000"/>
              </a:solidFill>
              <a:cs typeface="Courier New" panose="02070309020205020404" pitchFamily="49" charset="0"/>
            </a:endParaRPr>
          </a:p>
          <a:p>
            <a:pPr marL="160020" lvl="5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fr-FR" sz="2800" b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		auth,authpriv</a:t>
            </a:r>
            <a:r>
              <a:rPr lang="fr-FR" sz="2800" b="1" dirty="0">
                <a:solidFill>
                  <a:srgbClr val="FF0000"/>
                </a:solidFill>
                <a:cs typeface="Courier New" panose="02070309020205020404" pitchFamily="49" charset="0"/>
              </a:rPr>
              <a:t>.* /var/log/auth.log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fr-FR" sz="28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9615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FCCC0A6E-08DF-7A5B-A57C-A2B41A68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Exemples 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8720C41A-8BA0-8800-EEAB-503AF7FA2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3082803"/>
            <a:ext cx="12627248" cy="630039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3200" dirty="0">
                <a:solidFill>
                  <a:schemeClr val="bg2">
                    <a:lumMod val="50000"/>
                  </a:schemeClr>
                </a:solidFill>
              </a:rPr>
              <a:t>Log tous les messages de mail et les place dans le fichier </a:t>
            </a:r>
            <a:r>
              <a:rPr lang="fr-FR" sz="3200" dirty="0" err="1">
                <a:solidFill>
                  <a:schemeClr val="bg2">
                    <a:lumMod val="50000"/>
                  </a:schemeClr>
                </a:solidFill>
              </a:rPr>
              <a:t>maillog</a:t>
            </a:r>
            <a:r>
              <a:rPr lang="fr-FR" sz="3200" dirty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60020" indent="0">
              <a:buNone/>
            </a:pPr>
            <a:r>
              <a:rPr lang="fr-FR" sz="3200" dirty="0" smtClean="0">
                <a:solidFill>
                  <a:srgbClr val="FF0000"/>
                </a:solidFill>
              </a:rPr>
              <a:t>		mail</a:t>
            </a:r>
            <a:r>
              <a:rPr lang="fr-FR" sz="3200" dirty="0">
                <a:solidFill>
                  <a:srgbClr val="FF0000"/>
                </a:solidFill>
              </a:rPr>
              <a:t>.*  /var/log/</a:t>
            </a:r>
            <a:r>
              <a:rPr lang="fr-FR" sz="3200" dirty="0" err="1">
                <a:solidFill>
                  <a:srgbClr val="FF0000"/>
                </a:solidFill>
              </a:rPr>
              <a:t>maillog</a:t>
            </a:r>
            <a:endParaRPr lang="fr-FR" sz="32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Log tous les messages d'urgence rendant le système instable dans le fichiers /var/log/</a:t>
            </a:r>
            <a:r>
              <a:rPr lang="fr-FR" sz="3200" dirty="0" err="1"/>
              <a:t>secure</a:t>
            </a:r>
            <a:r>
              <a:rPr lang="fr-FR" sz="3200" dirty="0"/>
              <a:t>.</a:t>
            </a:r>
          </a:p>
          <a:p>
            <a:pPr marL="160020" indent="0">
              <a:buNone/>
            </a:pPr>
            <a:r>
              <a:rPr lang="fr-FR" sz="3200" dirty="0" smtClean="0">
                <a:solidFill>
                  <a:srgbClr val="FF0000"/>
                </a:solidFill>
              </a:rPr>
              <a:t>		*.</a:t>
            </a:r>
            <a:r>
              <a:rPr lang="fr-FR" sz="3200" dirty="0" err="1">
                <a:solidFill>
                  <a:srgbClr val="FF0000"/>
                </a:solidFill>
              </a:rPr>
              <a:t>emerg</a:t>
            </a:r>
            <a:r>
              <a:rPr lang="fr-FR" sz="3200" dirty="0">
                <a:solidFill>
                  <a:srgbClr val="FF0000"/>
                </a:solidFill>
              </a:rPr>
              <a:t> /var/log/</a:t>
            </a:r>
            <a:r>
              <a:rPr lang="fr-FR" sz="3200" dirty="0" err="1">
                <a:solidFill>
                  <a:srgbClr val="FF0000"/>
                </a:solidFill>
              </a:rPr>
              <a:t>secure</a:t>
            </a:r>
            <a:endParaRPr lang="fr-FR" sz="3200" dirty="0">
              <a:solidFill>
                <a:srgbClr val="FF0000"/>
              </a:solidFill>
            </a:endParaRPr>
          </a:p>
          <a:p>
            <a:pPr marL="160020" indent="0">
              <a:buNone/>
            </a:pPr>
            <a:r>
              <a:rPr lang="fr-FR" sz="3200" b="1" u="sng" dirty="0" smtClean="0">
                <a:solidFill>
                  <a:srgbClr val="FF0000"/>
                </a:solidFill>
              </a:rPr>
              <a:t>Remarque</a:t>
            </a:r>
            <a:r>
              <a:rPr lang="fr-FR" sz="3200" b="1" u="sng" dirty="0">
                <a:solidFill>
                  <a:srgbClr val="FF0000"/>
                </a:solidFill>
              </a:rPr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3200" dirty="0" smtClean="0">
                <a:solidFill>
                  <a:schemeClr val="bg1"/>
                </a:solidFill>
              </a:rPr>
              <a:t>Si on indique un </a:t>
            </a:r>
            <a:r>
              <a:rPr lang="fr-FR" sz="3200" dirty="0">
                <a:solidFill>
                  <a:schemeClr val="bg1"/>
                </a:solidFill>
              </a:rPr>
              <a:t>fichier qui n'existe pas, </a:t>
            </a:r>
            <a:r>
              <a:rPr lang="fr-FR" sz="3200" dirty="0" err="1">
                <a:solidFill>
                  <a:schemeClr val="bg1"/>
                </a:solidFill>
              </a:rPr>
              <a:t>syslog</a:t>
            </a:r>
            <a:r>
              <a:rPr lang="fr-FR" sz="3200" dirty="0">
                <a:solidFill>
                  <a:schemeClr val="bg1"/>
                </a:solidFill>
              </a:rPr>
              <a:t> ne sera pas en mesure de le créer. </a:t>
            </a:r>
            <a:r>
              <a:rPr lang="fr-FR" sz="3200" dirty="0" smtClean="0">
                <a:solidFill>
                  <a:schemeClr val="bg1"/>
                </a:solidFill>
              </a:rPr>
              <a:t>Faire un </a:t>
            </a:r>
            <a:r>
              <a:rPr lang="fr-FR" sz="3200" dirty="0" err="1">
                <a:solidFill>
                  <a:schemeClr val="bg1"/>
                </a:solidFill>
              </a:rPr>
              <a:t>touch</a:t>
            </a:r>
            <a:r>
              <a:rPr lang="fr-FR" sz="3200" dirty="0">
                <a:solidFill>
                  <a:schemeClr val="bg1"/>
                </a:solidFill>
              </a:rPr>
              <a:t> /var/log/</a:t>
            </a:r>
            <a:r>
              <a:rPr lang="fr-FR" sz="3200" dirty="0" err="1">
                <a:solidFill>
                  <a:schemeClr val="bg1"/>
                </a:solidFill>
              </a:rPr>
              <a:t>mon_fichier</a:t>
            </a:r>
            <a:r>
              <a:rPr lang="fr-FR" sz="3200" dirty="0">
                <a:solidFill>
                  <a:schemeClr val="bg1"/>
                </a:solidFill>
              </a:rPr>
              <a:t> pour créer le fichier avant.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3200" dirty="0" smtClean="0">
                <a:solidFill>
                  <a:schemeClr val="bg1"/>
                </a:solidFill>
              </a:rPr>
              <a:t>N'hésiter pas </a:t>
            </a:r>
            <a:r>
              <a:rPr lang="fr-FR" sz="3200" dirty="0">
                <a:solidFill>
                  <a:schemeClr val="bg1"/>
                </a:solidFill>
              </a:rPr>
              <a:t>à utiliser plusieurs fichiers pour bien isoler les messages importants des messages normaux.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2904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D59DE5C-5D3A-6803-45F7-203ED62A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300" dirty="0"/>
              <a:t>Tester votre configuration 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C85469AB-9F3B-5CB9-6581-7656EEF9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0" y="2692329"/>
            <a:ext cx="12602535" cy="7363582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Une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fois le fichier </a:t>
            </a:r>
            <a:r>
              <a:rPr lang="fr-FR" sz="2800" dirty="0" err="1">
                <a:solidFill>
                  <a:schemeClr val="bg2">
                    <a:lumMod val="50000"/>
                  </a:schemeClr>
                </a:solidFill>
              </a:rPr>
              <a:t>syslog.conf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est configuré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on peut le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tester 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en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utilisant la commande </a:t>
            </a:r>
            <a:r>
              <a:rPr lang="fr-FR" sz="2800" b="1" dirty="0">
                <a:solidFill>
                  <a:srgbClr val="0070C0"/>
                </a:solidFill>
              </a:rPr>
              <a:t>logger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. </a:t>
            </a:r>
            <a:endParaRPr lang="fr-FR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b="1" dirty="0" err="1" smtClean="0">
                <a:solidFill>
                  <a:schemeClr val="hlink"/>
                </a:solidFill>
              </a:rPr>
              <a:t>Logger</a:t>
            </a:r>
            <a:r>
              <a:rPr lang="fr-FR" sz="2800" b="1" dirty="0" smtClean="0"/>
              <a:t> </a:t>
            </a:r>
            <a:r>
              <a:rPr lang="fr-FR" sz="2800" dirty="0"/>
              <a:t>est un utilitaire fourni avec </a:t>
            </a:r>
            <a:r>
              <a:rPr lang="fr-FR" sz="2800" dirty="0" err="1"/>
              <a:t>syslog</a:t>
            </a:r>
            <a:r>
              <a:rPr lang="fr-FR" sz="2800" dirty="0"/>
              <a:t>, </a:t>
            </a:r>
            <a:r>
              <a:rPr lang="fr-FR" sz="2800" dirty="0" smtClean="0"/>
              <a:t>qui permet </a:t>
            </a:r>
            <a:r>
              <a:rPr lang="fr-FR" sz="2800" dirty="0"/>
              <a:t>d'envoyer des messages directement à </a:t>
            </a:r>
            <a:r>
              <a:rPr lang="fr-FR" sz="2800" dirty="0" err="1" smtClean="0"/>
              <a:t>syslog</a:t>
            </a:r>
            <a:r>
              <a:rPr lang="fr-FR" sz="2800" dirty="0" smtClean="0"/>
              <a:t>.</a:t>
            </a:r>
            <a:endParaRPr lang="fr-FR" sz="2800" dirty="0"/>
          </a:p>
          <a:p>
            <a:pPr marL="160020" indent="0" algn="ctr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800" b="1" dirty="0" err="1" smtClean="0">
                <a:solidFill>
                  <a:srgbClr val="FF0000"/>
                </a:solidFill>
              </a:rPr>
              <a:t>logger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>
                <a:solidFill>
                  <a:srgbClr val="FF0000"/>
                </a:solidFill>
              </a:rPr>
              <a:t>-p ftp.info "Message pour </a:t>
            </a:r>
            <a:r>
              <a:rPr lang="fr-FR" sz="2800" b="1" dirty="0" smtClean="0">
                <a:solidFill>
                  <a:srgbClr val="FF0000"/>
                </a:solidFill>
              </a:rPr>
              <a:t>voir"</a:t>
            </a:r>
            <a:endParaRPr lang="fr-FR" sz="2800" b="1" dirty="0"/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L'option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-p permet d'indiquer les paramètres des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logs. Par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défaut </a:t>
            </a:r>
            <a:r>
              <a:rPr lang="fr-FR" sz="2800" b="1" dirty="0" err="1" smtClean="0">
                <a:solidFill>
                  <a:srgbClr val="FF0000"/>
                </a:solidFill>
              </a:rPr>
              <a:t>user.notice</a:t>
            </a:r>
            <a:endParaRPr lang="fr-FR" sz="2800" b="1" dirty="0">
              <a:solidFill>
                <a:srgbClr val="FF0000"/>
              </a:solidFill>
            </a:endParaRP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Pour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afficher le message envoyé par logger, on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utilise:</a:t>
            </a:r>
            <a:endParaRPr lang="fr-FR" sz="2800" dirty="0"/>
          </a:p>
          <a:p>
            <a:pPr marL="160020" indent="0" algn="ctr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fr-FR" sz="2800" b="1" dirty="0" err="1" smtClean="0">
                <a:solidFill>
                  <a:srgbClr val="FF0000"/>
                </a:solidFill>
              </a:rPr>
              <a:t>tail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>
                <a:solidFill>
                  <a:srgbClr val="FF0000"/>
                </a:solidFill>
              </a:rPr>
              <a:t>–f /var/log/messages</a:t>
            </a:r>
            <a:r>
              <a:rPr lang="fr-FR" sz="2800" dirty="0">
                <a:solidFill>
                  <a:srgbClr val="FF0000"/>
                </a:solidFill>
              </a:rPr>
              <a:t>  </a:t>
            </a:r>
          </a:p>
          <a:p>
            <a:pPr algn="just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</a:pPr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609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/>
        </p:nvSpPr>
        <p:spPr>
          <a:xfrm>
            <a:off x="1044951" y="4570420"/>
            <a:ext cx="11230809" cy="19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 lnSpcReduction="10000"/>
          </a:bodyPr>
          <a:lstStyle/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</a:pPr>
            <a:r>
              <a:rPr lang="fr-FR" sz="6300" dirty="0">
                <a:solidFill>
                  <a:srgbClr val="D93E2B"/>
                </a:solidFill>
                <a:latin typeface="Bodoni"/>
              </a:rPr>
              <a:t>Rotation du </a:t>
            </a:r>
            <a:r>
              <a:rPr lang="fr-FR" sz="6300" dirty="0" smtClean="0">
                <a:solidFill>
                  <a:srgbClr val="D93E2B"/>
                </a:solidFill>
                <a:latin typeface="Bodoni"/>
              </a:rPr>
              <a:t>log</a:t>
            </a:r>
          </a:p>
          <a:p>
            <a: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000"/>
            </a:pPr>
            <a:r>
              <a:rPr lang="fr-FR" sz="6300" dirty="0" smtClean="0">
                <a:solidFill>
                  <a:srgbClr val="D93E2B"/>
                </a:solidFill>
                <a:latin typeface="Bodoni"/>
              </a:rPr>
              <a:t>« </a:t>
            </a:r>
            <a:r>
              <a:rPr lang="fr-FR" sz="6300" dirty="0" err="1" smtClean="0">
                <a:solidFill>
                  <a:srgbClr val="D93E2B"/>
                </a:solidFill>
                <a:latin typeface="Bodoni"/>
              </a:rPr>
              <a:t>Logrotate</a:t>
            </a:r>
            <a:r>
              <a:rPr lang="fr-FR" sz="6300" dirty="0" smtClean="0">
                <a:solidFill>
                  <a:srgbClr val="D93E2B"/>
                </a:solidFill>
                <a:latin typeface="Bodoni"/>
              </a:rPr>
              <a:t> » </a:t>
            </a:r>
            <a:endParaRPr lang="fr-FR" sz="6300" dirty="0">
              <a:solidFill>
                <a:srgbClr val="D93E2B"/>
              </a:solidFill>
              <a:latin typeface="Bodoni"/>
            </a:endParaRPr>
          </a:p>
        </p:txBody>
      </p:sp>
    </p:spTree>
    <p:extLst>
      <p:ext uri="{BB962C8B-B14F-4D97-AF65-F5344CB8AC3E}">
        <p14:creationId xmlns:p14="http://schemas.microsoft.com/office/powerpoint/2010/main" val="545068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D59DE5C-5D3A-6803-45F7-203ED62A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300" dirty="0" err="1"/>
              <a:t>Logrotate</a:t>
            </a:r>
            <a:endParaRPr lang="fr-FR" sz="63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C85469AB-9F3B-5CB9-6581-7656EEF9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1" y="4597119"/>
            <a:ext cx="12280032" cy="421602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chemeClr val="bg2">
                    <a:lumMod val="50000"/>
                  </a:schemeClr>
                </a:solidFill>
              </a:rPr>
              <a:t>Logrotate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 est un utilitaire système 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qui permet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la rotation, la compression, la suppression et l’envoi automatiques de fichiers journaux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 smtClean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Si </a:t>
            </a:r>
            <a:r>
              <a:rPr lang="fr-FR" sz="2800" dirty="0">
                <a:solidFill>
                  <a:schemeClr val="bg2">
                    <a:lumMod val="50000"/>
                  </a:schemeClr>
                </a:solidFill>
              </a:rPr>
              <a:t>les fichiers journaux n'étaient pas alternés, compressés et élagués périodiquement, ils pourraient finir par consommer tout l'espace disque disponible sur un système</a:t>
            </a:r>
            <a:r>
              <a:rPr lang="fr-FR" sz="28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sz="2800" dirty="0"/>
              <a:t>Par défaut, </a:t>
            </a:r>
            <a:r>
              <a:rPr lang="fr-FR" sz="2800" dirty="0" err="1"/>
              <a:t>logrotate</a:t>
            </a:r>
            <a:r>
              <a:rPr lang="fr-FR" sz="2800" dirty="0"/>
              <a:t> est exécuté en tant que tâche </a:t>
            </a:r>
            <a:r>
              <a:rPr lang="fr-FR" sz="2800" dirty="0" smtClean="0"/>
              <a:t>journalière avec </a:t>
            </a:r>
            <a:r>
              <a:rPr lang="fr-FR" sz="2800" dirty="0" err="1" smtClean="0"/>
              <a:t>cron</a:t>
            </a:r>
            <a:r>
              <a:rPr lang="fr-FR" sz="2800" dirty="0" smtClean="0"/>
              <a:t>. </a:t>
            </a:r>
            <a:endParaRPr lang="fr-FR" sz="2800" dirty="0">
              <a:solidFill>
                <a:schemeClr val="bg2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 smtClean="0">
              <a:solidFill>
                <a:schemeClr val="bg2">
                  <a:lumMod val="50000"/>
                </a:schemeClr>
              </a:solidFill>
              <a:latin typeface="+mn-lt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fr-FR" sz="2800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806" y="3541162"/>
            <a:ext cx="10429102" cy="316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12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6D59DE5C-5D3A-6803-45F7-203ED62A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300" dirty="0" err="1"/>
              <a:t>Logrotate</a:t>
            </a:r>
            <a:endParaRPr lang="fr-FR" sz="63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68" y="2499099"/>
            <a:ext cx="12423093" cy="734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6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Fichiers de Configuration</a:t>
            </a:r>
            <a:endParaRPr lang="fr-FR" sz="6600" dirty="0"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46" y="2421923"/>
            <a:ext cx="12949267" cy="42259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dirty="0"/>
              <a:t>Les informations de configuration de </a:t>
            </a:r>
            <a:r>
              <a:rPr lang="fr-FR" sz="2800" dirty="0" err="1"/>
              <a:t>Logrotate</a:t>
            </a:r>
            <a:r>
              <a:rPr lang="fr-FR" sz="2800" dirty="0"/>
              <a:t> peuvent généralement être trouvées à deux endroits sur Ubuntu </a:t>
            </a:r>
            <a:r>
              <a:rPr lang="fr-FR" sz="2800" dirty="0" smtClean="0"/>
              <a:t>:</a:t>
            </a:r>
          </a:p>
          <a:p>
            <a:pPr marL="160020" indent="0">
              <a:lnSpc>
                <a:spcPct val="150000"/>
              </a:lnSpc>
              <a:spcBef>
                <a:spcPts val="0"/>
              </a:spcBef>
              <a:buNone/>
              <a:tabLst>
                <a:tab pos="1976438" algn="l"/>
              </a:tabLst>
            </a:pPr>
            <a:r>
              <a:rPr lang="fr-FR" sz="2800" b="1" dirty="0" smtClean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etc</a:t>
            </a: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logrotate.conf</a:t>
            </a:r>
            <a:r>
              <a:rPr lang="fr-FR" sz="2800" b="1" dirty="0">
                <a:solidFill>
                  <a:srgbClr val="0070C0"/>
                </a:solidFill>
              </a:rPr>
              <a:t>: </a:t>
            </a:r>
            <a:r>
              <a:rPr lang="fr-FR" sz="2800" dirty="0" smtClean="0"/>
              <a:t>contient </a:t>
            </a:r>
            <a:r>
              <a:rPr lang="fr-FR" sz="2800" dirty="0"/>
              <a:t>quelques paramètres par défaut et met en place la </a:t>
            </a:r>
            <a:r>
              <a:rPr lang="fr-FR" sz="2800" dirty="0" smtClean="0"/>
              <a:t>rotation </a:t>
            </a:r>
            <a:r>
              <a:rPr lang="fr-FR" sz="2800" dirty="0"/>
              <a:t>de quelques journaux qui n'appartiennent à aucun paquet système. </a:t>
            </a:r>
            <a:r>
              <a:rPr lang="fr-FR" sz="2800" b="1" dirty="0" smtClean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etc</a:t>
            </a:r>
            <a:r>
              <a:rPr lang="fr-FR" sz="2800" b="1" dirty="0">
                <a:solidFill>
                  <a:srgbClr val="0070C0"/>
                </a:solidFill>
              </a:rPr>
              <a:t>/</a:t>
            </a:r>
            <a:r>
              <a:rPr lang="fr-FR" sz="2800" b="1" dirty="0" err="1">
                <a:solidFill>
                  <a:srgbClr val="0070C0"/>
                </a:solidFill>
              </a:rPr>
              <a:t>logrotate.d</a:t>
            </a:r>
            <a:r>
              <a:rPr lang="fr-FR" sz="2800" b="1" dirty="0">
                <a:solidFill>
                  <a:srgbClr val="0070C0"/>
                </a:solidFill>
              </a:rPr>
              <a:t>/: </a:t>
            </a:r>
            <a:r>
              <a:rPr lang="fr-FR" sz="2800" dirty="0"/>
              <a:t>c'est ici que les paquets </a:t>
            </a:r>
            <a:r>
              <a:rPr lang="fr-FR" sz="2800" dirty="0" smtClean="0"/>
              <a:t>installés et </a:t>
            </a:r>
            <a:r>
              <a:rPr lang="fr-FR" sz="2800" dirty="0"/>
              <a:t>qui ont besoin d'aide pour la rotation des journaux placeront leur configuration </a:t>
            </a:r>
            <a:r>
              <a:rPr lang="fr-FR" sz="2800" dirty="0" err="1"/>
              <a:t>Logrotate</a:t>
            </a:r>
            <a:r>
              <a:rPr lang="fr-FR" sz="2800" dirty="0"/>
              <a:t>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7385"/>
          <a:stretch/>
        </p:blipFill>
        <p:spPr>
          <a:xfrm>
            <a:off x="960448" y="6796216"/>
            <a:ext cx="11839925" cy="217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895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Fichiers de Configuration</a:t>
            </a:r>
            <a:endParaRPr lang="fr-FR" sz="6600" dirty="0">
              <a:cs typeface="Arial"/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12" y="2355930"/>
            <a:ext cx="8923208" cy="76505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22712" y="3749604"/>
            <a:ext cx="7675450" cy="476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+mn-lt"/>
              </a:rPr>
              <a:t>Rotation des fichiers journaux une fois par semaine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295418" y="4079288"/>
            <a:ext cx="4119366" cy="1467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033672" y="4770339"/>
            <a:ext cx="7287042" cy="12003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Archiver les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enregistrements en utilisant l'utilisateur spécifique (</a:t>
            </a:r>
            <a:r>
              <a:rPr lang="fr-FR" sz="2400" dirty="0" err="1">
                <a:solidFill>
                  <a:srgbClr val="FF0000"/>
                </a:solidFill>
                <a:latin typeface="+mn-lt"/>
              </a:rPr>
              <a:t>root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) et le groupe 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(</a:t>
            </a:r>
            <a:r>
              <a:rPr lang="fr-FR" sz="2400" dirty="0" err="1" smtClean="0">
                <a:solidFill>
                  <a:srgbClr val="FF0000"/>
                </a:solidFill>
                <a:latin typeface="+mn-lt"/>
              </a:rPr>
              <a:t>adm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)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pour éviter les problèmes liés aux autorisations associées.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2128930" y="5189838"/>
            <a:ext cx="3883383" cy="33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048820" y="6008761"/>
            <a:ext cx="696697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+mn-lt"/>
              </a:rPr>
              <a:t>Sauvegarder quatre anciennes versions du fichier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1655805" y="6008761"/>
            <a:ext cx="4393016" cy="1801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22961" y="6703661"/>
            <a:ext cx="7049343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Enregistrer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l'ancien fichier sous un nouveau nom et créez un nouveau fichier.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1295418" y="6755831"/>
            <a:ext cx="4818274" cy="3587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696958" y="8048194"/>
            <a:ext cx="4979845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Compresser les </a:t>
            </a:r>
            <a:r>
              <a:rPr lang="fr-FR" sz="2400" dirty="0">
                <a:solidFill>
                  <a:srgbClr val="FF0000"/>
                </a:solidFill>
                <a:latin typeface="+mn-lt"/>
              </a:rPr>
              <a:t>fichiers 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journaux.</a:t>
            </a:r>
            <a:endParaRPr lang="fr-FR" sz="240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1779374" y="8303740"/>
            <a:ext cx="5857102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56748" y="8917534"/>
            <a:ext cx="5818911" cy="8309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+mn-lt"/>
              </a:rPr>
              <a:t>S'assurer que le contenu du répertoire 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/</a:t>
            </a:r>
            <a:r>
              <a:rPr lang="fr-FR" sz="2400" dirty="0" err="1" smtClean="0">
                <a:solidFill>
                  <a:srgbClr val="FF0000"/>
                </a:solidFill>
                <a:latin typeface="+mn-lt"/>
              </a:rPr>
              <a:t>etc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/</a:t>
            </a:r>
            <a:r>
              <a:rPr lang="fr-FR" sz="2400" dirty="0" err="1" smtClean="0">
                <a:solidFill>
                  <a:srgbClr val="FF0000"/>
                </a:solidFill>
                <a:latin typeface="+mn-lt"/>
              </a:rPr>
              <a:t>logrotate</a:t>
            </a:r>
            <a:r>
              <a:rPr lang="fr-FR" sz="2400" dirty="0" smtClean="0">
                <a:solidFill>
                  <a:srgbClr val="FF0000"/>
                </a:solidFill>
                <a:latin typeface="+mn-lt"/>
              </a:rPr>
              <a:t> est inclus</a:t>
            </a:r>
            <a:endParaRPr lang="fr-FR" sz="2400" dirty="0">
              <a:solidFill>
                <a:srgbClr val="FF0000"/>
              </a:solidFill>
              <a:latin typeface="+mn-lt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3704555" y="9155111"/>
            <a:ext cx="3252193" cy="1140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332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Fichiers de Configuration</a:t>
            </a:r>
            <a:endParaRPr lang="fr-FR" sz="6600" dirty="0"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417" y="1456965"/>
            <a:ext cx="12949267" cy="84907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dirty="0" smtClean="0"/>
              <a:t>Chaque </a:t>
            </a:r>
            <a:r>
              <a:rPr lang="fr-FR" sz="2800" dirty="0"/>
              <a:t>fichier de /</a:t>
            </a:r>
            <a:r>
              <a:rPr lang="fr-FR" sz="2800" dirty="0" err="1"/>
              <a:t>etc</a:t>
            </a:r>
            <a:r>
              <a:rPr lang="fr-FR" sz="2800" dirty="0"/>
              <a:t>/</a:t>
            </a:r>
            <a:r>
              <a:rPr lang="fr-FR" sz="2800" dirty="0" err="1"/>
              <a:t>logrotate.d</a:t>
            </a:r>
            <a:r>
              <a:rPr lang="fr-FR" sz="2800" dirty="0"/>
              <a:t> est utilisé pour ajouter des configurations supplémentaires ou pour annuler les configurations par défaut de fichiers spécifiques.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 smtClean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fr-FR" sz="2800" dirty="0">
              <a:latin typeface="+mn-lt"/>
            </a:endParaRPr>
          </a:p>
          <a:p>
            <a:pPr marL="160020" indent="0">
              <a:lnSpc>
                <a:spcPct val="150000"/>
              </a:lnSpc>
              <a:buNone/>
            </a:pPr>
            <a:endParaRPr lang="fr-FR" sz="2800" dirty="0" smtClean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6105" b="8704"/>
          <a:stretch/>
        </p:blipFill>
        <p:spPr>
          <a:xfrm>
            <a:off x="1067983" y="4958660"/>
            <a:ext cx="4974215" cy="28199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87546" y="7772301"/>
            <a:ext cx="51350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 smtClean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Exemple </a:t>
            </a:r>
            <a:r>
              <a:rPr lang="fr-FR" sz="2400" dirty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de configuration spécifique pour l'application DPKG (Le gestionnaire de paquets de Debian</a:t>
            </a:r>
            <a:r>
              <a:rPr lang="fr-FR" sz="2400" dirty="0" smtClean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)</a:t>
            </a:r>
            <a:endParaRPr lang="fr-FR" sz="2400" dirty="0">
              <a:solidFill>
                <a:srgbClr val="002060"/>
              </a:solidFill>
              <a:latin typeface="+mn-lt"/>
              <a:ea typeface="Palatino"/>
              <a:cs typeface="Palatino"/>
              <a:sym typeface="Palatino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659" y="4347016"/>
            <a:ext cx="6473714" cy="4671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26659" y="9018666"/>
            <a:ext cx="66777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 smtClean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Exemple </a:t>
            </a:r>
            <a:r>
              <a:rPr lang="fr-FR" sz="2400" dirty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de configuration spécifique pour l'application </a:t>
            </a:r>
            <a:r>
              <a:rPr lang="fr-FR" sz="2400" dirty="0" err="1" smtClean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apt</a:t>
            </a:r>
            <a:r>
              <a:rPr lang="fr-FR" sz="2400" dirty="0" smtClean="0">
                <a:solidFill>
                  <a:srgbClr val="002060"/>
                </a:solidFill>
                <a:latin typeface="+mn-lt"/>
                <a:ea typeface="Palatino"/>
                <a:cs typeface="Palatino"/>
                <a:sym typeface="Palatino"/>
              </a:rPr>
              <a:t>.</a:t>
            </a:r>
            <a:endParaRPr lang="fr-FR" sz="2400" dirty="0">
              <a:solidFill>
                <a:srgbClr val="002060"/>
              </a:solidFill>
              <a:latin typeface="+mn-lt"/>
              <a:ea typeface="Palatino"/>
              <a:cs typeface="Palatino"/>
              <a:sym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4230964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="" xmlns:a16="http://schemas.microsoft.com/office/drawing/2014/main" id="{BACBA0D5-7560-AC3D-AD45-FEEC74CD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600" dirty="0" smtClean="0">
                <a:cs typeface="Arial"/>
                <a:sym typeface="Arial"/>
              </a:rPr>
              <a:t>Fichiers de Configuration</a:t>
            </a:r>
            <a:endParaRPr lang="fr-FR" sz="6600" dirty="0">
              <a:cs typeface="Arial"/>
              <a:sym typeface="Arial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05094482-6D9F-B8BB-A4C3-40EAB3B7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46" y="2025368"/>
            <a:ext cx="12949267" cy="84907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/>
              <a:t>m</a:t>
            </a:r>
            <a:r>
              <a:rPr lang="fr-FR" sz="2800" b="1" dirty="0" err="1" smtClean="0"/>
              <a:t>onthly</a:t>
            </a:r>
            <a:r>
              <a:rPr lang="fr-FR" sz="2800" b="1" dirty="0" smtClean="0"/>
              <a:t>:</a:t>
            </a:r>
            <a:r>
              <a:rPr lang="fr-FR" sz="2800" dirty="0" smtClean="0"/>
              <a:t> </a:t>
            </a:r>
            <a:r>
              <a:rPr lang="fr-FR" sz="2800" dirty="0" err="1" smtClean="0"/>
              <a:t>Logrotate</a:t>
            </a:r>
            <a:r>
              <a:rPr lang="fr-FR" sz="2800" dirty="0" smtClean="0"/>
              <a:t> </a:t>
            </a:r>
            <a:r>
              <a:rPr lang="fr-FR" sz="2800" dirty="0"/>
              <a:t>surveille le fichier /var/log/dpkg.log et génère une rotation une fois par </a:t>
            </a:r>
            <a:r>
              <a:rPr lang="fr-FR" sz="2800" dirty="0" smtClean="0"/>
              <a:t>mois.</a:t>
            </a:r>
            <a:endParaRPr lang="fr-FR" sz="2800" dirty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 smtClean="0"/>
              <a:t>rotate</a:t>
            </a:r>
            <a:r>
              <a:rPr lang="fr-FR" sz="2800" b="1" dirty="0" smtClean="0"/>
              <a:t> x:</a:t>
            </a:r>
            <a:r>
              <a:rPr lang="fr-FR" sz="2800" dirty="0" smtClean="0"/>
              <a:t> à </a:t>
            </a:r>
            <a:r>
              <a:rPr lang="fr-FR" sz="2800" dirty="0"/>
              <a:t>chaque intervalle, on conserve </a:t>
            </a:r>
            <a:r>
              <a:rPr lang="fr-FR" sz="2800" dirty="0" smtClean="0"/>
              <a:t>x </a:t>
            </a:r>
            <a:r>
              <a:rPr lang="fr-FR" sz="2800" dirty="0"/>
              <a:t>mois de journalisation.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/>
              <a:t>c</a:t>
            </a:r>
            <a:r>
              <a:rPr lang="fr-FR" sz="2800" b="1" dirty="0" err="1" smtClean="0"/>
              <a:t>ompress</a:t>
            </a:r>
            <a:r>
              <a:rPr lang="fr-FR" sz="2800" b="1" dirty="0" smtClean="0"/>
              <a:t>:</a:t>
            </a:r>
            <a:r>
              <a:rPr lang="fr-FR" sz="2800" dirty="0" smtClean="0"/>
              <a:t> compresser les fichiers logs </a:t>
            </a:r>
            <a:r>
              <a:rPr lang="fr-FR" sz="2800" dirty="0"/>
              <a:t>au format </a:t>
            </a:r>
            <a:r>
              <a:rPr lang="fr-FR" sz="2800" dirty="0" err="1" smtClean="0"/>
              <a:t>gzip</a:t>
            </a:r>
            <a:endParaRPr lang="fr-FR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 smtClean="0"/>
              <a:t>delaycompress</a:t>
            </a:r>
            <a:r>
              <a:rPr lang="fr-FR" sz="2800" b="1" dirty="0" smtClean="0"/>
              <a:t>:</a:t>
            </a:r>
            <a:r>
              <a:rPr lang="fr-FR" sz="2800" dirty="0" smtClean="0"/>
              <a:t> </a:t>
            </a:r>
            <a:r>
              <a:rPr lang="fr-FR" sz="2800" dirty="0"/>
              <a:t>retarde le processus de compression jusqu'à la prochaine rotation. '</a:t>
            </a:r>
            <a:r>
              <a:rPr lang="fr-FR" sz="2800" dirty="0" err="1"/>
              <a:t>delaycompress</a:t>
            </a:r>
            <a:r>
              <a:rPr lang="fr-FR" sz="2800" dirty="0"/>
              <a:t>' ne fonctionnera que si l'option '</a:t>
            </a:r>
            <a:r>
              <a:rPr lang="fr-FR" sz="2800" dirty="0" err="1"/>
              <a:t>compress</a:t>
            </a:r>
            <a:r>
              <a:rPr lang="fr-FR" sz="2800" dirty="0"/>
              <a:t>' est clairement spécifiée.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 smtClean="0"/>
              <a:t>missingok</a:t>
            </a:r>
            <a:r>
              <a:rPr lang="fr-FR" sz="2800" b="1" dirty="0" smtClean="0"/>
              <a:t>:</a:t>
            </a:r>
            <a:r>
              <a:rPr lang="fr-FR" sz="2800" dirty="0" smtClean="0"/>
              <a:t> </a:t>
            </a:r>
            <a:r>
              <a:rPr lang="fr-FR" sz="2800" dirty="0"/>
              <a:t>permet au processus de ne pas s'arrêter à chaque erreur et de poursuivre avec le fichier de log suivant.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 smtClean="0"/>
              <a:t>notifempty</a:t>
            </a:r>
            <a:r>
              <a:rPr lang="fr-FR" sz="2800" b="1" dirty="0" smtClean="0"/>
              <a:t>:</a:t>
            </a:r>
            <a:r>
              <a:rPr lang="fr-FR" sz="2800" dirty="0" smtClean="0"/>
              <a:t> </a:t>
            </a:r>
            <a:r>
              <a:rPr lang="fr-FR" sz="2800" dirty="0"/>
              <a:t>empêche la rotation de s'effectuer si le fichier de log est vide.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976438" algn="l"/>
              </a:tabLst>
            </a:pPr>
            <a:r>
              <a:rPr lang="fr-FR" sz="2800" b="1" dirty="0" err="1" smtClean="0"/>
              <a:t>create</a:t>
            </a:r>
            <a:r>
              <a:rPr lang="fr-FR" sz="2800" b="1" dirty="0" smtClean="0"/>
              <a:t> </a:t>
            </a:r>
            <a:r>
              <a:rPr lang="fr-FR" sz="2800" b="1" dirty="0"/>
              <a:t>&lt;mode&gt; &lt;</a:t>
            </a:r>
            <a:r>
              <a:rPr lang="fr-FR" sz="2800" b="1" dirty="0" err="1"/>
              <a:t>owner</a:t>
            </a:r>
            <a:r>
              <a:rPr lang="fr-FR" sz="2800" b="1" dirty="0"/>
              <a:t>&gt; &lt;group</a:t>
            </a:r>
            <a:r>
              <a:rPr lang="fr-FR" sz="2800" b="1" dirty="0" smtClean="0"/>
              <a:t>&gt;:</a:t>
            </a:r>
            <a:r>
              <a:rPr lang="fr-FR" sz="2800" dirty="0" smtClean="0"/>
              <a:t> </a:t>
            </a:r>
            <a:r>
              <a:rPr lang="fr-FR" sz="2800" dirty="0" smtClean="0"/>
              <a:t>crée un </a:t>
            </a:r>
            <a:r>
              <a:rPr lang="fr-FR" sz="2800" dirty="0"/>
              <a:t>fichier vide avec les propriétés spécifiées, après la rotation des logs.</a:t>
            </a:r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3557846015"/>
      </p:ext>
    </p:extLst>
  </p:cSld>
  <p:clrMapOvr>
    <a:masterClrMapping/>
  </p:clrMapOvr>
</p:sld>
</file>

<file path=ppt/theme/theme1.xml><?xml version="1.0" encoding="utf-8"?>
<a:theme xmlns:a="http://schemas.openxmlformats.org/drawingml/2006/main" name="New_Template4">
  <a:themeElements>
    <a:clrScheme name="New_Template4">
      <a:dk1>
        <a:srgbClr val="414141"/>
      </a:dk1>
      <a:lt1>
        <a:srgbClr val="004141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w_Template4">
  <a:themeElements>
    <a:clrScheme name="New_Template4">
      <a:dk1>
        <a:srgbClr val="000000"/>
      </a:dk1>
      <a:lt1>
        <a:srgbClr val="FFFFFF"/>
      </a:lt1>
      <a:dk2>
        <a:srgbClr val="66635F"/>
      </a:dk2>
      <a:lt2>
        <a:srgbClr val="C9C3BA"/>
      </a:lt2>
      <a:accent1>
        <a:srgbClr val="738FAF"/>
      </a:accent1>
      <a:accent2>
        <a:srgbClr val="74B6A8"/>
      </a:accent2>
      <a:accent3>
        <a:srgbClr val="A0AA69"/>
      </a:accent3>
      <a:accent4>
        <a:srgbClr val="CBA968"/>
      </a:accent4>
      <a:accent5>
        <a:srgbClr val="D08A7A"/>
      </a:accent5>
      <a:accent6>
        <a:srgbClr val="9E95A9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1094</Words>
  <Application>Microsoft Office PowerPoint</Application>
  <PresentationFormat>Personnalisé</PresentationFormat>
  <Paragraphs>194</Paragraphs>
  <Slides>25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Bodoni</vt:lpstr>
      <vt:lpstr>Palatino</vt:lpstr>
      <vt:lpstr>Helvetica Neue</vt:lpstr>
      <vt:lpstr>Courier New</vt:lpstr>
      <vt:lpstr>Times New Roman</vt:lpstr>
      <vt:lpstr>Wingdings</vt:lpstr>
      <vt:lpstr>Arial</vt:lpstr>
      <vt:lpstr>New_Template4</vt:lpstr>
      <vt:lpstr> Administration &amp; Sécurité des Systèmes d’Exploitation </vt:lpstr>
      <vt:lpstr>Chapitre VI :Tâches d’ administration Syslog </vt:lpstr>
      <vt:lpstr>Objectifs</vt:lpstr>
      <vt:lpstr>Plan</vt:lpstr>
      <vt:lpstr>Présentation PowerPoint</vt:lpstr>
      <vt:lpstr>Syslog: Pour quoi faire </vt:lpstr>
      <vt:lpstr>Le principe </vt:lpstr>
      <vt:lpstr>L'installation</vt:lpstr>
      <vt:lpstr>Présentation PowerPoint</vt:lpstr>
      <vt:lpstr>Fichier de Configuration</vt:lpstr>
      <vt:lpstr>Fichier de Configuration</vt:lpstr>
      <vt:lpstr>Service (facilities)</vt:lpstr>
      <vt:lpstr>niveau de gravité</vt:lpstr>
      <vt:lpstr>destination des logs </vt:lpstr>
      <vt:lpstr>Formalisme</vt:lpstr>
      <vt:lpstr>exemples</vt:lpstr>
      <vt:lpstr>Exemples </vt:lpstr>
      <vt:lpstr>Tester votre configuration  </vt:lpstr>
      <vt:lpstr>Présentation PowerPoint</vt:lpstr>
      <vt:lpstr>Logrotate</vt:lpstr>
      <vt:lpstr>Logrotate</vt:lpstr>
      <vt:lpstr>Fichiers de Configuration</vt:lpstr>
      <vt:lpstr>Fichiers de Configuration</vt:lpstr>
      <vt:lpstr>Fichiers de Configuration</vt:lpstr>
      <vt:lpstr>Fichiers de Configuration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Administration &amp; Sécurité des Systèmes d’Exploitation</dc:title>
  <dc:creator>Latifa Guesmi</dc:creator>
  <cp:lastModifiedBy>Compte Microsoft</cp:lastModifiedBy>
  <cp:revision>258</cp:revision>
  <dcterms:created xsi:type="dcterms:W3CDTF">2022-03-15T08:36:47Z</dcterms:created>
  <dcterms:modified xsi:type="dcterms:W3CDTF">2022-11-27T15:56:21Z</dcterms:modified>
</cp:coreProperties>
</file>