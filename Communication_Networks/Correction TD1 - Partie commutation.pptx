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  <a:srgbClr val="CC0099"/>
    <a:srgbClr val="FF7C8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11A32-7376-49D4-8D74-1C8BE0C6F4D9}" type="datetimeFigureOut">
              <a:rPr lang="fr-FR" smtClean="0"/>
              <a:t>08/11/2020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DC190D-B831-4760-8496-705C0C9B7F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1904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C190D-B831-4760-8496-705C0C9B7FB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9472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C190D-B831-4760-8496-705C0C9B7FB7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5466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C190D-B831-4760-8496-705C0C9B7FB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6075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3EAF-500F-4823-AD46-FC8FA5003785}" type="datetime1">
              <a:rPr lang="fr-FR" smtClean="0"/>
              <a:t>08/11/2020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95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7F16F-5360-4039-81CE-FF9304C3CAEE}" type="datetime1">
              <a:rPr lang="fr-FR" smtClean="0"/>
              <a:t>08/11/2020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09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4B7F6-40F7-4949-B0E4-D40788F377CA}" type="datetime1">
              <a:rPr lang="fr-FR" smtClean="0"/>
              <a:t>08/11/2020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2115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3A250-D6E3-4C10-A98B-9718DBDA7C00}" type="datetime1">
              <a:rPr lang="fr-FR" smtClean="0"/>
              <a:t>08/11/2020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2052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D95E-B053-4133-9F06-098F3FFDD75E}" type="datetime1">
              <a:rPr lang="fr-FR" smtClean="0"/>
              <a:t>08/11/2020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576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93353-DE8B-4C2E-8946-3531F377D859}" type="datetime1">
              <a:rPr lang="fr-FR" smtClean="0"/>
              <a:t>08/11/2020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8405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82D0A-2461-419B-81A6-5CB80DF293D3}" type="datetime1">
              <a:rPr lang="fr-FR" smtClean="0"/>
              <a:t>08/11/2020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038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A536B-6DDE-406A-AB89-237B91FCEF38}" type="datetime1">
              <a:rPr lang="fr-FR" smtClean="0"/>
              <a:t>08/11/2020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5752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31B0-1882-4D21-9FD1-D148CBA7320A}" type="datetime1">
              <a:rPr lang="fr-FR" smtClean="0"/>
              <a:t>08/11/2020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2441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9D9ED-A3FA-47CF-AA31-79EF708423B9}" type="datetime1">
              <a:rPr lang="fr-FR" smtClean="0"/>
              <a:t>08/11/2020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4835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CC86B-E642-4FE9-A13A-A2565DCEE7FA}" type="datetime1">
              <a:rPr lang="fr-FR" smtClean="0"/>
              <a:t>08/11/2020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982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2EB18-A50C-4BA3-A5BB-EBF32CB4BC54}" type="datetime1">
              <a:rPr lang="fr-FR" smtClean="0"/>
              <a:t>08/11/2020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18DFE-188D-409B-B9D0-DC22D9F65A0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1539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20807" y="1867520"/>
            <a:ext cx="1031335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Garamond" panose="02020404030301010803" pitchFamily="18" charset="0"/>
              </a:rPr>
              <a:t>On utilise dans la transmission de trames d'un émetteur A vers un récepteur B un protocole défini de la manière </a:t>
            </a:r>
            <a:r>
              <a:rPr lang="fr-FR" dirty="0" smtClean="0">
                <a:latin typeface="Garamond" panose="02020404030301010803" pitchFamily="18" charset="0"/>
              </a:rPr>
              <a:t>suivante:</a:t>
            </a:r>
            <a:endParaRPr lang="fr-FR" dirty="0">
              <a:latin typeface="Garamond" panose="02020404030301010803" pitchFamily="18" charset="0"/>
            </a:endParaRPr>
          </a:p>
          <a:p>
            <a:r>
              <a:rPr lang="fr-FR" dirty="0">
                <a:latin typeface="Garamond" panose="02020404030301010803" pitchFamily="18" charset="0"/>
              </a:rPr>
              <a:t>-  L'émetteur envoie successivement trois trames puis attend leur acquittement de la part de B.</a:t>
            </a:r>
          </a:p>
          <a:p>
            <a:pPr marL="285750" indent="-285750">
              <a:buFontTx/>
              <a:buChar char="-"/>
            </a:pPr>
            <a:r>
              <a:rPr lang="fr-FR" dirty="0" smtClean="0">
                <a:latin typeface="Garamond" panose="02020404030301010803" pitchFamily="18" charset="0"/>
              </a:rPr>
              <a:t>Quand </a:t>
            </a:r>
            <a:r>
              <a:rPr lang="fr-FR" dirty="0">
                <a:latin typeface="Garamond" panose="02020404030301010803" pitchFamily="18" charset="0"/>
              </a:rPr>
              <a:t>cet acquittement arrive, l'émetteur envoie les trois trames suivantes et attend un nouvel acquittement. </a:t>
            </a:r>
            <a:endParaRPr lang="fr-FR" dirty="0" smtClean="0">
              <a:latin typeface="Garamond" panose="02020404030301010803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-   Les trames sont composées de 1024 bits dont 80 bits de service</a:t>
            </a:r>
            <a:endParaRPr kumimoji="0" lang="fr-F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-   Les acquittements sont composés de 64 bits</a:t>
            </a:r>
            <a:endParaRPr kumimoji="0" lang="fr-F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- Le débit de la voie est de 2 Mbits/s et la vitesse de propagation des ondes électromagnétiques est de 3.10</a:t>
            </a:r>
            <a:r>
              <a:rPr kumimoji="0" lang="fr-FR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8</a:t>
            </a: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 m/s sur la voie de 10 km reliant A et B.</a:t>
            </a:r>
            <a:endParaRPr kumimoji="0" lang="fr-F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358775"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Quelle est la durée nécessaire à l'expédition confirmée d'une trame ?</a:t>
            </a:r>
          </a:p>
          <a:p>
            <a:pPr marL="358775"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Quel est le taux d'occupation de la voie ?</a:t>
            </a:r>
          </a:p>
          <a:p>
            <a:pPr marL="358775"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Un message de 1 Mo est envoyé de A vers B par utilisation du protocole précédent. Quelle est la durée totale de la transmission de ce message ?</a:t>
            </a:r>
            <a:endParaRPr kumimoji="0" lang="fr-F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285750" indent="-285750">
              <a:buFontTx/>
              <a:buChar char="-"/>
            </a:pPr>
            <a:endParaRPr lang="fr-FR" dirty="0" smtClean="0">
              <a:latin typeface="Garamond" panose="02020404030301010803" pitchFamily="18" charset="0"/>
            </a:endParaRPr>
          </a:p>
          <a:p>
            <a:pPr marL="285750" indent="-285750">
              <a:buFontTx/>
              <a:buChar char="-"/>
            </a:pPr>
            <a:endParaRPr lang="fr-FR" dirty="0"/>
          </a:p>
          <a:p>
            <a:endParaRPr lang="fr-FR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391213" y="40815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 smtClean="0">
                <a:solidFill>
                  <a:srgbClr val="002060"/>
                </a:solidFill>
                <a:latin typeface="Garamond" panose="02020404030301010803" pitchFamily="18" charset="0"/>
              </a:rPr>
              <a:t>TD1- Commutation</a:t>
            </a:r>
          </a:p>
          <a:p>
            <a:pPr algn="l"/>
            <a:r>
              <a:rPr lang="fr-FR" sz="3500" dirty="0" smtClean="0">
                <a:solidFill>
                  <a:srgbClr val="002060"/>
                </a:solidFill>
                <a:latin typeface="Garamond" panose="02020404030301010803" pitchFamily="18" charset="0"/>
              </a:rPr>
              <a:t>Enoncé de l’exercice</a:t>
            </a:r>
            <a:endParaRPr lang="fr-FR" sz="35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4566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1213" y="1927481"/>
            <a:ext cx="1180078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fr-FR" dirty="0">
                <a:solidFill>
                  <a:srgbClr val="C00000"/>
                </a:solidFill>
                <a:latin typeface="Garamond" panose="02020404030301010803" pitchFamily="18" charset="0"/>
              </a:rPr>
              <a:t>Débit utile </a:t>
            </a:r>
            <a:r>
              <a:rPr lang="fr-FR" dirty="0">
                <a:latin typeface="Garamond" panose="02020404030301010803" pitchFamily="18" charset="0"/>
              </a:rPr>
              <a:t>= </a:t>
            </a:r>
            <a:r>
              <a:rPr lang="fr-FR" dirty="0" smtClean="0">
                <a:latin typeface="Garamond" panose="02020404030301010803" pitchFamily="18" charset="0"/>
              </a:rPr>
              <a:t>quantité </a:t>
            </a:r>
            <a:r>
              <a:rPr lang="fr-FR" dirty="0">
                <a:latin typeface="Garamond" panose="02020404030301010803" pitchFamily="18" charset="0"/>
              </a:rPr>
              <a:t>d’information totale-quantité d’information de </a:t>
            </a:r>
            <a:r>
              <a:rPr lang="fr-FR" dirty="0" smtClean="0">
                <a:latin typeface="Garamond" panose="02020404030301010803" pitchFamily="18" charset="0"/>
              </a:rPr>
              <a:t>contrôle/temps </a:t>
            </a:r>
            <a:r>
              <a:rPr lang="fr-FR" dirty="0">
                <a:latin typeface="Garamond" panose="02020404030301010803" pitchFamily="18" charset="0"/>
              </a:rPr>
              <a:t>de transmission total</a:t>
            </a:r>
          </a:p>
          <a:p>
            <a:pPr lvl="0">
              <a:lnSpc>
                <a:spcPct val="150000"/>
              </a:lnSpc>
            </a:pPr>
            <a:r>
              <a:rPr lang="fr-FR" dirty="0">
                <a:solidFill>
                  <a:srgbClr val="C00000"/>
                </a:solidFill>
                <a:latin typeface="Garamond" panose="02020404030301010803" pitchFamily="18" charset="0"/>
              </a:rPr>
              <a:t>Efficacité </a:t>
            </a:r>
            <a:r>
              <a:rPr lang="fr-FR" dirty="0" smtClean="0">
                <a:solidFill>
                  <a:srgbClr val="C00000"/>
                </a:solidFill>
                <a:latin typeface="Garamond" panose="02020404030301010803" pitchFamily="18" charset="0"/>
              </a:rPr>
              <a:t>= Taux d’occupation </a:t>
            </a:r>
            <a:r>
              <a:rPr lang="fr-FR" dirty="0" smtClean="0">
                <a:latin typeface="Garamond" panose="02020404030301010803" pitchFamily="18" charset="0"/>
              </a:rPr>
              <a:t>= </a:t>
            </a:r>
            <a:r>
              <a:rPr lang="fr-FR" dirty="0">
                <a:latin typeface="Garamond" panose="02020404030301010803" pitchFamily="18" charset="0"/>
              </a:rPr>
              <a:t>débit utile / débit </a:t>
            </a:r>
            <a:r>
              <a:rPr lang="fr-FR" dirty="0" smtClean="0">
                <a:latin typeface="Garamond" panose="02020404030301010803" pitchFamily="18" charset="0"/>
              </a:rPr>
              <a:t>théorique = Temps d’émission des données utiles / Délai total </a:t>
            </a:r>
          </a:p>
          <a:p>
            <a:pPr lvl="0">
              <a:lnSpc>
                <a:spcPct val="150000"/>
              </a:lnSpc>
            </a:pPr>
            <a:r>
              <a:rPr lang="fr-FR" dirty="0" smtClean="0">
                <a:solidFill>
                  <a:srgbClr val="C00000"/>
                </a:solidFill>
                <a:latin typeface="Garamond" panose="02020404030301010803" pitchFamily="18" charset="0"/>
              </a:rPr>
              <a:t>Délai de transmission </a:t>
            </a:r>
            <a:r>
              <a:rPr lang="fr-FR" dirty="0" smtClean="0">
                <a:latin typeface="Garamond" panose="02020404030301010803" pitchFamily="18" charset="0"/>
              </a:rPr>
              <a:t>= quantité d’information / débit</a:t>
            </a:r>
          </a:p>
          <a:p>
            <a:pPr lvl="0">
              <a:lnSpc>
                <a:spcPct val="150000"/>
              </a:lnSpc>
            </a:pPr>
            <a:r>
              <a:rPr lang="fr-FR" dirty="0" smtClean="0">
                <a:solidFill>
                  <a:srgbClr val="C00000"/>
                </a:solidFill>
                <a:latin typeface="Garamond" panose="02020404030301010803" pitchFamily="18" charset="0"/>
              </a:rPr>
              <a:t>Délai </a:t>
            </a:r>
            <a:r>
              <a:rPr lang="fr-FR" dirty="0">
                <a:solidFill>
                  <a:srgbClr val="C00000"/>
                </a:solidFill>
                <a:latin typeface="Garamond" panose="02020404030301010803" pitchFamily="18" charset="0"/>
              </a:rPr>
              <a:t>de propagation </a:t>
            </a:r>
            <a:r>
              <a:rPr lang="fr-FR" dirty="0">
                <a:latin typeface="Garamond" panose="02020404030301010803" pitchFamily="18" charset="0"/>
              </a:rPr>
              <a:t>= distance / vitesse de propagation</a:t>
            </a:r>
          </a:p>
          <a:p>
            <a:pPr lvl="0">
              <a:lnSpc>
                <a:spcPct val="150000"/>
              </a:lnSpc>
            </a:pPr>
            <a:r>
              <a:rPr lang="fr-FR" dirty="0">
                <a:solidFill>
                  <a:srgbClr val="C00000"/>
                </a:solidFill>
                <a:latin typeface="Garamond" panose="02020404030301010803" pitchFamily="18" charset="0"/>
              </a:rPr>
              <a:t>Délai total de TR </a:t>
            </a:r>
            <a:r>
              <a:rPr lang="fr-FR" dirty="0">
                <a:latin typeface="Garamond" panose="02020404030301010803" pitchFamily="18" charset="0"/>
              </a:rPr>
              <a:t>= </a:t>
            </a:r>
            <a:r>
              <a:rPr lang="fr-FR" dirty="0" smtClean="0">
                <a:latin typeface="Garamond" panose="02020404030301010803" pitchFamily="18" charset="0"/>
              </a:rPr>
              <a:t>Délai de transmission </a:t>
            </a:r>
            <a:r>
              <a:rPr lang="fr-FR" dirty="0">
                <a:latin typeface="Garamond" panose="02020404030301010803" pitchFamily="18" charset="0"/>
              </a:rPr>
              <a:t>+ </a:t>
            </a:r>
            <a:r>
              <a:rPr lang="fr-FR" dirty="0" smtClean="0">
                <a:latin typeface="Garamond" panose="02020404030301010803" pitchFamily="18" charset="0"/>
              </a:rPr>
              <a:t>Délai de propagation </a:t>
            </a:r>
            <a:r>
              <a:rPr lang="fr-FR" dirty="0">
                <a:latin typeface="Garamond" panose="02020404030301010803" pitchFamily="18" charset="0"/>
              </a:rPr>
              <a:t>+ temps de traitement des équipements traversés.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fr-FR" dirty="0" smtClean="0">
              <a:latin typeface="Garamond" panose="02020404030301010803" pitchFamily="18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391213" y="40815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 smtClean="0">
                <a:solidFill>
                  <a:srgbClr val="002060"/>
                </a:solidFill>
                <a:latin typeface="Garamond" panose="02020404030301010803" pitchFamily="18" charset="0"/>
              </a:rPr>
              <a:t>TD1- Commutation</a:t>
            </a:r>
          </a:p>
          <a:p>
            <a:pPr algn="l"/>
            <a:r>
              <a:rPr lang="fr-FR" sz="3500" dirty="0" smtClean="0">
                <a:solidFill>
                  <a:srgbClr val="002060"/>
                </a:solidFill>
                <a:latin typeface="Garamond" panose="02020404030301010803" pitchFamily="18" charset="0"/>
              </a:rPr>
              <a:t>Indications</a:t>
            </a:r>
            <a:endParaRPr lang="fr-FR" sz="35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2423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391213" y="40815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 smtClean="0">
                <a:solidFill>
                  <a:srgbClr val="002060"/>
                </a:solidFill>
                <a:latin typeface="Garamond" panose="02020404030301010803" pitchFamily="18" charset="0"/>
              </a:rPr>
              <a:t>TD1- Commutation</a:t>
            </a:r>
          </a:p>
          <a:p>
            <a:pPr algn="l"/>
            <a:r>
              <a:rPr lang="fr-FR" sz="3500" dirty="0" smtClean="0">
                <a:solidFill>
                  <a:srgbClr val="002060"/>
                </a:solidFill>
                <a:latin typeface="Garamond" panose="02020404030301010803" pitchFamily="18" charset="0"/>
              </a:rPr>
              <a:t>Explication des échanges (1/2)</a:t>
            </a:r>
            <a:endParaRPr lang="fr-FR" sz="35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3219916" y="2812660"/>
            <a:ext cx="1" cy="3960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266328" y="2812659"/>
            <a:ext cx="1" cy="396067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Desktop Icon | Unleashed Iconset | PC Unleash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447" y="1733720"/>
            <a:ext cx="1078940" cy="107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Desktop Icon | Unleashed Iconset | PC Unleash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835" y="1733720"/>
            <a:ext cx="1078940" cy="107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/>
          <p:cNvCxnSpPr/>
          <p:nvPr/>
        </p:nvCxnSpPr>
        <p:spPr>
          <a:xfrm>
            <a:off x="3219917" y="3048000"/>
            <a:ext cx="3046412" cy="394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90604" y="2863334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latin typeface="Garamond" panose="02020404030301010803" pitchFamily="18" charset="0"/>
              </a:rPr>
              <a:t>T=0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42939" y="2616725"/>
            <a:ext cx="591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solidFill>
                  <a:srgbClr val="0070C0"/>
                </a:solidFill>
                <a:latin typeface="Garamond" panose="02020404030301010803" pitchFamily="18" charset="0"/>
              </a:rPr>
              <a:t>Source</a:t>
            </a:r>
            <a:endParaRPr lang="fr-FR" sz="1200" dirty="0">
              <a:solidFill>
                <a:srgbClr val="0070C0"/>
              </a:solidFill>
              <a:latin typeface="Garamond" panose="02020404030301010803" pitchFamily="18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219917" y="3474001"/>
            <a:ext cx="3046412" cy="394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95026" y="3369207"/>
            <a:ext cx="6787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solidFill>
                  <a:srgbClr val="0070C0"/>
                </a:solidFill>
                <a:latin typeface="Garamond" panose="02020404030301010803" pitchFamily="18" charset="0"/>
              </a:rPr>
              <a:t>Trame 2</a:t>
            </a:r>
            <a:endParaRPr lang="fr-FR" sz="1200" dirty="0">
              <a:solidFill>
                <a:srgbClr val="0070C0"/>
              </a:solidFill>
              <a:latin typeface="Garamond" panose="02020404030301010803" pitchFamily="18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3219917" y="3895854"/>
            <a:ext cx="3046412" cy="394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95026" y="3791060"/>
            <a:ext cx="6787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solidFill>
                  <a:srgbClr val="0070C0"/>
                </a:solidFill>
                <a:latin typeface="Garamond" panose="02020404030301010803" pitchFamily="18" charset="0"/>
              </a:rPr>
              <a:t>Trame 3</a:t>
            </a:r>
            <a:endParaRPr lang="fr-FR" sz="1200" dirty="0">
              <a:solidFill>
                <a:srgbClr val="0070C0"/>
              </a:solidFill>
              <a:latin typeface="Garamond" panose="02020404030301010803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95026" y="2968224"/>
            <a:ext cx="6787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solidFill>
                  <a:srgbClr val="0070C0"/>
                </a:solidFill>
                <a:latin typeface="Garamond" panose="02020404030301010803" pitchFamily="18" charset="0"/>
              </a:rPr>
              <a:t>Trame 1</a:t>
            </a:r>
            <a:endParaRPr lang="fr-FR" sz="1200" dirty="0">
              <a:solidFill>
                <a:srgbClr val="0070C0"/>
              </a:solidFill>
              <a:latin typeface="Garamond" panose="02020404030301010803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25342" y="2616725"/>
            <a:ext cx="8819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solidFill>
                  <a:srgbClr val="C00000"/>
                </a:solidFill>
                <a:latin typeface="Garamond" panose="02020404030301010803" pitchFamily="18" charset="0"/>
              </a:rPr>
              <a:t>Destination</a:t>
            </a:r>
            <a:endParaRPr lang="fr-FR" sz="1200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3219916" y="4473388"/>
            <a:ext cx="3046412" cy="3375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95026" y="4334888"/>
            <a:ext cx="4952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solidFill>
                  <a:srgbClr val="C00000"/>
                </a:solidFill>
                <a:latin typeface="Garamond" panose="02020404030301010803" pitchFamily="18" charset="0"/>
              </a:rPr>
              <a:t>Ack1</a:t>
            </a:r>
            <a:endParaRPr lang="fr-FR" sz="1200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3219916" y="4965731"/>
            <a:ext cx="3046412" cy="394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219916" y="5391732"/>
            <a:ext cx="3046412" cy="394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95025" y="5286938"/>
            <a:ext cx="6787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solidFill>
                  <a:srgbClr val="0070C0"/>
                </a:solidFill>
                <a:latin typeface="Garamond" panose="02020404030301010803" pitchFamily="18" charset="0"/>
              </a:rPr>
              <a:t>Trame 5</a:t>
            </a:r>
            <a:endParaRPr lang="fr-FR" sz="1200" dirty="0">
              <a:solidFill>
                <a:srgbClr val="0070C0"/>
              </a:solidFill>
              <a:latin typeface="Garamond" panose="02020404030301010803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3219916" y="5813585"/>
            <a:ext cx="3046412" cy="394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295025" y="5708791"/>
            <a:ext cx="6787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solidFill>
                  <a:srgbClr val="0070C0"/>
                </a:solidFill>
                <a:latin typeface="Garamond" panose="02020404030301010803" pitchFamily="18" charset="0"/>
              </a:rPr>
              <a:t>Trame 6</a:t>
            </a:r>
            <a:endParaRPr lang="fr-FR" sz="1200" dirty="0">
              <a:solidFill>
                <a:srgbClr val="0070C0"/>
              </a:solidFill>
              <a:latin typeface="Garamond" panose="02020404030301010803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295025" y="4885955"/>
            <a:ext cx="6787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solidFill>
                  <a:srgbClr val="0070C0"/>
                </a:solidFill>
                <a:latin typeface="Garamond" panose="02020404030301010803" pitchFamily="18" charset="0"/>
              </a:rPr>
              <a:t>Trame 4</a:t>
            </a:r>
            <a:endParaRPr lang="fr-FR" sz="1200" dirty="0">
              <a:solidFill>
                <a:srgbClr val="0070C0"/>
              </a:solidFill>
              <a:latin typeface="Garamond" panose="02020404030301010803" pitchFamily="18" charset="0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3219917" y="6350095"/>
            <a:ext cx="3046412" cy="3375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295027" y="6211595"/>
            <a:ext cx="4952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solidFill>
                  <a:srgbClr val="C00000"/>
                </a:solidFill>
                <a:latin typeface="Garamond" panose="02020404030301010803" pitchFamily="18" charset="0"/>
              </a:rPr>
              <a:t>Ack2</a:t>
            </a:r>
            <a:endParaRPr lang="fr-FR" sz="1200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47701" y="6523295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latin typeface="Garamond" panose="02020404030301010803" pitchFamily="18" charset="0"/>
              </a:rPr>
              <a:t>…</a:t>
            </a:r>
            <a:endParaRPr lang="fr-FR" sz="1600" b="1" dirty="0">
              <a:latin typeface="Garamond" panose="02020404030301010803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14807" y="1873861"/>
            <a:ext cx="2827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latin typeface="Garamond" panose="02020404030301010803" pitchFamily="18" charset="0"/>
              </a:rPr>
              <a:t>Trame = unité de données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7889" y="2458194"/>
            <a:ext cx="2394636" cy="589806"/>
          </a:xfrm>
          <a:prstGeom prst="rect">
            <a:avLst/>
          </a:prstGeom>
          <a:ln w="28575">
            <a:solidFill>
              <a:srgbClr val="66CCFF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 smtClean="0">
                <a:solidFill>
                  <a:srgbClr val="66CCFF"/>
                </a:solidFill>
                <a:latin typeface="Garamond" panose="02020404030301010803" pitchFamily="18" charset="0"/>
              </a:rPr>
              <a:t>Données utiles</a:t>
            </a:r>
            <a:endParaRPr lang="fr-FR" sz="2000" dirty="0">
              <a:solidFill>
                <a:srgbClr val="66CCFF"/>
              </a:solidFill>
              <a:latin typeface="Garamond" panose="02020404030301010803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360170" y="2461994"/>
            <a:ext cx="1636259" cy="586006"/>
          </a:xfrm>
          <a:prstGeom prst="rect">
            <a:avLst/>
          </a:prstGeom>
          <a:ln w="28575">
            <a:solidFill>
              <a:srgbClr val="CC0099"/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 smtClean="0">
                <a:solidFill>
                  <a:srgbClr val="CC0099"/>
                </a:solidFill>
                <a:latin typeface="Garamond" panose="02020404030301010803" pitchFamily="18" charset="0"/>
              </a:rPr>
              <a:t>Données de service</a:t>
            </a:r>
            <a:endParaRPr lang="fr-FR" sz="2000" dirty="0">
              <a:solidFill>
                <a:srgbClr val="CC0099"/>
              </a:solidFill>
              <a:latin typeface="Garamond" panose="02020404030301010803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84125" y="3245230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rgbClr val="CC0099"/>
                </a:solidFill>
                <a:latin typeface="Garamond" panose="02020404030301010803" pitchFamily="18" charset="0"/>
              </a:rPr>
              <a:t>80 bits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03913" y="3245230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rgbClr val="66CCFF"/>
                </a:solidFill>
                <a:latin typeface="Garamond" panose="02020404030301010803" pitchFamily="18" charset="0"/>
              </a:rPr>
              <a:t>944 bits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7360170" y="3245223"/>
            <a:ext cx="1636259" cy="0"/>
          </a:xfrm>
          <a:prstGeom prst="straightConnector1">
            <a:avLst/>
          </a:prstGeom>
          <a:ln w="28575">
            <a:solidFill>
              <a:srgbClr val="CC009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8996429" y="3245223"/>
            <a:ext cx="2396096" cy="0"/>
          </a:xfrm>
          <a:prstGeom prst="straightConnector1">
            <a:avLst/>
          </a:prstGeom>
          <a:ln w="28575">
            <a:solidFill>
              <a:srgbClr val="66CC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7360170" y="3791060"/>
            <a:ext cx="4032355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754427" y="3913958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latin typeface="Garamond" panose="02020404030301010803" pitchFamily="18" charset="0"/>
              </a:rPr>
              <a:t>1024 bits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84881" y="4423664"/>
            <a:ext cx="4382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 smtClean="0">
                <a:latin typeface="Garamond" panose="02020404030301010803" pitchFamily="18" charset="0"/>
              </a:rPr>
              <a:t>Ack</a:t>
            </a:r>
            <a:r>
              <a:rPr lang="fr-FR" b="1" dirty="0" smtClean="0">
                <a:latin typeface="Garamond" panose="02020404030301010803" pitchFamily="18" charset="0"/>
              </a:rPr>
              <a:t> = acquittement  = accusé de réception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57297" y="4861146"/>
            <a:ext cx="1636259" cy="586006"/>
          </a:xfrm>
          <a:prstGeom prst="rect">
            <a:avLst/>
          </a:prstGeom>
          <a:ln w="28575">
            <a:solidFill>
              <a:srgbClr val="CC0099"/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 smtClean="0">
                <a:solidFill>
                  <a:srgbClr val="CC0099"/>
                </a:solidFill>
                <a:latin typeface="Garamond" panose="02020404030301010803" pitchFamily="18" charset="0"/>
              </a:rPr>
              <a:t>Données de service</a:t>
            </a:r>
            <a:endParaRPr lang="fr-FR" sz="2000" dirty="0">
              <a:solidFill>
                <a:srgbClr val="CC0099"/>
              </a:solidFill>
              <a:latin typeface="Garamond" panose="02020404030301010803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81252" y="5569432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rgbClr val="CC0099"/>
                </a:solidFill>
                <a:latin typeface="Garamond" panose="02020404030301010803" pitchFamily="18" charset="0"/>
              </a:rPr>
              <a:t>64 bits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8606786" y="5563937"/>
            <a:ext cx="1636259" cy="0"/>
          </a:xfrm>
          <a:prstGeom prst="straightConnector1">
            <a:avLst/>
          </a:prstGeom>
          <a:ln w="28575">
            <a:solidFill>
              <a:srgbClr val="CC009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7512570" y="3397623"/>
            <a:ext cx="1636259" cy="0"/>
          </a:xfrm>
          <a:prstGeom prst="straightConnector1">
            <a:avLst/>
          </a:prstGeom>
          <a:ln w="28575">
            <a:solidFill>
              <a:srgbClr val="CC009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212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18" grpId="0"/>
      <p:bldP spid="19" grpId="0"/>
      <p:bldP spid="20" grpId="0"/>
      <p:bldP spid="23" grpId="0"/>
      <p:bldP spid="26" grpId="0"/>
      <p:bldP spid="28" grpId="0"/>
      <p:bldP spid="29" grpId="0"/>
      <p:bldP spid="31" grpId="0"/>
      <p:bldP spid="34" grpId="0"/>
      <p:bldP spid="33" grpId="0"/>
      <p:bldP spid="35" grpId="0" animBg="1"/>
      <p:bldP spid="37" grpId="0" animBg="1"/>
      <p:bldP spid="38" grpId="0"/>
      <p:bldP spid="39" grpId="0"/>
      <p:bldP spid="47" grpId="0"/>
      <p:bldP spid="48" grpId="0"/>
      <p:bldP spid="49" grpId="0" animBg="1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391213" y="40815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 smtClean="0">
                <a:solidFill>
                  <a:srgbClr val="002060"/>
                </a:solidFill>
                <a:latin typeface="Garamond" panose="02020404030301010803" pitchFamily="18" charset="0"/>
              </a:rPr>
              <a:t>TD1- Commutation</a:t>
            </a:r>
          </a:p>
          <a:p>
            <a:pPr algn="l"/>
            <a:r>
              <a:rPr lang="fr-FR" sz="3500" dirty="0" smtClean="0">
                <a:solidFill>
                  <a:srgbClr val="002060"/>
                </a:solidFill>
                <a:latin typeface="Garamond" panose="02020404030301010803" pitchFamily="18" charset="0"/>
              </a:rPr>
              <a:t>Explication des échanges (2/2)</a:t>
            </a:r>
            <a:endParaRPr lang="fr-FR" sz="35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4636" y="2983043"/>
            <a:ext cx="1621905" cy="442062"/>
          </a:xfrm>
          <a:prstGeom prst="rect">
            <a:avLst/>
          </a:prstGeom>
          <a:ln w="28575">
            <a:solidFill>
              <a:srgbClr val="66CC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 smtClean="0">
                <a:solidFill>
                  <a:srgbClr val="66CCFF"/>
                </a:solidFill>
                <a:latin typeface="Garamond" panose="02020404030301010803" pitchFamily="18" charset="0"/>
              </a:rPr>
              <a:t>Trame 1</a:t>
            </a:r>
            <a:endParaRPr lang="fr-FR" sz="2000" dirty="0">
              <a:solidFill>
                <a:srgbClr val="66CCFF"/>
              </a:solidFill>
              <a:latin typeface="Garamond" panose="02020404030301010803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356541" y="3425175"/>
            <a:ext cx="1621905" cy="442062"/>
          </a:xfrm>
          <a:prstGeom prst="rect">
            <a:avLst/>
          </a:prstGeom>
          <a:ln w="28575">
            <a:solidFill>
              <a:srgbClr val="66CC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 smtClean="0">
                <a:solidFill>
                  <a:srgbClr val="66CCFF"/>
                </a:solidFill>
                <a:latin typeface="Garamond" panose="02020404030301010803" pitchFamily="18" charset="0"/>
              </a:rPr>
              <a:t>Trame 2</a:t>
            </a:r>
            <a:endParaRPr lang="fr-FR" sz="2000" dirty="0">
              <a:solidFill>
                <a:srgbClr val="66CCFF"/>
              </a:solidFill>
              <a:latin typeface="Garamond" panose="02020404030301010803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978446" y="3867237"/>
            <a:ext cx="1621905" cy="442062"/>
          </a:xfrm>
          <a:prstGeom prst="rect">
            <a:avLst/>
          </a:prstGeom>
          <a:ln w="28575">
            <a:solidFill>
              <a:srgbClr val="66CC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 smtClean="0">
                <a:solidFill>
                  <a:srgbClr val="66CCFF"/>
                </a:solidFill>
                <a:latin typeface="Garamond" panose="02020404030301010803" pitchFamily="18" charset="0"/>
              </a:rPr>
              <a:t>Trame 3</a:t>
            </a:r>
            <a:endParaRPr lang="fr-FR" sz="2000" dirty="0">
              <a:solidFill>
                <a:srgbClr val="66CCFF"/>
              </a:solidFill>
              <a:latin typeface="Garamond" panose="02020404030301010803" pitchFamily="18" charset="0"/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734636" y="2735557"/>
            <a:ext cx="1621905" cy="0"/>
          </a:xfrm>
          <a:prstGeom prst="straightConnector1">
            <a:avLst/>
          </a:prstGeom>
          <a:ln w="28575">
            <a:solidFill>
              <a:srgbClr val="66CC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2341550" y="2735557"/>
            <a:ext cx="1621905" cy="0"/>
          </a:xfrm>
          <a:prstGeom prst="straightConnector1">
            <a:avLst/>
          </a:prstGeom>
          <a:ln w="28575">
            <a:solidFill>
              <a:srgbClr val="66CC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3948466" y="2735557"/>
            <a:ext cx="1621905" cy="0"/>
          </a:xfrm>
          <a:prstGeom prst="straightConnector1">
            <a:avLst/>
          </a:prstGeom>
          <a:ln w="28575">
            <a:solidFill>
              <a:srgbClr val="66CC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5555381" y="2735557"/>
            <a:ext cx="848504" cy="0"/>
          </a:xfrm>
          <a:prstGeom prst="straightConnector1">
            <a:avLst/>
          </a:prstGeom>
          <a:ln w="2857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6403885" y="4309299"/>
            <a:ext cx="932733" cy="46242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 smtClean="0">
                <a:solidFill>
                  <a:srgbClr val="C00000"/>
                </a:solidFill>
                <a:latin typeface="Garamond" panose="02020404030301010803" pitchFamily="18" charset="0"/>
              </a:rPr>
              <a:t>Ack1</a:t>
            </a:r>
            <a:endParaRPr lang="fr-FR" sz="2000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6388895" y="2735557"/>
            <a:ext cx="947723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7336618" y="2730412"/>
            <a:ext cx="848504" cy="0"/>
          </a:xfrm>
          <a:prstGeom prst="straightConnector1">
            <a:avLst/>
          </a:prstGeom>
          <a:ln w="2857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01691" y="2447647"/>
            <a:ext cx="55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latin typeface="Garamond" panose="02020404030301010803" pitchFamily="18" charset="0"/>
              </a:rPr>
              <a:t>T=0</a:t>
            </a:r>
            <a:endParaRPr lang="fr-FR" sz="1600" b="1" dirty="0">
              <a:latin typeface="Garamond" panose="02020404030301010803" pitchFamily="18" charset="0"/>
            </a:endParaRPr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2303998" y="2983043"/>
            <a:ext cx="848504" cy="0"/>
          </a:xfrm>
          <a:prstGeom prst="straightConnector1">
            <a:avLst/>
          </a:prstGeom>
          <a:ln w="2857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3978446" y="3425105"/>
            <a:ext cx="848504" cy="0"/>
          </a:xfrm>
          <a:prstGeom prst="straightConnector1">
            <a:avLst/>
          </a:prstGeom>
          <a:ln w="2857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2341550" y="2730412"/>
            <a:ext cx="0" cy="252631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3152502" y="2740703"/>
            <a:ext cx="0" cy="252631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3963455" y="2773373"/>
            <a:ext cx="0" cy="651732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4811959" y="2750740"/>
            <a:ext cx="0" cy="651732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5547885" y="2750740"/>
            <a:ext cx="0" cy="1116497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H="1">
            <a:off x="6388893" y="2740702"/>
            <a:ext cx="0" cy="1568597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>
            <a:off x="7320802" y="2730412"/>
            <a:ext cx="0" cy="1568597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734636" y="2730412"/>
            <a:ext cx="0" cy="2601044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8185122" y="2730412"/>
            <a:ext cx="0" cy="2601044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V="1">
            <a:off x="697084" y="5331456"/>
            <a:ext cx="7488000" cy="0"/>
          </a:xfrm>
          <a:prstGeom prst="straightConnector1">
            <a:avLst/>
          </a:prstGeom>
          <a:ln w="28575">
            <a:prstDash val="dashDot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783651" y="2192503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Garamond" panose="02020404030301010803" pitchFamily="18" charset="0"/>
              </a:rPr>
              <a:t>Tx</a:t>
            </a:r>
            <a:r>
              <a:rPr lang="fr-FR" sz="2400" baseline="-25000" dirty="0" smtClean="0">
                <a:latin typeface="Garamond" panose="02020404030301010803" pitchFamily="18" charset="0"/>
              </a:rPr>
              <a:t>T2</a:t>
            </a:r>
            <a:endParaRPr lang="fr-FR" sz="2400" baseline="-25000" dirty="0">
              <a:latin typeface="Garamond" panose="02020404030301010803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176737" y="2192503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Garamond" panose="02020404030301010803" pitchFamily="18" charset="0"/>
              </a:rPr>
              <a:t>Tx</a:t>
            </a:r>
            <a:r>
              <a:rPr lang="fr-FR" sz="2400" baseline="-25000" dirty="0" smtClean="0">
                <a:latin typeface="Garamond" panose="02020404030301010803" pitchFamily="18" charset="0"/>
              </a:rPr>
              <a:t>T1</a:t>
            </a:r>
            <a:endParaRPr lang="fr-FR" sz="2400" baseline="-25000" dirty="0">
              <a:latin typeface="Garamond" panose="02020404030301010803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458099" y="2192503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Garamond" panose="02020404030301010803" pitchFamily="18" charset="0"/>
              </a:rPr>
              <a:t>Tx</a:t>
            </a:r>
            <a:r>
              <a:rPr lang="fr-FR" sz="2400" baseline="-25000" dirty="0" smtClean="0">
                <a:latin typeface="Garamond" panose="02020404030301010803" pitchFamily="18" charset="0"/>
              </a:rPr>
              <a:t>T3</a:t>
            </a:r>
            <a:endParaRPr lang="fr-FR" sz="2400" baseline="-25000" dirty="0">
              <a:latin typeface="Garamond" panose="02020404030301010803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547885" y="2192502"/>
            <a:ext cx="753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Garamond" panose="02020404030301010803" pitchFamily="18" charset="0"/>
              </a:rPr>
              <a:t>Tp</a:t>
            </a:r>
            <a:r>
              <a:rPr lang="fr-FR" sz="2400" baseline="-25000" dirty="0" smtClean="0">
                <a:latin typeface="Garamond" panose="02020404030301010803" pitchFamily="18" charset="0"/>
              </a:rPr>
              <a:t>T3</a:t>
            </a:r>
            <a:endParaRPr lang="fr-FR" sz="2400" baseline="-25000" dirty="0">
              <a:latin typeface="Garamond" panose="02020404030301010803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383876" y="2216815"/>
            <a:ext cx="9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Garamond" panose="02020404030301010803" pitchFamily="18" charset="0"/>
              </a:rPr>
              <a:t>Tx</a:t>
            </a:r>
            <a:r>
              <a:rPr lang="fr-FR" sz="2400" baseline="-25000" dirty="0" smtClean="0">
                <a:latin typeface="Garamond" panose="02020404030301010803" pitchFamily="18" charset="0"/>
              </a:rPr>
              <a:t>Ack1</a:t>
            </a:r>
            <a:endParaRPr lang="fr-FR" sz="2400" baseline="-25000" dirty="0">
              <a:latin typeface="Garamond" panose="02020404030301010803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302812" y="2192501"/>
            <a:ext cx="9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Garamond" panose="02020404030301010803" pitchFamily="18" charset="0"/>
              </a:rPr>
              <a:t>Tp</a:t>
            </a:r>
            <a:r>
              <a:rPr lang="fr-FR" sz="2400" baseline="-25000" dirty="0" smtClean="0">
                <a:latin typeface="Garamond" panose="02020404030301010803" pitchFamily="18" charset="0"/>
              </a:rPr>
              <a:t>Ack3</a:t>
            </a:r>
            <a:endParaRPr lang="fr-FR" sz="2400" baseline="-25000" dirty="0">
              <a:latin typeface="Garamond" panose="02020404030301010803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318989" y="2914475"/>
            <a:ext cx="753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Garamond" panose="02020404030301010803" pitchFamily="18" charset="0"/>
              </a:rPr>
              <a:t>Tp</a:t>
            </a:r>
            <a:r>
              <a:rPr lang="fr-FR" sz="2400" baseline="-25000" dirty="0" smtClean="0">
                <a:latin typeface="Garamond" panose="02020404030301010803" pitchFamily="18" charset="0"/>
              </a:rPr>
              <a:t>T1</a:t>
            </a:r>
            <a:endParaRPr lang="fr-FR" sz="2400" baseline="-25000" dirty="0">
              <a:latin typeface="Garamond" panose="02020404030301010803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021457" y="2914475"/>
            <a:ext cx="753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Garamond" panose="02020404030301010803" pitchFamily="18" charset="0"/>
              </a:rPr>
              <a:t>Tp</a:t>
            </a:r>
            <a:r>
              <a:rPr lang="fr-FR" sz="2400" baseline="-25000" dirty="0" smtClean="0">
                <a:latin typeface="Garamond" panose="02020404030301010803" pitchFamily="18" charset="0"/>
              </a:rPr>
              <a:t>T2</a:t>
            </a:r>
            <a:endParaRPr lang="fr-FR" sz="2400" baseline="-25000" dirty="0">
              <a:latin typeface="Garamond" panose="02020404030301010803" pitchFamily="18" charset="0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2695855" y="5629038"/>
            <a:ext cx="4038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Durée d’expédition confirmée d'une trame </a:t>
            </a:r>
            <a:endParaRPr lang="fr-FR" dirty="0"/>
          </a:p>
        </p:txBody>
      </p:sp>
      <p:sp>
        <p:nvSpPr>
          <p:cNvPr id="90" name="TextBox 89"/>
          <p:cNvSpPr txBox="1"/>
          <p:nvPr/>
        </p:nvSpPr>
        <p:spPr>
          <a:xfrm>
            <a:off x="8512223" y="2824057"/>
            <a:ext cx="3614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latin typeface="Garamond" panose="02020404030301010803" pitchFamily="18" charset="0"/>
              </a:rPr>
              <a:t>Tx</a:t>
            </a:r>
            <a:r>
              <a:rPr lang="fr-FR" sz="1600" baseline="-25000" dirty="0" err="1" smtClean="0">
                <a:latin typeface="Garamond" panose="02020404030301010803" pitchFamily="18" charset="0"/>
              </a:rPr>
              <a:t>Ti</a:t>
            </a:r>
            <a:r>
              <a:rPr lang="fr-FR" sz="1600" dirty="0">
                <a:latin typeface="Garamond" panose="02020404030301010803" pitchFamily="18" charset="0"/>
              </a:rPr>
              <a:t> </a:t>
            </a:r>
            <a:r>
              <a:rPr lang="fr-FR" sz="1600" dirty="0" smtClean="0">
                <a:latin typeface="Garamond" panose="02020404030301010803" pitchFamily="18" charset="0"/>
              </a:rPr>
              <a:t>= Temps de transmission de la trame i</a:t>
            </a:r>
            <a:endParaRPr lang="fr-FR" sz="1600" baseline="-25000" dirty="0">
              <a:latin typeface="Garamond" panose="02020404030301010803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513220" y="3186446"/>
            <a:ext cx="35804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latin typeface="Garamond" panose="02020404030301010803" pitchFamily="18" charset="0"/>
              </a:rPr>
              <a:t>Tp</a:t>
            </a:r>
            <a:r>
              <a:rPr lang="fr-FR" sz="1600" baseline="-25000" dirty="0" err="1" smtClean="0">
                <a:latin typeface="Garamond" panose="02020404030301010803" pitchFamily="18" charset="0"/>
              </a:rPr>
              <a:t>Ti</a:t>
            </a:r>
            <a:r>
              <a:rPr lang="fr-FR" sz="1600" dirty="0" smtClean="0">
                <a:latin typeface="Garamond" panose="02020404030301010803" pitchFamily="18" charset="0"/>
              </a:rPr>
              <a:t> = Temps de propagation de la trame i</a:t>
            </a:r>
            <a:endParaRPr lang="fr-FR" sz="1600" baseline="-25000" dirty="0">
              <a:latin typeface="Garamond" panose="02020404030301010803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8512223" y="3598236"/>
            <a:ext cx="34467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latin typeface="Garamond" panose="02020404030301010803" pitchFamily="18" charset="0"/>
              </a:rPr>
              <a:t>Tx</a:t>
            </a:r>
            <a:r>
              <a:rPr lang="fr-FR" sz="1600" baseline="-25000" dirty="0" err="1" smtClean="0">
                <a:latin typeface="Garamond" panose="02020404030301010803" pitchFamily="18" charset="0"/>
              </a:rPr>
              <a:t>Ack</a:t>
            </a:r>
            <a:r>
              <a:rPr lang="fr-FR" sz="1600" dirty="0" smtClean="0">
                <a:latin typeface="Garamond" panose="02020404030301010803" pitchFamily="18" charset="0"/>
              </a:rPr>
              <a:t> = Temps de transmission de l’</a:t>
            </a:r>
            <a:r>
              <a:rPr lang="fr-FR" sz="1600" dirty="0" err="1" smtClean="0">
                <a:latin typeface="Garamond" panose="02020404030301010803" pitchFamily="18" charset="0"/>
              </a:rPr>
              <a:t>Ack</a:t>
            </a:r>
            <a:endParaRPr lang="fr-FR" sz="1600" baseline="-25000" dirty="0">
              <a:latin typeface="Garamond" panose="02020404030301010803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8512223" y="3983494"/>
            <a:ext cx="3353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latin typeface="Garamond" panose="02020404030301010803" pitchFamily="18" charset="0"/>
              </a:rPr>
              <a:t>Tp</a:t>
            </a:r>
            <a:r>
              <a:rPr lang="fr-FR" sz="1600" baseline="-25000" dirty="0" err="1" smtClean="0">
                <a:latin typeface="Garamond" panose="02020404030301010803" pitchFamily="18" charset="0"/>
              </a:rPr>
              <a:t>Ack</a:t>
            </a:r>
            <a:r>
              <a:rPr lang="fr-FR" sz="1600" dirty="0" smtClean="0">
                <a:latin typeface="Garamond" panose="02020404030301010803" pitchFamily="18" charset="0"/>
              </a:rPr>
              <a:t> = Temps de propagation de l’</a:t>
            </a:r>
            <a:r>
              <a:rPr lang="fr-FR" sz="1600" dirty="0" err="1" smtClean="0">
                <a:latin typeface="Garamond" panose="02020404030301010803" pitchFamily="18" charset="0"/>
              </a:rPr>
              <a:t>Ack</a:t>
            </a:r>
            <a:endParaRPr lang="fr-FR" sz="1600" baseline="-25000" dirty="0">
              <a:latin typeface="Garamond" panose="02020404030301010803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002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4" grpId="0" animBg="1"/>
      <p:bldP spid="46" grpId="0" animBg="1"/>
      <p:bldP spid="57" grpId="0" animBg="1"/>
      <p:bldP spid="60" grpId="0"/>
      <p:bldP spid="80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1" grpId="0"/>
      <p:bldP spid="90" grpId="0"/>
      <p:bldP spid="91" grpId="0"/>
      <p:bldP spid="92" grpId="0"/>
      <p:bldP spid="9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391213" y="40815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 smtClean="0">
                <a:solidFill>
                  <a:srgbClr val="002060"/>
                </a:solidFill>
                <a:latin typeface="Garamond" panose="02020404030301010803" pitchFamily="18" charset="0"/>
              </a:rPr>
              <a:t>TD1- Commutation</a:t>
            </a:r>
          </a:p>
          <a:p>
            <a:pPr algn="l"/>
            <a:r>
              <a:rPr lang="fr-FR" sz="3500" dirty="0" smtClean="0">
                <a:solidFill>
                  <a:srgbClr val="002060"/>
                </a:solidFill>
                <a:latin typeface="Garamond" panose="02020404030301010803" pitchFamily="18" charset="0"/>
              </a:rPr>
              <a:t>Question 1</a:t>
            </a:r>
            <a:endParaRPr lang="fr-FR" sz="35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47473" y="1807387"/>
            <a:ext cx="73304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Quelle est la durée nécessaire à l'expédition confirmée d'une trame 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7472" y="2250386"/>
            <a:ext cx="10385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Durée</a:t>
            </a:r>
            <a:r>
              <a:rPr kumimoji="0" lang="fr-FR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 d’expédition d’une trame confirmée = temps nécessaire pour émettre trois trames et recevoir un </a:t>
            </a:r>
            <a:r>
              <a:rPr kumimoji="0" lang="fr-FR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Ack</a:t>
            </a:r>
            <a:r>
              <a:rPr kumimoji="0" lang="fr-FR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 </a:t>
            </a:r>
            <a:endParaRPr kumimoji="0" lang="fr-F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789691" y="2710929"/>
            <a:ext cx="39393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Durée</a:t>
            </a:r>
            <a:r>
              <a:rPr kumimoji="0" lang="fr-FR" b="1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 = 3Tx</a:t>
            </a:r>
            <a:r>
              <a:rPr kumimoji="0" lang="fr-FR" b="1" i="0" u="none" strike="noStrike" cap="none" normalizeH="0" baseline="-25000" dirty="0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trame</a:t>
            </a:r>
            <a:r>
              <a:rPr kumimoji="0" lang="fr-FR" b="1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 + 2xTp + </a:t>
            </a:r>
            <a:r>
              <a:rPr kumimoji="0" lang="fr-FR" b="1" i="0" u="none" strike="noStrike" cap="none" normalizeH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Tx</a:t>
            </a:r>
            <a:r>
              <a:rPr kumimoji="0" lang="fr-FR" b="1" i="0" u="none" strike="noStrike" cap="none" normalizeH="0" baseline="-2500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Ack</a:t>
            </a:r>
            <a:endParaRPr kumimoji="0" lang="fr-FR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364104" y="3283718"/>
                <a:ext cx="3001976" cy="524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𝑡𝑟𝑎𝑚𝑒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𝑇𝑎𝑖𝑙𝑙𝑒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𝑙𝑎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𝑡𝑟𝑎𝑚𝑒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𝑏𝑖𝑡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104" y="3283718"/>
                <a:ext cx="3001976" cy="52411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1364104" y="3955170"/>
                <a:ext cx="1905457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𝑡𝑟𝑎𝑚𝑒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1024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104" y="3955170"/>
                <a:ext cx="1905457" cy="52039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364104" y="4728922"/>
                <a:ext cx="23206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𝑇𝑥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𝑡𝑟𝑎𝑚𝑒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=512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fr-FR" dirty="0" smtClean="0"/>
                  <a:t>s</a:t>
                </a:r>
                <a:endParaRPr lang="fr-FR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104" y="4728922"/>
                <a:ext cx="2320635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3684" t="-28889" r="-5263" b="-5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/>
          <p:cNvCxnSpPr/>
          <p:nvPr/>
        </p:nvCxnSpPr>
        <p:spPr>
          <a:xfrm flipH="1">
            <a:off x="4676931" y="3190116"/>
            <a:ext cx="118" cy="1815805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987900" y="3283718"/>
                <a:ext cx="2486002" cy="536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𝐴𝑐𝑘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𝑇𝑎𝑖𝑙𝑙𝑒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𝐴𝑐𝑘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𝑏𝑖𝑡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900" y="3283718"/>
                <a:ext cx="2486002" cy="53642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4987900" y="3946191"/>
                <a:ext cx="1675843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𝐴𝑐𝑘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64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900" y="3946191"/>
                <a:ext cx="1675843" cy="52039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4987900" y="4728922"/>
                <a:ext cx="20156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𝐴𝑐𝑘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=32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  <m:r>
                        <m:rPr>
                          <m:nor/>
                        </m:rPr>
                        <a:rPr lang="fr-FR" dirty="0" smtClean="0"/>
                        <m:t>s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900" y="4728922"/>
                <a:ext cx="2015680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2115" t="-4444" r="-1511" b="-17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/>
          <p:cNvCxnSpPr/>
          <p:nvPr/>
        </p:nvCxnSpPr>
        <p:spPr>
          <a:xfrm flipH="1">
            <a:off x="7992255" y="3283718"/>
            <a:ext cx="118" cy="1815805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8303106" y="3287496"/>
                <a:ext cx="3046603" cy="5671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𝐷𝑖𝑠𝑡𝑎𝑛𝑐𝑒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𝑉𝑖𝑡𝑒𝑠𝑠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𝑝𝑟𝑜𝑝𝑎𝑔𝑎𝑡𝑖𝑜𝑛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3106" y="3287496"/>
                <a:ext cx="3046603" cy="567143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8303106" y="3955170"/>
                <a:ext cx="1613775" cy="572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10 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 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 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3106" y="3955170"/>
                <a:ext cx="1613775" cy="57265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8332092" y="4728922"/>
                <a:ext cx="2027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=33,33×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  <m:r>
                        <m:rPr>
                          <m:nor/>
                        </m:rPr>
                        <a:rPr lang="fr-FR" dirty="0" smtClean="0"/>
                        <m:t>s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092" y="4728922"/>
                <a:ext cx="2027350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2410" t="-4444" r="-1807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/>
          <p:cNvSpPr/>
          <p:nvPr/>
        </p:nvSpPr>
        <p:spPr>
          <a:xfrm>
            <a:off x="3789690" y="5338353"/>
            <a:ext cx="39393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Durée</a:t>
            </a:r>
            <a:r>
              <a:rPr kumimoji="0" lang="fr-FR" b="1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 = 3Tx</a:t>
            </a:r>
            <a:r>
              <a:rPr kumimoji="0" lang="fr-FR" b="1" i="0" u="none" strike="noStrike" cap="none" normalizeH="0" baseline="-25000" dirty="0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trame</a:t>
            </a:r>
            <a:r>
              <a:rPr kumimoji="0" lang="fr-FR" b="1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 + 2xTp + </a:t>
            </a:r>
            <a:r>
              <a:rPr kumimoji="0" lang="fr-FR" b="1" i="0" u="none" strike="noStrike" cap="none" normalizeH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Tx</a:t>
            </a:r>
            <a:r>
              <a:rPr kumimoji="0" lang="fr-FR" b="1" i="0" u="none" strike="noStrike" cap="none" normalizeH="0" baseline="-2500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Ack</a:t>
            </a:r>
            <a:endParaRPr kumimoji="0" lang="fr-FR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4123564" y="5859438"/>
                <a:ext cx="57933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𝑢𝑟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=3×512×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  <m:r>
                        <a:rPr lang="fr-F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×33,33×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32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564" y="5859438"/>
                <a:ext cx="5793317" cy="276999"/>
              </a:xfrm>
              <a:prstGeom prst="rect">
                <a:avLst/>
              </a:prstGeom>
              <a:blipFill rotWithShape="0">
                <a:blip r:embed="rId15"/>
                <a:stretch>
                  <a:fillRect l="-421" t="-4348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/>
              <p:cNvSpPr txBox="1"/>
              <p:nvPr/>
            </p:nvSpPr>
            <p:spPr>
              <a:xfrm>
                <a:off x="4123564" y="6319981"/>
                <a:ext cx="2670731" cy="27699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𝑢𝑟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=1634,66×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564" y="6319981"/>
                <a:ext cx="2670731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1361" t="-2128" r="-454" b="-6383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037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3" grpId="0"/>
      <p:bldP spid="43" grpId="0"/>
      <p:bldP spid="45" grpId="0"/>
      <p:bldP spid="48" grpId="0"/>
      <p:bldP spid="49" grpId="0"/>
      <p:bldP spid="50" grpId="0"/>
      <p:bldP spid="52" grpId="0"/>
      <p:bldP spid="65" grpId="0"/>
      <p:bldP spid="67" grpId="0"/>
      <p:bldP spid="70" grpId="0"/>
      <p:bldP spid="72" grpId="0"/>
      <p:bldP spid="7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391213" y="40815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 smtClean="0">
                <a:solidFill>
                  <a:srgbClr val="002060"/>
                </a:solidFill>
                <a:latin typeface="Garamond" panose="02020404030301010803" pitchFamily="18" charset="0"/>
              </a:rPr>
              <a:t>TD1- Commutation</a:t>
            </a:r>
          </a:p>
          <a:p>
            <a:pPr algn="l"/>
            <a:r>
              <a:rPr lang="fr-FR" sz="3500" dirty="0" smtClean="0">
                <a:solidFill>
                  <a:srgbClr val="002060"/>
                </a:solidFill>
                <a:latin typeface="Garamond" panose="02020404030301010803" pitchFamily="18" charset="0"/>
              </a:rPr>
              <a:t>Question 2 (1/2)</a:t>
            </a:r>
            <a:endParaRPr lang="fr-FR" sz="35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47473" y="1807387"/>
            <a:ext cx="73304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01675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Quel est le taux d'occupation de la voie 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7473" y="2290617"/>
            <a:ext cx="10385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Taux d’occupation = Efficacité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2210993" y="2733616"/>
                <a:ext cx="3929024" cy="573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𝑎𝑢𝑥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𝑜𝑐𝑐𝑢𝑝𝑎𝑡𝑖𝑜𝑛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𝑢𝑡𝑖𝑙𝑒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𝑜𝑟𝑖𝑞𝑢𝑒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993" y="2733616"/>
                <a:ext cx="3929024" cy="57394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210993" y="3490294"/>
                <a:ext cx="6690678" cy="5254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𝑎𝑢𝑥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𝑜𝑐𝑐𝑢𝑝𝑎𝑡𝑖𝑜𝑛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𝑇𝑒𝑚𝑝𝑠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𝑡𝑟𝑎𝑛𝑠𝑚𝑖𝑠𝑠𝑖𝑜𝑛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𝑑𝑒𝑠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𝑑𝑜𝑛𝑛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𝑢𝑡𝑖𝑙𝑒𝑠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𝑙𝑎𝑖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993" y="3490294"/>
                <a:ext cx="6690678" cy="5254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210993" y="4533676"/>
                <a:ext cx="7803867" cy="5850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𝑎𝑢𝑥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𝑜𝑐𝑐𝑢𝑝𝑎𝑡𝑖𝑜𝑛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𝑇𝑒𝑚𝑝𝑠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𝑚𝑖𝑠𝑠𝑖𝑜𝑛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𝑑𝑒𝑠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𝑑𝑜𝑛𝑛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𝑢𝑡𝑖𝑙𝑒𝑠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𝑡𝑟𝑜𝑖𝑠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𝑡𝑟𝑎𝑚𝑒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𝐷𝑢𝑟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𝑑𝑖𝑡𝑖𝑜𝑛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𝑢𝑛𝑒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𝑡𝑟𝑎𝑚𝑒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𝑐𝑜𝑛𝑓𝑖𝑟𝑚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993" y="4533676"/>
                <a:ext cx="7803867" cy="5850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24152" y="5337874"/>
                <a:ext cx="9999853" cy="536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𝑇𝑒𝑚𝑝𝑠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𝑡𝑟𝑎𝑛𝑠𝑚𝑖𝑠𝑠𝑖𝑜𝑛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𝑑𝑜𝑛𝑛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𝑢𝑡𝑖𝑙𝑒𝑠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𝑢𝑛𝑒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𝑡𝑟𝑎𝑚𝑒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𝑇𝑎𝑖𝑙𝑙𝑒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𝑑𝑒𝑠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𝑑𝑜𝑛𝑛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𝑢𝑡𝑖𝑙𝑒𝑠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𝑢𝑛𝑒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𝑡𝑟𝑎𝑚𝑒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𝑏𝑖𝑡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152" y="5337874"/>
                <a:ext cx="9999853" cy="53642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947473" y="4066106"/>
            <a:ext cx="10385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Selon notre</a:t>
            </a:r>
            <a:r>
              <a:rPr kumimoji="0" lang="fr-FR" b="1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 protocole de communication</a:t>
            </a:r>
            <a:endParaRPr kumimoji="0" lang="fr-FR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24152" y="6021144"/>
                <a:ext cx="8348760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𝑇𝑒𝑚𝑝𝑠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𝑡𝑟𝑎𝑛𝑠𝑚𝑖𝑠𝑠𝑖𝑜𝑛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𝑑𝑜𝑛𝑛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𝑢𝑡𝑖𝑙𝑒𝑠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𝑢𝑛𝑒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𝑡𝑟𝑎𝑚𝑒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944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=472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152" y="6021144"/>
                <a:ext cx="8348760" cy="52039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139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2" grpId="0"/>
      <p:bldP spid="20" grpId="0"/>
      <p:bldP spid="22" grpId="0"/>
      <p:bldP spid="6" grpId="0"/>
      <p:bldP spid="25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391213" y="40815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 smtClean="0">
                <a:solidFill>
                  <a:srgbClr val="002060"/>
                </a:solidFill>
                <a:latin typeface="Garamond" panose="02020404030301010803" pitchFamily="18" charset="0"/>
              </a:rPr>
              <a:t>TD1- Commutation</a:t>
            </a:r>
          </a:p>
          <a:p>
            <a:pPr algn="l"/>
            <a:r>
              <a:rPr lang="fr-FR" sz="3500" dirty="0" smtClean="0">
                <a:solidFill>
                  <a:srgbClr val="002060"/>
                </a:solidFill>
                <a:latin typeface="Garamond" panose="02020404030301010803" pitchFamily="18" charset="0"/>
              </a:rPr>
              <a:t>Question 2 (2/2)</a:t>
            </a:r>
            <a:endParaRPr lang="fr-FR" sz="35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47473" y="1807387"/>
            <a:ext cx="73304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01675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Quel est le taux d'occupation de la voie 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7473" y="2290617"/>
            <a:ext cx="10385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Taux d’occupation = Efficacité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238084" y="2847361"/>
                <a:ext cx="7803867" cy="5850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𝑎𝑢𝑥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𝑜𝑐𝑐𝑢𝑝𝑎𝑡𝑖𝑜𝑛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𝑇𝑒𝑚𝑝𝑠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𝑚𝑖𝑠𝑠𝑖𝑜𝑛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𝑑𝑒𝑠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𝑑𝑜𝑛𝑛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𝑢𝑡𝑖𝑙𝑒𝑠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𝑡𝑟𝑜𝑖𝑠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𝑡𝑟𝑎𝑚𝑒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𝐷𝑢𝑟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𝑑𝑖𝑡𝑖𝑜𝑛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𝑢𝑛𝑒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𝑡𝑟𝑎𝑚𝑒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𝑐𝑜𝑛𝑓𝑖𝑟𝑚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084" y="2847361"/>
                <a:ext cx="7803867" cy="5850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38084" y="3737439"/>
                <a:ext cx="6784742" cy="5850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𝑇𝑎𝑢𝑥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𝑜𝑐𝑐𝑢𝑝𝑎𝑡𝑖𝑜𝑛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𝑇𝑎𝑖𝑙𝑙𝑒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𝑑𝑒𝑠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𝑑𝑜𝑛𝑛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𝑢𝑡𝑖𝑙𝑒𝑠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𝑢𝑛𝑒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𝑡𝑟𝑎𝑚𝑒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𝐷𝑢𝑟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𝑑𝑖𝑡𝑖𝑜𝑛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𝑢𝑛𝑒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𝑡𝑟𝑎𝑚𝑒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𝑐𝑜𝑛𝑓𝑖𝑟𝑚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084" y="3737439"/>
                <a:ext cx="6784742" cy="5850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238084" y="4627517"/>
                <a:ext cx="3865353" cy="5850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𝑇𝑎𝑢𝑥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𝑜𝑐𝑐𝑢𝑝𝑎𝑡𝑖𝑜𝑛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472 ×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</m:sup>
                          </m:sSup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1634,66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084" y="4627517"/>
                <a:ext cx="3865353" cy="58509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238083" y="5355650"/>
                <a:ext cx="2932469" cy="27699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𝑇𝑎𝑢𝑥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𝑜𝑐𝑐𝑢𝑝𝑎𝑡𝑖𝑜𝑛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=86,6%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083" y="5355650"/>
                <a:ext cx="2932469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1035" t="-2128" r="-1656" b="-31915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7681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22" grpId="0"/>
      <p:bldP spid="6" grpId="0"/>
      <p:bldP spid="11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391213" y="40815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 smtClean="0">
                <a:solidFill>
                  <a:srgbClr val="002060"/>
                </a:solidFill>
                <a:latin typeface="Garamond" panose="02020404030301010803" pitchFamily="18" charset="0"/>
              </a:rPr>
              <a:t>TD1- Commutation</a:t>
            </a:r>
          </a:p>
          <a:p>
            <a:pPr algn="l"/>
            <a:r>
              <a:rPr lang="fr-FR" sz="3500" dirty="0" smtClean="0">
                <a:solidFill>
                  <a:srgbClr val="002060"/>
                </a:solidFill>
                <a:latin typeface="Garamond" panose="02020404030301010803" pitchFamily="18" charset="0"/>
              </a:rPr>
              <a:t>Question </a:t>
            </a:r>
            <a:r>
              <a:rPr lang="fr-FR" sz="3500" dirty="0" smtClean="0">
                <a:solidFill>
                  <a:srgbClr val="002060"/>
                </a:solidFill>
                <a:latin typeface="Garamond" panose="02020404030301010803" pitchFamily="18" charset="0"/>
              </a:rPr>
              <a:t>3 (1/2</a:t>
            </a:r>
            <a:r>
              <a:rPr lang="fr-FR" sz="3500" dirty="0" smtClean="0">
                <a:solidFill>
                  <a:srgbClr val="002060"/>
                </a:solidFill>
                <a:latin typeface="Garamond" panose="02020404030301010803" pitchFamily="18" charset="0"/>
              </a:rPr>
              <a:t>)</a:t>
            </a:r>
            <a:endParaRPr lang="fr-FR" sz="35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47472" y="1807387"/>
            <a:ext cx="104825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01675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fr-FR" dirty="0">
                <a:latin typeface="Garamond" panose="02020404030301010803" pitchFamily="18" charset="0"/>
                <a:ea typeface="Times New Roman" panose="02020603050405020304" pitchFamily="18" charset="0"/>
              </a:rPr>
              <a:t>Un message de 1 Mo est envoyé de A vers B par utilisation du protocole précédent. Quelle est la durée totale de la transmission de ce message ?</a:t>
            </a:r>
            <a:endParaRPr lang="fr-FR" sz="1050" dirty="0">
              <a:latin typeface="Garamond" panose="02020404030301010803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10891" y="2605573"/>
            <a:ext cx="10385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Détermination du nombre de</a:t>
            </a:r>
            <a:r>
              <a:rPr kumimoji="0" lang="fr-FR" b="1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 trames nécessaires</a:t>
            </a:r>
            <a:endParaRPr kumimoji="0" lang="fr-FR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60755" y="3140905"/>
            <a:ext cx="31547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Taille du fichier = 1Mo = 8Mbits</a:t>
            </a:r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260755" y="3707058"/>
                <a:ext cx="6207084" cy="5364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𝑜𝑚𝑏𝑟𝑒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𝑡𝑟𝑎𝑚𝑒𝑠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𝑇𝑎𝑖𝑙𝑙𝑒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𝑓𝑖𝑐h𝑖𝑒𝑟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𝑇𝑎𝑖𝑙𝑙𝑒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𝑑𝑒𝑠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𝑑𝑜𝑛𝑛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𝑢𝑡𝑖𝑙𝑒𝑠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𝑢𝑛𝑒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𝑡𝑟𝑎𝑚𝑒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755" y="3707058"/>
                <a:ext cx="6207084" cy="53649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260755" y="4461146"/>
                <a:ext cx="3055708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𝑜𝑚𝑏𝑟𝑒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𝑡𝑟𝑎𝑚𝑒𝑠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944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755" y="4461146"/>
                <a:ext cx="3055708" cy="55579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1260755" y="5234533"/>
                <a:ext cx="459940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𝑜𝑚𝑏𝑟𝑒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𝑡𝑟𝑎𝑚𝑒𝑠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8474,5=8475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𝑡𝑟𝑎𝑚𝑒𝑠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755" y="5234533"/>
                <a:ext cx="4599401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796" r="-663" b="-88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686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10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391213" y="40815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 smtClean="0">
                <a:solidFill>
                  <a:srgbClr val="002060"/>
                </a:solidFill>
                <a:latin typeface="Garamond" panose="02020404030301010803" pitchFamily="18" charset="0"/>
              </a:rPr>
              <a:t>TD1- Commutation</a:t>
            </a:r>
          </a:p>
          <a:p>
            <a:pPr algn="l"/>
            <a:r>
              <a:rPr lang="fr-FR" sz="3500" dirty="0" smtClean="0">
                <a:solidFill>
                  <a:srgbClr val="002060"/>
                </a:solidFill>
                <a:latin typeface="Garamond" panose="02020404030301010803" pitchFamily="18" charset="0"/>
              </a:rPr>
              <a:t>Question </a:t>
            </a:r>
            <a:r>
              <a:rPr lang="fr-FR" sz="3500" dirty="0" smtClean="0">
                <a:solidFill>
                  <a:srgbClr val="002060"/>
                </a:solidFill>
                <a:latin typeface="Garamond" panose="02020404030301010803" pitchFamily="18" charset="0"/>
              </a:rPr>
              <a:t>3 </a:t>
            </a:r>
            <a:r>
              <a:rPr lang="fr-FR" sz="3500" dirty="0" smtClean="0">
                <a:solidFill>
                  <a:srgbClr val="002060"/>
                </a:solidFill>
                <a:latin typeface="Garamond" panose="02020404030301010803" pitchFamily="18" charset="0"/>
              </a:rPr>
              <a:t>(2/2)</a:t>
            </a:r>
            <a:endParaRPr lang="fr-FR" sz="35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47472" y="1807387"/>
            <a:ext cx="104825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01675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fr-FR" dirty="0">
                <a:latin typeface="Garamond" panose="02020404030301010803" pitchFamily="18" charset="0"/>
                <a:ea typeface="Times New Roman" panose="02020603050405020304" pitchFamily="18" charset="0"/>
              </a:rPr>
              <a:t>Un message de 1 Mo est envoyé de A vers B par utilisation du protocole précédent. Quelle est la durée totale de la transmission de ce message ?</a:t>
            </a:r>
            <a:endParaRPr lang="fr-FR" sz="1050" dirty="0">
              <a:latin typeface="Garamond" panose="02020404030301010803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10891" y="2605573"/>
            <a:ext cx="10385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Détermination du nombre de</a:t>
            </a:r>
            <a:r>
              <a:rPr kumimoji="0" lang="fr-FR" b="1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 fenêtres d’émission</a:t>
            </a:r>
            <a:endParaRPr kumimoji="0" lang="fr-FR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816255" y="3255645"/>
                <a:ext cx="4517712" cy="5745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𝑜𝑚𝑏𝑟𝑒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𝑓𝑒𝑛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ê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𝑡𝑟𝑒𝑠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𝑁𝑜𝑚𝑏𝑟𝑒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𝑡𝑟𝑎𝑚𝑒𝑠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𝑡𝑎𝑖𝑙𝑙𝑒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𝑢𝑛𝑒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𝑓𝑒𝑛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𝑡𝑟𝑒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55" y="3255645"/>
                <a:ext cx="4517712" cy="57451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816255" y="4110901"/>
                <a:ext cx="4586577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𝑜𝑚𝑏𝑟𝑒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𝑡𝑟𝑎𝑚𝑒𝑠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8475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=2825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𝑓𝑒𝑛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ê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𝑡𝑟𝑒𝑠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55" y="4110901"/>
                <a:ext cx="4586577" cy="52597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816255" y="4998379"/>
                <a:ext cx="108417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𝑢𝑟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𝑡𝑟𝑎𝑛𝑠𝑚𝑖𝑠𝑠𝑖𝑜𝑛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𝑚𝑒𝑠𝑠𝑎𝑔𝑒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𝑁𝑜𝑚𝑏𝑟𝑒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𝑓𝑒𝑛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ê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𝑡𝑟𝑒𝑠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𝐷𝑢𝑟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𝑑𝑖𝑡𝑖𝑜𝑛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𝑢𝑛𝑒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𝑡𝑟𝑎𝑚𝑒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𝑐𝑜𝑛𝑓𝑖𝑟𝑚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55" y="4998379"/>
                <a:ext cx="10841750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56" t="-6667" r="-337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816255" y="5636878"/>
                <a:ext cx="64161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𝑢𝑟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𝑡𝑟𝑎𝑛𝑠𝑚𝑖𝑠𝑠𝑖𝑜𝑛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𝑚𝑒𝑠𝑠𝑎𝑔𝑒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=2825 ×1634,66×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55" y="5636878"/>
                <a:ext cx="6416115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475" t="-4444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816255" y="6236322"/>
                <a:ext cx="4689682" cy="27699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𝑢𝑟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𝑡𝑟𝑎𝑛𝑠𝑚𝑖𝑠𝑠𝑖𝑜𝑛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𝑚𝑒𝑠𝑠𝑎𝑔𝑒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=4514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55" y="6236322"/>
                <a:ext cx="4689682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649" r="-130" b="-23404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18DFE-188D-409B-B9D0-DC22D9F65A0B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470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12" grpId="0"/>
      <p:bldP spid="13" grpId="0"/>
      <p:bldP spid="14" grpId="0"/>
      <p:bldP spid="11" grpId="0"/>
      <p:bldP spid="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678</Words>
  <Application>Microsoft Office PowerPoint</Application>
  <PresentationFormat>Widescreen</PresentationFormat>
  <Paragraphs>127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Garamond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Rahma</dc:creator>
  <cp:lastModifiedBy>Rahma</cp:lastModifiedBy>
  <cp:revision>19</cp:revision>
  <dcterms:created xsi:type="dcterms:W3CDTF">2020-11-08T19:00:33Z</dcterms:created>
  <dcterms:modified xsi:type="dcterms:W3CDTF">2020-11-08T21:25:44Z</dcterms:modified>
</cp:coreProperties>
</file>