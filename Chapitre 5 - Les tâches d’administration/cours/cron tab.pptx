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1" r:id="rId5"/>
    <p:sldId id="297" r:id="rId6"/>
    <p:sldId id="263" r:id="rId7"/>
    <p:sldId id="298" r:id="rId8"/>
    <p:sldId id="300" r:id="rId9"/>
    <p:sldId id="299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</p:sldIdLst>
  <p:sldSz cx="13320713" cy="10080625"/>
  <p:notesSz cx="6858000" cy="9144000"/>
  <p:embeddedFontLst>
    <p:embeddedFont>
      <p:font typeface="Bodoni" panose="020B0604020202020204" charset="0"/>
      <p:regular r:id="rId23"/>
      <p:bold r:id="rId24"/>
      <p:italic r:id="rId25"/>
      <p:boldItalic r:id="rId26"/>
    </p:embeddedFont>
    <p:embeddedFont>
      <p:font typeface="Helvetica Neue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5" roundtripDataSignature="AMtx7miwcAWSxgFvl/1gmhgQlHnNtPK1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BF4BE3-F381-4AE4-9D4D-7CC0099F43B4}">
  <a:tblStyle styleId="{5DBF4BE3-F381-4AE4-9D4D-7CC0099F43B4}" styleName="Table_0">
    <a:wholeTbl>
      <a:tcTxStyle b="off" i="off">
        <a:font>
          <a:latin typeface="Bodoni SvtyTwo ITC TT-Book"/>
          <a:ea typeface="Bodoni SvtyTwo ITC TT-Book"/>
          <a:cs typeface="Bodoni SvtyTwo ITC TT-Book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6" autoAdjust="0"/>
    <p:restoredTop sz="94671"/>
  </p:normalViewPr>
  <p:slideViewPr>
    <p:cSldViewPr snapToGrid="0">
      <p:cViewPr varScale="1">
        <p:scale>
          <a:sx n="48" d="100"/>
          <a:sy n="48" d="100"/>
        </p:scale>
        <p:origin x="15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Relationship Id="rId8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71635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691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7823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5433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9909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1322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62" b="0" i="0" u="none" strike="noStrike" cap="none" dirty="0" err="1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Cron</a:t>
            </a: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 est un démon, il tourne donc en tâche de fond du système. Il peut donc être arrêté, démarré ou redémarrer</a:t>
            </a:r>
            <a:endParaRPr dirty="0"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4213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0443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L'astérisque (*) est utilisé pour faire correspondre toutes les valeurs possibles d'un champ. Par exemple, un astérisque utilisé dans le champ heure équivaudrait à chaque heure ou un astérisque dans le champ mois équivaudrait à chaque mois.</a:t>
            </a:r>
          </a:p>
          <a:p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le nom d'utilisateur est facultatif (disponible uniquement s'il s'agit du fichier </a:t>
            </a:r>
            <a:r>
              <a:rPr lang="fr-FR" sz="2262" b="0" i="0" u="none" strike="noStrike" cap="none" dirty="0" err="1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crontab</a:t>
            </a: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 système)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4545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2511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1472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- Centré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1"/>
          <p:cNvSpPr txBox="1">
            <a:spLocks noGrp="1"/>
          </p:cNvSpPr>
          <p:nvPr>
            <p:ph type="title"/>
          </p:nvPr>
        </p:nvSpPr>
        <p:spPr>
          <a:xfrm>
            <a:off x="520341" y="3793360"/>
            <a:ext cx="12280032" cy="249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sous-titre">
  <p:cSld name="Titre et sous-titr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42"/>
          <p:cNvCxnSpPr/>
          <p:nvPr/>
        </p:nvCxnSpPr>
        <p:spPr>
          <a:xfrm>
            <a:off x="520341" y="6812297"/>
            <a:ext cx="12290944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6" name="Google Shape;16;p42"/>
          <p:cNvCxnSpPr/>
          <p:nvPr/>
        </p:nvCxnSpPr>
        <p:spPr>
          <a:xfrm>
            <a:off x="520341" y="4226512"/>
            <a:ext cx="12291524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7" name="Google Shape;17;p42"/>
          <p:cNvSpPr txBox="1">
            <a:spLocks noGrp="1"/>
          </p:cNvSpPr>
          <p:nvPr>
            <p:ph type="body" idx="1"/>
          </p:nvPr>
        </p:nvSpPr>
        <p:spPr>
          <a:xfrm>
            <a:off x="520341" y="3640622"/>
            <a:ext cx="7375824" cy="48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 i="1"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body" idx="2"/>
          </p:nvPr>
        </p:nvSpPr>
        <p:spPr>
          <a:xfrm>
            <a:off x="8481548" y="4279015"/>
            <a:ext cx="4344842" cy="249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20" name="Google Shape;20;p42"/>
          <p:cNvSpPr/>
          <p:nvPr/>
        </p:nvSpPr>
        <p:spPr>
          <a:xfrm>
            <a:off x="261257" y="435429"/>
            <a:ext cx="12830629" cy="2031951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200"/>
              <a:buFont typeface="Palatino"/>
              <a:buNone/>
            </a:pPr>
            <a:endParaRPr sz="3200" b="0" i="0" u="none" strike="noStrike" cap="none">
              <a:solidFill>
                <a:srgbClr val="FFFF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3"/>
          <p:cNvSpPr txBox="1">
            <a:spLocks noGrp="1"/>
          </p:cNvSpPr>
          <p:nvPr>
            <p:ph type="title"/>
          </p:nvPr>
        </p:nvSpPr>
        <p:spPr>
          <a:xfrm>
            <a:off x="338220" y="905681"/>
            <a:ext cx="12280032" cy="12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1F5F"/>
              </a:buClr>
              <a:buSzPts val="4643"/>
              <a:buFont typeface="Arial"/>
              <a:buNone/>
              <a:defRPr sz="4643" b="1" i="0" u="sng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3"/>
          <p:cNvSpPr txBox="1">
            <a:spLocks noGrp="1"/>
          </p:cNvSpPr>
          <p:nvPr>
            <p:ph type="body" idx="1"/>
          </p:nvPr>
        </p:nvSpPr>
        <p:spPr>
          <a:xfrm>
            <a:off x="520341" y="2717043"/>
            <a:ext cx="12280032" cy="6300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6576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160"/>
              <a:buChar char="●"/>
              <a:defRPr b="0" i="0">
                <a:solidFill>
                  <a:schemeClr val="dk1"/>
                </a:solidFill>
              </a:defRPr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24" name="Google Shape;24;p4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919191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/>
          </a:p>
        </p:txBody>
      </p:sp>
      <p:sp>
        <p:nvSpPr>
          <p:cNvPr id="25" name="Google Shape;25;p4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919191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sldNum" idx="12"/>
          </p:nvPr>
        </p:nvSpPr>
        <p:spPr>
          <a:xfrm>
            <a:off x="8205450" y="14801161"/>
            <a:ext cx="751681" cy="41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9138" marR="0" lvl="0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9138" marR="0" lvl="1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49138" marR="0" lvl="2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49138" marR="0" lvl="3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49138" marR="0" lvl="4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9138" marR="0" lvl="5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9138" marR="0" lvl="6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9138" marR="0" lvl="7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9138" marR="0" lvl="8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9138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puces">
  <p:cSld name="Titre et puce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>
            <a:spLocks noGrp="1"/>
          </p:cNvSpPr>
          <p:nvPr>
            <p:ph type="title"/>
          </p:nvPr>
        </p:nvSpPr>
        <p:spPr>
          <a:xfrm>
            <a:off x="520341" y="826926"/>
            <a:ext cx="12280032" cy="12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body" idx="1"/>
          </p:nvPr>
        </p:nvSpPr>
        <p:spPr>
          <a:xfrm>
            <a:off x="520341" y="2717043"/>
            <a:ext cx="12280032" cy="6300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e">
  <p:cSld name="Photo - Horizonta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45"/>
          <p:cNvCxnSpPr/>
          <p:nvPr/>
        </p:nvCxnSpPr>
        <p:spPr>
          <a:xfrm rot="10800000" flipH="1">
            <a:off x="8188500" y="7290052"/>
            <a:ext cx="1" cy="1697838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3" name="Google Shape;33;p45"/>
          <p:cNvCxnSpPr/>
          <p:nvPr/>
        </p:nvCxnSpPr>
        <p:spPr>
          <a:xfrm>
            <a:off x="520341" y="9437460"/>
            <a:ext cx="12290944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4" name="Google Shape;34;p45"/>
          <p:cNvCxnSpPr/>
          <p:nvPr/>
        </p:nvCxnSpPr>
        <p:spPr>
          <a:xfrm>
            <a:off x="520341" y="6851675"/>
            <a:ext cx="12291524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5" name="Google Shape;35;p45"/>
          <p:cNvCxnSpPr/>
          <p:nvPr/>
        </p:nvCxnSpPr>
        <p:spPr>
          <a:xfrm rot="10800000" flipH="1">
            <a:off x="8188500" y="7290052"/>
            <a:ext cx="1" cy="1697838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6" name="Google Shape;36;p45"/>
          <p:cNvSpPr txBox="1">
            <a:spLocks noGrp="1"/>
          </p:cNvSpPr>
          <p:nvPr>
            <p:ph type="body" idx="1"/>
          </p:nvPr>
        </p:nvSpPr>
        <p:spPr>
          <a:xfrm>
            <a:off x="520341" y="6318288"/>
            <a:ext cx="7375824" cy="48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 i="1"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37" name="Google Shape;37;p45"/>
          <p:cNvSpPr>
            <a:spLocks noGrp="1"/>
          </p:cNvSpPr>
          <p:nvPr>
            <p:ph type="pic" idx="2"/>
          </p:nvPr>
        </p:nvSpPr>
        <p:spPr>
          <a:xfrm>
            <a:off x="598391" y="577536"/>
            <a:ext cx="12110922" cy="7324204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5"/>
          <p:cNvSpPr txBox="1">
            <a:spLocks noGrp="1"/>
          </p:cNvSpPr>
          <p:nvPr>
            <p:ph type="title"/>
          </p:nvPr>
        </p:nvSpPr>
        <p:spPr>
          <a:xfrm>
            <a:off x="520341" y="6904178"/>
            <a:ext cx="7375824" cy="249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5"/>
          <p:cNvSpPr txBox="1">
            <a:spLocks noGrp="1"/>
          </p:cNvSpPr>
          <p:nvPr>
            <p:ph type="body" idx="3"/>
          </p:nvPr>
        </p:nvSpPr>
        <p:spPr>
          <a:xfrm>
            <a:off x="8481548" y="6904178"/>
            <a:ext cx="4344842" cy="249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40" name="Google Shape;40;p45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e">
  <p:cSld name="Photo - Vertical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46"/>
          <p:cNvCxnSpPr/>
          <p:nvPr/>
        </p:nvCxnSpPr>
        <p:spPr>
          <a:xfrm>
            <a:off x="520340" y="5040313"/>
            <a:ext cx="5814265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43" name="Google Shape;43;p46"/>
          <p:cNvCxnSpPr/>
          <p:nvPr/>
        </p:nvCxnSpPr>
        <p:spPr>
          <a:xfrm>
            <a:off x="520340" y="2861427"/>
            <a:ext cx="5814205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4" name="Google Shape;44;p46"/>
          <p:cNvSpPr txBox="1">
            <a:spLocks noGrp="1"/>
          </p:cNvSpPr>
          <p:nvPr>
            <p:ph type="body" idx="1"/>
          </p:nvPr>
        </p:nvSpPr>
        <p:spPr>
          <a:xfrm>
            <a:off x="520341" y="1874045"/>
            <a:ext cx="5814803" cy="895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 i="1"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45" name="Google Shape;45;p46"/>
          <p:cNvSpPr>
            <a:spLocks noGrp="1"/>
          </p:cNvSpPr>
          <p:nvPr>
            <p:ph type="pic" idx="2"/>
          </p:nvPr>
        </p:nvSpPr>
        <p:spPr>
          <a:xfrm>
            <a:off x="6867569" y="610350"/>
            <a:ext cx="5947945" cy="8794295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46"/>
          <p:cNvSpPr txBox="1">
            <a:spLocks noGrp="1"/>
          </p:cNvSpPr>
          <p:nvPr>
            <p:ph type="title"/>
          </p:nvPr>
        </p:nvSpPr>
        <p:spPr>
          <a:xfrm>
            <a:off x="520341" y="2900805"/>
            <a:ext cx="5814803" cy="2100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8F00"/>
              </a:buClr>
              <a:buSzPts val="4100"/>
              <a:buFont typeface="Bodoni"/>
              <a:buNone/>
              <a:defRPr sz="4100">
                <a:solidFill>
                  <a:srgbClr val="008F00"/>
                </a:solidFill>
              </a:defRPr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body" idx="3"/>
          </p:nvPr>
        </p:nvSpPr>
        <p:spPr>
          <a:xfrm>
            <a:off x="520341" y="5197822"/>
            <a:ext cx="5814803" cy="4147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, puces et photo">
  <p:cSld name="Titre, puces et phot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>
            <a:spLocks noGrp="1"/>
          </p:cNvSpPr>
          <p:nvPr>
            <p:ph type="pic" idx="2"/>
          </p:nvPr>
        </p:nvSpPr>
        <p:spPr>
          <a:xfrm>
            <a:off x="6985569" y="1798237"/>
            <a:ext cx="5710735" cy="8443572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47"/>
          <p:cNvSpPr txBox="1">
            <a:spLocks noGrp="1"/>
          </p:cNvSpPr>
          <p:nvPr>
            <p:ph type="title"/>
          </p:nvPr>
        </p:nvSpPr>
        <p:spPr>
          <a:xfrm>
            <a:off x="520341" y="826926"/>
            <a:ext cx="12280032" cy="12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7"/>
          <p:cNvSpPr txBox="1">
            <a:spLocks noGrp="1"/>
          </p:cNvSpPr>
          <p:nvPr>
            <p:ph type="body" idx="1"/>
          </p:nvPr>
        </p:nvSpPr>
        <p:spPr>
          <a:xfrm>
            <a:off x="520340" y="2822050"/>
            <a:ext cx="5957897" cy="6562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52425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50"/>
              <a:buChar char="●"/>
              <a:defRPr sz="3000"/>
            </a:lvl1pPr>
            <a:lvl2pPr marL="914400" lvl="1" indent="-352425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50"/>
              <a:buChar char="●"/>
              <a:defRPr sz="3000"/>
            </a:lvl2pPr>
            <a:lvl3pPr marL="1371600" lvl="2" indent="-352425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50"/>
              <a:buChar char="●"/>
              <a:defRPr sz="3000"/>
            </a:lvl3pPr>
            <a:lvl4pPr marL="1828800" lvl="3" indent="-352425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50"/>
              <a:buChar char="●"/>
              <a:defRPr sz="3000"/>
            </a:lvl4pPr>
            <a:lvl5pPr marL="2286000" lvl="4" indent="-352425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50"/>
              <a:buChar char="●"/>
              <a:defRPr sz="3000"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53" name="Google Shape;53;p47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ces">
  <p:cSld name="Pu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>
            <a:spLocks noGrp="1"/>
          </p:cNvSpPr>
          <p:nvPr>
            <p:ph type="body" idx="1"/>
          </p:nvPr>
        </p:nvSpPr>
        <p:spPr>
          <a:xfrm>
            <a:off x="520341" y="1312582"/>
            <a:ext cx="12280032" cy="745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56" name="Google Shape;56;p48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 photos">
  <p:cSld name="3 photo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9"/>
          <p:cNvSpPr>
            <a:spLocks noGrp="1"/>
          </p:cNvSpPr>
          <p:nvPr>
            <p:ph type="pic" idx="2"/>
          </p:nvPr>
        </p:nvSpPr>
        <p:spPr>
          <a:xfrm>
            <a:off x="6413078" y="4554657"/>
            <a:ext cx="6860482" cy="4869677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49"/>
          <p:cNvSpPr>
            <a:spLocks noGrp="1"/>
          </p:cNvSpPr>
          <p:nvPr>
            <p:ph type="pic" idx="3"/>
          </p:nvPr>
        </p:nvSpPr>
        <p:spPr>
          <a:xfrm>
            <a:off x="6842476" y="656291"/>
            <a:ext cx="5970907" cy="363585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49"/>
          <p:cNvSpPr>
            <a:spLocks noGrp="1"/>
          </p:cNvSpPr>
          <p:nvPr>
            <p:ph type="pic" idx="4"/>
          </p:nvPr>
        </p:nvSpPr>
        <p:spPr>
          <a:xfrm>
            <a:off x="494324" y="630039"/>
            <a:ext cx="5868047" cy="8676163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49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">
  <p:cSld name="Cita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0"/>
          <p:cNvSpPr txBox="1">
            <a:spLocks noGrp="1"/>
          </p:cNvSpPr>
          <p:nvPr>
            <p:ph type="body" idx="1"/>
          </p:nvPr>
        </p:nvSpPr>
        <p:spPr>
          <a:xfrm>
            <a:off x="546358" y="6169133"/>
            <a:ext cx="12227998" cy="56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14141"/>
              </a:buClr>
              <a:buSzPts val="3000"/>
              <a:buFont typeface="Palatino"/>
              <a:buNone/>
              <a:defRPr sz="3000" i="1"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64" name="Google Shape;64;p50"/>
          <p:cNvSpPr txBox="1">
            <a:spLocks noGrp="1"/>
          </p:cNvSpPr>
          <p:nvPr>
            <p:ph type="body" idx="2"/>
          </p:nvPr>
        </p:nvSpPr>
        <p:spPr>
          <a:xfrm>
            <a:off x="1300851" y="4436375"/>
            <a:ext cx="10719011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65" name="Google Shape;65;p50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puces">
  <p:cSld name="Titre et puces 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oogle Shape;67;p51"/>
          <p:cNvCxnSpPr/>
          <p:nvPr/>
        </p:nvCxnSpPr>
        <p:spPr>
          <a:xfrm>
            <a:off x="2055344" y="2943463"/>
            <a:ext cx="9216550" cy="1"/>
          </a:xfrm>
          <a:prstGeom prst="straightConnector1">
            <a:avLst/>
          </a:prstGeom>
          <a:noFill/>
          <a:ln w="9525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68" name="Google Shape;68;p51"/>
          <p:cNvCxnSpPr/>
          <p:nvPr/>
        </p:nvCxnSpPr>
        <p:spPr>
          <a:xfrm>
            <a:off x="2055344" y="1752296"/>
            <a:ext cx="9216550" cy="1"/>
          </a:xfrm>
          <a:prstGeom prst="straightConnector1">
            <a:avLst/>
          </a:prstGeom>
          <a:noFill/>
          <a:ln w="9525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9" name="Google Shape;69;p51"/>
          <p:cNvSpPr txBox="1">
            <a:spLocks noGrp="1"/>
          </p:cNvSpPr>
          <p:nvPr>
            <p:ph type="title"/>
          </p:nvPr>
        </p:nvSpPr>
        <p:spPr>
          <a:xfrm>
            <a:off x="2055344" y="1880272"/>
            <a:ext cx="9210026" cy="94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6800"/>
              <a:buFont typeface="Bodoni"/>
              <a:buNone/>
              <a:defRPr sz="6800"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1"/>
          <p:cNvSpPr txBox="1">
            <a:spLocks noGrp="1"/>
          </p:cNvSpPr>
          <p:nvPr>
            <p:ph type="body" idx="1"/>
          </p:nvPr>
        </p:nvSpPr>
        <p:spPr>
          <a:xfrm>
            <a:off x="2055344" y="3297861"/>
            <a:ext cx="9210026" cy="472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rmAutofit/>
          </a:bodyPr>
          <a:lstStyle>
            <a:lvl1pPr marL="457200" lvl="0" indent="-35814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40"/>
              <a:buChar char="●"/>
              <a:defRPr sz="3400"/>
            </a:lvl1pPr>
            <a:lvl2pPr marL="914400" lvl="1" indent="-35814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40"/>
              <a:buChar char="●"/>
              <a:defRPr sz="3400"/>
            </a:lvl2pPr>
            <a:lvl3pPr marL="1371600" lvl="2" indent="-35813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40"/>
              <a:buChar char="●"/>
              <a:defRPr sz="3400"/>
            </a:lvl3pPr>
            <a:lvl4pPr marL="1828800" lvl="3" indent="-35813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40"/>
              <a:buChar char="●"/>
              <a:defRPr sz="3400"/>
            </a:lvl4pPr>
            <a:lvl5pPr marL="2286000" lvl="4" indent="-35813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40"/>
              <a:buChar char="●"/>
              <a:defRPr sz="3400"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71" name="Google Shape;71;p51"/>
          <p:cNvSpPr txBox="1">
            <a:spLocks noGrp="1"/>
          </p:cNvSpPr>
          <p:nvPr>
            <p:ph type="sldNum" idx="12"/>
          </p:nvPr>
        </p:nvSpPr>
        <p:spPr>
          <a:xfrm>
            <a:off x="6423845" y="8436617"/>
            <a:ext cx="46326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b="0" i="0" u="none" strike="noStrike" cap="none">
              <a:solidFill>
                <a:srgbClr val="4C4946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puces">
  <p:cSld name="Titre et puces 3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52"/>
          <p:cNvCxnSpPr/>
          <p:nvPr/>
        </p:nvCxnSpPr>
        <p:spPr>
          <a:xfrm>
            <a:off x="520339" y="2244514"/>
            <a:ext cx="12288733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74" name="Google Shape;74;p52"/>
          <p:cNvCxnSpPr/>
          <p:nvPr/>
        </p:nvCxnSpPr>
        <p:spPr>
          <a:xfrm>
            <a:off x="520339" y="656291"/>
            <a:ext cx="12288733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5" name="Google Shape;75;p52"/>
          <p:cNvSpPr txBox="1">
            <a:spLocks noGrp="1"/>
          </p:cNvSpPr>
          <p:nvPr>
            <p:ph type="title"/>
          </p:nvPr>
        </p:nvSpPr>
        <p:spPr>
          <a:xfrm>
            <a:off x="520341" y="826926"/>
            <a:ext cx="12280032" cy="12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2"/>
          <p:cNvSpPr txBox="1">
            <a:spLocks noGrp="1"/>
          </p:cNvSpPr>
          <p:nvPr>
            <p:ph type="body" idx="1"/>
          </p:nvPr>
        </p:nvSpPr>
        <p:spPr>
          <a:xfrm>
            <a:off x="520341" y="2717043"/>
            <a:ext cx="12280032" cy="6300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77" name="Google Shape;77;p52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0">
            <a:alpha val="25882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40"/>
          <p:cNvCxnSpPr/>
          <p:nvPr/>
        </p:nvCxnSpPr>
        <p:spPr>
          <a:xfrm>
            <a:off x="520340" y="2244514"/>
            <a:ext cx="12288731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7" name="Google Shape;7;p40"/>
          <p:cNvCxnSpPr/>
          <p:nvPr/>
        </p:nvCxnSpPr>
        <p:spPr>
          <a:xfrm>
            <a:off x="520340" y="656291"/>
            <a:ext cx="12288731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8" name="Google Shape;8;p40"/>
          <p:cNvSpPr txBox="1">
            <a:spLocks noGrp="1"/>
          </p:cNvSpPr>
          <p:nvPr>
            <p:ph type="title"/>
          </p:nvPr>
        </p:nvSpPr>
        <p:spPr>
          <a:xfrm>
            <a:off x="338220" y="905681"/>
            <a:ext cx="12280032" cy="12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marR="0" lvl="1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2pPr>
            <a:lvl3pPr marR="0" lvl="2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3pPr>
            <a:lvl4pPr marR="0" lvl="3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4pPr>
            <a:lvl5pPr marR="0" lvl="4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5pPr>
            <a:lvl6pPr marR="0" lvl="5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6pPr>
            <a:lvl7pPr marR="0" lvl="6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7pPr>
            <a:lvl8pPr marR="0" lvl="7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8pPr>
            <a:lvl9pPr marR="0" lvl="8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9pPr>
          </a:lstStyle>
          <a:p>
            <a:endParaRPr/>
          </a:p>
        </p:txBody>
      </p:sp>
      <p:sp>
        <p:nvSpPr>
          <p:cNvPr id="9" name="Google Shape;9;p40"/>
          <p:cNvSpPr txBox="1">
            <a:spLocks noGrp="1"/>
          </p:cNvSpPr>
          <p:nvPr>
            <p:ph type="body" idx="1"/>
          </p:nvPr>
        </p:nvSpPr>
        <p:spPr>
          <a:xfrm>
            <a:off x="520341" y="2717043"/>
            <a:ext cx="12280032" cy="6300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marR="0" lvl="0" indent="-36576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L="914400" marR="0" lvl="1" indent="-36576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L="1371600" marR="0" lvl="2" indent="-36576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L="1828800" marR="0" lvl="3" indent="-36576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L="2286000" marR="0" lvl="4" indent="-36576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L="2743200" marR="0" lvl="5" indent="-36576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L="3200400" marR="0" lvl="6" indent="-36576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L="3657600" marR="0" lvl="7" indent="-365759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L="4114800" marR="0" lvl="8" indent="-365759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/>
          </a:p>
        </p:txBody>
      </p:sp>
      <p:sp>
        <p:nvSpPr>
          <p:cNvPr id="10" name="Google Shape;10;p40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title"/>
          </p:nvPr>
        </p:nvSpPr>
        <p:spPr>
          <a:xfrm>
            <a:off x="665956" y="3376279"/>
            <a:ext cx="11988800" cy="241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</a:pPr>
            <a:r>
              <a:rPr lang="fr-FR"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rPr>
              <a:t> Administration &amp; Sécurité des Systèmes d’Exploitation </a:t>
            </a:r>
            <a:endParaRPr/>
          </a:p>
        </p:txBody>
      </p:sp>
      <p:sp>
        <p:nvSpPr>
          <p:cNvPr id="83" name="Google Shape;83;p1"/>
          <p:cNvSpPr txBox="1">
            <a:spLocks noGrp="1"/>
          </p:cNvSpPr>
          <p:nvPr>
            <p:ph type="body" idx="4294967295"/>
          </p:nvPr>
        </p:nvSpPr>
        <p:spPr>
          <a:xfrm>
            <a:off x="4813844" y="7535714"/>
            <a:ext cx="4241801" cy="241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200"/>
              <a:buNone/>
            </a:pPr>
            <a:r>
              <a:rPr lang="fr-FR" sz="3200"/>
              <a:t>Année Universitaire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200"/>
              <a:buNone/>
            </a:pPr>
            <a:r>
              <a:rPr lang="fr-FR" sz="3200"/>
              <a:t>2022-2023  </a:t>
            </a:r>
            <a:endParaRPr/>
          </a:p>
        </p:txBody>
      </p:sp>
      <p:cxnSp>
        <p:nvCxnSpPr>
          <p:cNvPr id="84" name="Google Shape;84;p1"/>
          <p:cNvCxnSpPr/>
          <p:nvPr/>
        </p:nvCxnSpPr>
        <p:spPr>
          <a:xfrm>
            <a:off x="499181" y="3290977"/>
            <a:ext cx="12322353" cy="1"/>
          </a:xfrm>
          <a:prstGeom prst="straightConnector1">
            <a:avLst/>
          </a:prstGeom>
          <a:noFill/>
          <a:ln w="12700" cap="flat" cmpd="sng">
            <a:solidFill>
              <a:srgbClr val="C0C0C0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85" name="Google Shape;85;p1"/>
          <p:cNvCxnSpPr/>
          <p:nvPr/>
        </p:nvCxnSpPr>
        <p:spPr>
          <a:xfrm>
            <a:off x="499180" y="5874580"/>
            <a:ext cx="12322352" cy="1"/>
          </a:xfrm>
          <a:prstGeom prst="straightConnector1">
            <a:avLst/>
          </a:prstGeom>
          <a:noFill/>
          <a:ln w="12700" cap="flat" cmpd="sng">
            <a:solidFill>
              <a:srgbClr val="C0C0C0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86" name="Google Shape;86;p1"/>
          <p:cNvSpPr/>
          <p:nvPr/>
        </p:nvSpPr>
        <p:spPr>
          <a:xfrm>
            <a:off x="499180" y="1096201"/>
            <a:ext cx="12460376" cy="595035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200"/>
              <a:buFont typeface="Palatino"/>
              <a:buNone/>
            </a:pPr>
            <a:endParaRPr sz="3200" b="0" i="0" u="none" strike="noStrike" cap="none">
              <a:solidFill>
                <a:srgbClr val="FFFF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240632" y="401053"/>
            <a:ext cx="12718924" cy="2149624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200"/>
              <a:buFont typeface="Palatino"/>
              <a:buNone/>
            </a:pPr>
            <a:endParaRPr sz="3200" b="0" i="0" u="none" strike="noStrike" cap="none">
              <a:solidFill>
                <a:srgbClr val="FFFF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88" name="Google Shape;88;p1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7124" y="980600"/>
            <a:ext cx="3995521" cy="1478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ctrTitle" idx="4294967295"/>
          </p:nvPr>
        </p:nvSpPr>
        <p:spPr>
          <a:xfrm>
            <a:off x="449179" y="5144549"/>
            <a:ext cx="12061853" cy="2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 fontScale="90000"/>
          </a:bodyPr>
          <a:lstStyle/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7000" i="0" u="none" strike="noStrike" cap="none" dirty="0">
                <a:solidFill>
                  <a:srgbClr val="D93E2B"/>
                </a:solidFill>
                <a:latin typeface="Bodoni" panose="020B0604020202020204" charset="0"/>
                <a:sym typeface="Bodoni"/>
              </a:rPr>
              <a:t>Chapitre V : </a:t>
            </a:r>
            <a:r>
              <a:rPr lang="fr-FR" sz="7200" dirty="0">
                <a:latin typeface="Bodoni" panose="020B0604020202020204" charset="0"/>
              </a:rPr>
              <a:t>Planifier des tâches </a:t>
            </a:r>
            <a:br>
              <a:rPr lang="fr-FR" sz="7200" dirty="0">
                <a:latin typeface="Bodoni" panose="020B0604020202020204" charset="0"/>
              </a:rPr>
            </a:br>
            <a:r>
              <a:rPr lang="fr-FR" sz="7200" dirty="0">
                <a:latin typeface="Bodoni" panose="020B0604020202020204" charset="0"/>
              </a:rPr>
              <a:t>Avec CRON</a:t>
            </a:r>
            <a:r>
              <a:rPr lang="fr-FR" sz="7200" b="1" dirty="0"/>
              <a:t/>
            </a:r>
            <a:br>
              <a:rPr lang="fr-FR" sz="7200" b="1" dirty="0"/>
            </a:br>
            <a:r>
              <a:rPr lang="fr-FR" sz="7200" b="0" i="0" u="none" strike="noStrike" cap="none" dirty="0">
                <a:solidFill>
                  <a:srgbClr val="D93E2B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fr-FR" sz="7200" b="0" i="0" u="none" strike="noStrike" cap="none" dirty="0">
                <a:solidFill>
                  <a:srgbClr val="D93E2B"/>
                </a:solidFill>
                <a:latin typeface="Arial"/>
                <a:ea typeface="Arial"/>
                <a:cs typeface="Arial"/>
                <a:sym typeface="Arial"/>
              </a:rPr>
            </a:br>
            <a:endParaRPr sz="7000" b="0" i="0" u="none" strike="noStrike" cap="none" dirty="0">
              <a:solidFill>
                <a:srgbClr val="D93E2B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4299182" y="836362"/>
            <a:ext cx="4017664" cy="1427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</a:pPr>
            <a:r>
              <a:rPr lang="fr-FR" sz="7000" b="0" u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rPr>
              <a:t>Objectifs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954796" y="3170831"/>
            <a:ext cx="11411120" cy="3340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375" rIns="0" bIns="0" anchor="t" anchorCtr="0">
            <a:spAutoFit/>
          </a:bodyPr>
          <a:lstStyle/>
          <a:p>
            <a:pPr marL="571500" marR="0" lvl="0" indent="-571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600"/>
              <a:buFont typeface="Wingdings" pitchFamily="2" charset="2"/>
              <a:buChar char="Ø"/>
            </a:pPr>
            <a:endParaRPr lang="fr-FR" sz="3600" b="0" u="none" strike="noStrike" cap="none" dirty="0">
              <a:solidFill>
                <a:srgbClr val="4141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1500" marR="0" lvl="0" indent="-571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600"/>
              <a:buFont typeface="Wingdings" pitchFamily="2" charset="2"/>
              <a:buChar char="Ø"/>
            </a:pPr>
            <a:r>
              <a:rPr lang="fr-FR" sz="3600" dirty="0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Manipuler les fichiers de configuration de planification des </a:t>
            </a:r>
            <a:r>
              <a:rPr lang="fr-FR" sz="3600" dirty="0" smtClean="0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tâches</a:t>
            </a:r>
            <a:r>
              <a:rPr lang="fr-FR" sz="3600" dirty="0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71500" marR="0" lvl="0" indent="-571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600"/>
              <a:buFont typeface="Wingdings" pitchFamily="2" charset="2"/>
              <a:buChar char="Ø"/>
            </a:pPr>
            <a:r>
              <a:rPr lang="fr-FR" sz="3600" b="0" u="none" strike="noStrike" cap="none" dirty="0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Planifier </a:t>
            </a:r>
            <a:r>
              <a:rPr lang="fr-FR" sz="3600" b="0" u="none" strike="noStrike" cap="none" dirty="0" smtClean="0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</a:t>
            </a:r>
            <a:r>
              <a:rPr lang="fr-FR" sz="3600" dirty="0" smtClean="0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exécution </a:t>
            </a:r>
            <a:r>
              <a:rPr lang="fr-FR" sz="3600" b="0" u="none" strike="noStrike" cap="none" dirty="0" smtClean="0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 </a:t>
            </a:r>
            <a:r>
              <a:rPr lang="fr-FR" sz="3600" b="0" u="none" strike="noStrike" cap="none" dirty="0" smtClean="0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tâches </a:t>
            </a:r>
            <a:r>
              <a:rPr lang="fr-FR" sz="3600" b="0" u="none" strike="noStrike" cap="none" dirty="0" smtClean="0">
                <a:solidFill>
                  <a:srgbClr val="4141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automatiques.</a:t>
            </a:r>
            <a:endParaRPr lang="fr-FR" sz="3600" b="0" u="none" strike="noStrike" cap="none" dirty="0">
              <a:solidFill>
                <a:srgbClr val="4141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12205412" y="9243038"/>
            <a:ext cx="416842" cy="402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9138" marR="0" lvl="0" indent="0" algn="ctr" rtl="0">
              <a:lnSpc>
                <a:spcPct val="100646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095"/>
              <a:buFont typeface="Arial"/>
              <a:buNone/>
            </a:pPr>
            <a:fld id="{00000000-1234-1234-1234-123412341234}" type="slidenum">
              <a:rPr lang="fr-FR" sz="3095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3095" b="0" i="0" u="none" strike="noStrike" cap="none">
              <a:solidFill>
                <a:srgbClr val="4141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520341" y="826926"/>
            <a:ext cx="12280032" cy="12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</a:pPr>
            <a:r>
              <a:rPr lang="fr-FR" dirty="0"/>
              <a:t>Plan</a:t>
            </a:r>
            <a:endParaRPr dirty="0"/>
          </a:p>
        </p:txBody>
      </p:sp>
      <p:sp>
        <p:nvSpPr>
          <p:cNvPr id="118" name="Google Shape;118;p5"/>
          <p:cNvSpPr txBox="1">
            <a:spLocks noGrp="1"/>
          </p:cNvSpPr>
          <p:nvPr>
            <p:ph type="body" idx="1"/>
          </p:nvPr>
        </p:nvSpPr>
        <p:spPr>
          <a:xfrm>
            <a:off x="1416676" y="2924375"/>
            <a:ext cx="9997913" cy="6496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571500" lvl="0" indent="-571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itchFamily="2" charset="2"/>
              <a:buChar char="Ø"/>
            </a:pPr>
            <a:r>
              <a:rPr lang="fr-FR" dirty="0"/>
              <a:t>Introduction : Concepts de Base</a:t>
            </a:r>
          </a:p>
          <a:p>
            <a:pPr marL="571500" lvl="0" indent="-571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itchFamily="2" charset="2"/>
              <a:buChar char="Ø"/>
            </a:pPr>
            <a:endParaRPr lang="fr-FR" dirty="0"/>
          </a:p>
          <a:p>
            <a:pPr marL="571500" lvl="0" indent="-571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itchFamily="2" charset="2"/>
              <a:buChar char="Ø"/>
            </a:pPr>
            <a:r>
              <a:rPr lang="fr-FR" dirty="0"/>
              <a:t>System CRON jobs</a:t>
            </a:r>
          </a:p>
          <a:p>
            <a:pPr marL="571500" lvl="0" indent="-571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itchFamily="2" charset="2"/>
              <a:buChar char="Ø"/>
            </a:pPr>
            <a:endParaRPr lang="fr-FR" dirty="0"/>
          </a:p>
          <a:p>
            <a:pPr marL="571500" lvl="0" indent="-571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itchFamily="2" charset="2"/>
              <a:buChar char="Ø"/>
            </a:pPr>
            <a:r>
              <a:rPr lang="fr-FR" dirty="0"/>
              <a:t>User CRON jobs</a:t>
            </a:r>
          </a:p>
          <a:p>
            <a:pPr marL="571500" lvl="0" indent="-571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itchFamily="2" charset="2"/>
              <a:buChar char="Ø"/>
            </a:pPr>
            <a:endParaRPr lang="fr-FR" sz="3600" b="1" dirty="0">
              <a:solidFill>
                <a:schemeClr val="tx1"/>
              </a:solidFill>
            </a:endParaRPr>
          </a:p>
          <a:p>
            <a:pPr marL="571500" lvl="0" indent="-571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itchFamily="2" charset="2"/>
              <a:buChar char="Ø"/>
            </a:pPr>
            <a:r>
              <a:rPr lang="fr-FR" dirty="0"/>
              <a:t>At  jobs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/>
        </p:nvSpPr>
        <p:spPr>
          <a:xfrm>
            <a:off x="1044951" y="4570420"/>
            <a:ext cx="11230809" cy="19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3E2B"/>
              </a:buClr>
              <a:buSzPts val="6600"/>
              <a:buFont typeface="Bodoni"/>
              <a:buNone/>
            </a:pPr>
            <a:r>
              <a:rPr lang="fr-FR" sz="6600" dirty="0">
                <a:solidFill>
                  <a:srgbClr val="D93E2B"/>
                </a:solidFill>
                <a:latin typeface="Bodoni"/>
              </a:rPr>
              <a:t>Introduction : Concepts de Base</a:t>
            </a:r>
            <a:endParaRPr sz="6600" dirty="0">
              <a:solidFill>
                <a:srgbClr val="D93E2B"/>
              </a:solidFill>
              <a:latin typeface="Bodoni"/>
              <a:sym typeface="Bodoni"/>
            </a:endParaRPr>
          </a:p>
        </p:txBody>
      </p:sp>
    </p:spTree>
    <p:extLst>
      <p:ext uri="{BB962C8B-B14F-4D97-AF65-F5344CB8AC3E}">
        <p14:creationId xmlns:p14="http://schemas.microsoft.com/office/powerpoint/2010/main" val="3172248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520341" y="826926"/>
            <a:ext cx="12280032" cy="12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</a:pPr>
            <a:r>
              <a:rPr lang="fr-FR" dirty="0"/>
              <a:t>CRON</a:t>
            </a:r>
            <a:endParaRPr dirty="0"/>
          </a:p>
        </p:txBody>
      </p:sp>
      <p:sp>
        <p:nvSpPr>
          <p:cNvPr id="129" name="Google Shape;129;p7"/>
          <p:cNvSpPr txBox="1">
            <a:spLocks noGrp="1"/>
          </p:cNvSpPr>
          <p:nvPr>
            <p:ph type="body" idx="1"/>
          </p:nvPr>
        </p:nvSpPr>
        <p:spPr>
          <a:xfrm>
            <a:off x="520341" y="2237105"/>
            <a:ext cx="12280032" cy="748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defTabSz="495300"/>
            <a:r>
              <a:rPr lang="fr-FR" sz="2800" b="1" dirty="0" err="1">
                <a:solidFill>
                  <a:srgbClr val="FF0000"/>
                </a:solidFill>
              </a:rPr>
              <a:t>Cron</a:t>
            </a:r>
            <a:r>
              <a:rPr lang="fr-FR" sz="2800" dirty="0"/>
              <a:t> est un </a:t>
            </a:r>
            <a:r>
              <a:rPr lang="fr-FR" sz="2800" i="1" dirty="0"/>
              <a:t>daemon</a:t>
            </a:r>
            <a:r>
              <a:rPr lang="fr-FR" sz="2800" dirty="0"/>
              <a:t> utilisé pour programmer des tâches devant être exécutées à un moment précis. </a:t>
            </a:r>
            <a:endParaRPr lang="fr-FR" sz="2800" dirty="0" smtClean="0"/>
          </a:p>
          <a:p>
            <a:pPr lvl="1" defTabSz="495300"/>
            <a:r>
              <a:rPr lang="fr-FR" sz="2800" dirty="0" smtClean="0"/>
              <a:t>La </a:t>
            </a:r>
            <a:r>
              <a:rPr lang="fr-FR" sz="2800" dirty="0"/>
              <a:t>gestion de la sauvegarde automatisée, </a:t>
            </a:r>
            <a:endParaRPr lang="fr-FR" sz="2800" dirty="0" smtClean="0"/>
          </a:p>
          <a:p>
            <a:pPr lvl="1" defTabSz="495300"/>
            <a:r>
              <a:rPr lang="fr-FR" sz="2800" dirty="0" smtClean="0"/>
              <a:t>La </a:t>
            </a:r>
            <a:r>
              <a:rPr lang="fr-FR" sz="2800" dirty="0"/>
              <a:t>rotation des fichiers journaux, </a:t>
            </a:r>
            <a:endParaRPr lang="fr-FR" sz="2800" dirty="0" smtClean="0"/>
          </a:p>
          <a:p>
            <a:pPr lvl="1" defTabSz="495300"/>
            <a:r>
              <a:rPr lang="fr-FR" sz="2800" dirty="0" smtClean="0"/>
              <a:t>La </a:t>
            </a:r>
            <a:r>
              <a:rPr lang="fr-FR" sz="2800" dirty="0"/>
              <a:t>synchronisation des fichiers entre des machines </a:t>
            </a:r>
            <a:r>
              <a:rPr lang="fr-FR" sz="2800" dirty="0" smtClean="0"/>
              <a:t>distantes</a:t>
            </a:r>
          </a:p>
          <a:p>
            <a:pPr lvl="1" defTabSz="495300"/>
            <a:r>
              <a:rPr lang="fr-FR" sz="2800" dirty="0" smtClean="0"/>
              <a:t>La </a:t>
            </a:r>
            <a:r>
              <a:rPr lang="fr-FR" sz="2800" dirty="0"/>
              <a:t>suppression des dossiers </a:t>
            </a:r>
            <a:r>
              <a:rPr lang="fr-FR" sz="2800" dirty="0" smtClean="0"/>
              <a:t>temporaires</a:t>
            </a:r>
            <a:r>
              <a:rPr lang="fr-FR" sz="2800" dirty="0"/>
              <a:t>.</a:t>
            </a:r>
          </a:p>
          <a:p>
            <a:pPr defTabSz="495300"/>
            <a:r>
              <a:rPr lang="fr-FR" sz="2800" dirty="0"/>
              <a:t>Chaque utilisateur a un fichier</a:t>
            </a:r>
            <a:r>
              <a:rPr lang="fr-FR" sz="2800" dirty="0">
                <a:solidFill>
                  <a:srgbClr val="FF0000"/>
                </a:solidFill>
              </a:rPr>
              <a:t> </a:t>
            </a:r>
            <a:r>
              <a:rPr lang="fr-FR" sz="2800" b="1" dirty="0" err="1" smtClean="0">
                <a:solidFill>
                  <a:srgbClr val="FF0000"/>
                </a:solidFill>
              </a:rPr>
              <a:t>crontab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dirty="0" smtClean="0">
                <a:solidFill>
                  <a:schemeClr val="tx1"/>
                </a:solidFill>
              </a:rPr>
              <a:t>(signifie table </a:t>
            </a:r>
            <a:r>
              <a:rPr lang="fr-FR" sz="2800" dirty="0" err="1" smtClean="0">
                <a:solidFill>
                  <a:schemeClr val="tx1"/>
                </a:solidFill>
              </a:rPr>
              <a:t>cron</a:t>
            </a:r>
            <a:r>
              <a:rPr lang="fr-FR" sz="2800" dirty="0" smtClean="0">
                <a:solidFill>
                  <a:schemeClr val="tx1"/>
                </a:solidFill>
              </a:rPr>
              <a:t>), </a:t>
            </a:r>
            <a:r>
              <a:rPr lang="fr-FR" sz="2800" dirty="0"/>
              <a:t>lui permettant d'indiquer les actions et à quelles périodes, elles devront être exécutées. </a:t>
            </a:r>
          </a:p>
          <a:p>
            <a:pPr defTabSz="495300"/>
            <a:r>
              <a:rPr lang="fr-FR" sz="2800" dirty="0"/>
              <a:t>Il y a également </a:t>
            </a:r>
            <a:r>
              <a:rPr lang="fr-FR" sz="2800" dirty="0" smtClean="0"/>
              <a:t>la </a:t>
            </a:r>
            <a:r>
              <a:rPr lang="fr-FR" sz="2800" b="1" dirty="0" err="1">
                <a:solidFill>
                  <a:srgbClr val="FF0000"/>
                </a:solidFill>
              </a:rPr>
              <a:t>crontab</a:t>
            </a:r>
            <a:r>
              <a:rPr lang="fr-FR" sz="2800" dirty="0"/>
              <a:t> pour le système, permettant les tâches techniques, pour la mise à jour des différents programmes ou autres besoins périodiques.</a:t>
            </a:r>
            <a:endParaRPr lang="fr-FR" sz="2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A047C0D4-5A70-CE24-C681-4A11E2B25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CRON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31F99C29-041F-9FA6-FA23-7A21C13F0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0" y="6285983"/>
            <a:ext cx="12280032" cy="2086969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</a:pPr>
            <a:r>
              <a:rPr lang="fr-FR" sz="2400" dirty="0"/>
              <a:t>Installer le paquetage </a:t>
            </a:r>
            <a:r>
              <a:rPr lang="fr-FR" sz="2400" dirty="0" err="1"/>
              <a:t>Cron</a:t>
            </a:r>
            <a:r>
              <a:rPr lang="fr-FR" sz="2400" dirty="0"/>
              <a:t> s’il n’existe pas</a:t>
            </a:r>
          </a:p>
          <a:p>
            <a:pPr>
              <a:spcBef>
                <a:spcPts val="1800"/>
              </a:spcBef>
            </a:pPr>
            <a:endParaRPr lang="fr-FR" sz="2400" dirty="0"/>
          </a:p>
          <a:p>
            <a:pPr>
              <a:spcBef>
                <a:spcPts val="1800"/>
              </a:spcBef>
            </a:pPr>
            <a:endParaRPr lang="fr-FR" sz="2400" dirty="0"/>
          </a:p>
          <a:p>
            <a:pPr>
              <a:spcBef>
                <a:spcPts val="1800"/>
              </a:spcBef>
            </a:pPr>
            <a:r>
              <a:rPr lang="fr-FR" sz="2400" dirty="0"/>
              <a:t>Pour déterminer si le service est en cours d'exécution:</a:t>
            </a:r>
          </a:p>
          <a:p>
            <a:pPr lvl="1">
              <a:spcBef>
                <a:spcPts val="1800"/>
              </a:spcBef>
            </a:pPr>
            <a:r>
              <a:rPr lang="fr-FR" sz="2400" dirty="0"/>
              <a:t>Utiliser la commande </a:t>
            </a:r>
            <a:r>
              <a:rPr lang="fr-FR" sz="2400" dirty="0" err="1">
                <a:solidFill>
                  <a:srgbClr val="FF0000"/>
                </a:solidFill>
              </a:rPr>
              <a:t>systemctl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 err="1">
                <a:solidFill>
                  <a:srgbClr val="FF0000"/>
                </a:solidFill>
              </a:rPr>
              <a:t>status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 err="1">
                <a:solidFill>
                  <a:srgbClr val="FF0000"/>
                </a:solidFill>
              </a:rPr>
              <a:t>cron</a:t>
            </a:r>
            <a:endParaRPr lang="fr-FR" sz="2400" dirty="0"/>
          </a:p>
          <a:p>
            <a:pPr>
              <a:spcBef>
                <a:spcPts val="1800"/>
              </a:spcBef>
            </a:pPr>
            <a:endParaRPr lang="fr-FR" sz="2400" dirty="0"/>
          </a:p>
          <a:p>
            <a:pPr>
              <a:spcBef>
                <a:spcPts val="1800"/>
              </a:spcBef>
            </a:pPr>
            <a:endParaRPr lang="fr-FR" sz="2400" dirty="0"/>
          </a:p>
          <a:p>
            <a:pPr>
              <a:spcBef>
                <a:spcPts val="1800"/>
              </a:spcBef>
            </a:pPr>
            <a:r>
              <a:rPr lang="fr-FR" sz="2400" dirty="0"/>
              <a:t>Pour exécuter le service </a:t>
            </a:r>
            <a:r>
              <a:rPr lang="fr-FR" sz="2400" dirty="0" err="1"/>
              <a:t>cron</a:t>
            </a:r>
            <a:r>
              <a:rPr lang="fr-FR" sz="2400" dirty="0"/>
              <a:t> dans la session actuelle:</a:t>
            </a:r>
          </a:p>
          <a:p>
            <a:pPr lvl="1">
              <a:spcBef>
                <a:spcPts val="1800"/>
              </a:spcBef>
            </a:pPr>
            <a:r>
              <a:rPr lang="fr-FR" sz="2400" dirty="0"/>
              <a:t>Utiliser la commande </a:t>
            </a:r>
            <a:r>
              <a:rPr lang="fr-FR" sz="2400" dirty="0" err="1">
                <a:solidFill>
                  <a:srgbClr val="FF0000"/>
                </a:solidFill>
              </a:rPr>
              <a:t>systemctl</a:t>
            </a:r>
            <a:r>
              <a:rPr lang="fr-FR" sz="2400" dirty="0">
                <a:solidFill>
                  <a:srgbClr val="FF0000"/>
                </a:solidFill>
              </a:rPr>
              <a:t> start </a:t>
            </a:r>
            <a:r>
              <a:rPr lang="fr-FR" sz="2400" dirty="0" err="1">
                <a:solidFill>
                  <a:srgbClr val="FF0000"/>
                </a:solidFill>
              </a:rPr>
              <a:t>cron</a:t>
            </a:r>
            <a:endParaRPr lang="fr-FR" sz="2400" dirty="0">
              <a:solidFill>
                <a:srgbClr val="FF0000"/>
              </a:solidFill>
            </a:endParaRPr>
          </a:p>
          <a:p>
            <a:pPr>
              <a:spcBef>
                <a:spcPts val="1800"/>
              </a:spcBef>
            </a:pPr>
            <a:r>
              <a:rPr lang="fr-FR" sz="2400" dirty="0"/>
              <a:t>Pour configurer le service de manière à ce qu'il soit lancé automatiquement lors du démarrage système:</a:t>
            </a:r>
          </a:p>
          <a:p>
            <a:pPr lvl="1">
              <a:spcBef>
                <a:spcPts val="1800"/>
              </a:spcBef>
            </a:pPr>
            <a:r>
              <a:rPr lang="fr-FR" sz="2400" dirty="0"/>
              <a:t>Utiliser la commande </a:t>
            </a:r>
            <a:r>
              <a:rPr lang="fr-FR" sz="2400" dirty="0" err="1">
                <a:solidFill>
                  <a:srgbClr val="FF0000"/>
                </a:solidFill>
              </a:rPr>
              <a:t>systemctl</a:t>
            </a:r>
            <a:r>
              <a:rPr lang="fr-FR" sz="2400" dirty="0">
                <a:solidFill>
                  <a:srgbClr val="FF0000"/>
                </a:solidFill>
              </a:rPr>
              <a:t> enable </a:t>
            </a:r>
            <a:r>
              <a:rPr lang="fr-FR" sz="2400" dirty="0" err="1">
                <a:solidFill>
                  <a:srgbClr val="FF0000"/>
                </a:solidFill>
              </a:rPr>
              <a:t>cron</a:t>
            </a:r>
            <a:endParaRPr lang="fr-FR" sz="2400" dirty="0"/>
          </a:p>
          <a:p>
            <a:pPr>
              <a:spcBef>
                <a:spcPts val="1800"/>
              </a:spcBef>
            </a:pPr>
            <a:endParaRPr lang="fr-FR" sz="2200" dirty="0"/>
          </a:p>
          <a:p>
            <a:pPr>
              <a:spcBef>
                <a:spcPts val="1800"/>
              </a:spcBef>
            </a:pPr>
            <a:endParaRPr lang="fr-FR" sz="2200" dirty="0"/>
          </a:p>
          <a:p>
            <a:pPr>
              <a:spcBef>
                <a:spcPts val="1800"/>
              </a:spcBef>
            </a:pPr>
            <a:endParaRPr lang="fr-FR" sz="2200" dirty="0"/>
          </a:p>
          <a:p>
            <a:pPr>
              <a:spcBef>
                <a:spcPts val="1800"/>
              </a:spcBef>
            </a:pPr>
            <a:endParaRPr lang="fr-FR" sz="2200" dirty="0"/>
          </a:p>
        </p:txBody>
      </p:sp>
      <p:pic>
        <p:nvPicPr>
          <p:cNvPr id="1026" name="Picture 2" descr="How to edit crontab with nano">
            <a:extLst>
              <a:ext uri="{FF2B5EF4-FFF2-40B4-BE49-F238E27FC236}">
                <a16:creationId xmlns="" xmlns:a16="http://schemas.microsoft.com/office/drawing/2014/main" id="{0A432B04-8A7A-5C2F-A246-2136106FDD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54" b="74015"/>
          <a:stretch/>
        </p:blipFill>
        <p:spPr bwMode="auto">
          <a:xfrm>
            <a:off x="1881918" y="3440753"/>
            <a:ext cx="9556878" cy="109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To Schedule Tasks Or Cron Jobs Using Crontab On Ubuntu | Tutorials24x7">
            <a:extLst>
              <a:ext uri="{FF2B5EF4-FFF2-40B4-BE49-F238E27FC236}">
                <a16:creationId xmlns="" xmlns:a16="http://schemas.microsoft.com/office/drawing/2014/main" id="{8FB12901-46AC-2F59-CA02-A4637D48F1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61" b="49999"/>
          <a:stretch/>
        </p:blipFill>
        <p:spPr bwMode="auto">
          <a:xfrm>
            <a:off x="1881917" y="5736330"/>
            <a:ext cx="9556878" cy="118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238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/>
        </p:nvSpPr>
        <p:spPr>
          <a:xfrm>
            <a:off x="1044951" y="4570420"/>
            <a:ext cx="11230809" cy="19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D93E2B"/>
              </a:buClr>
              <a:buSzPts val="6600"/>
            </a:pPr>
            <a:r>
              <a:rPr lang="fr-FR" sz="6600" dirty="0">
                <a:solidFill>
                  <a:srgbClr val="D93E2B"/>
                </a:solidFill>
                <a:latin typeface="Bodoni"/>
              </a:rPr>
              <a:t>Introduction : System CRON jobs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3E2B"/>
              </a:buClr>
              <a:buSzPts val="6600"/>
              <a:buFont typeface="Bodoni"/>
              <a:buNone/>
            </a:pPr>
            <a:endParaRPr sz="6600" dirty="0">
              <a:solidFill>
                <a:srgbClr val="D93E2B"/>
              </a:solidFill>
              <a:latin typeface="Bodoni"/>
              <a:sym typeface="Bodoni"/>
            </a:endParaRPr>
          </a:p>
        </p:txBody>
      </p:sp>
    </p:spTree>
    <p:extLst>
      <p:ext uri="{BB962C8B-B14F-4D97-AF65-F5344CB8AC3E}">
        <p14:creationId xmlns:p14="http://schemas.microsoft.com/office/powerpoint/2010/main" val="873753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BACBA0D5-7560-AC3D-AD45-FEEC74CD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600" dirty="0">
                <a:cs typeface="Arial"/>
                <a:sym typeface="Arial"/>
              </a:rPr>
              <a:t>System CRON jobs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05094482-6D9F-B8BB-A4C3-40EAB3B79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1" y="2717044"/>
            <a:ext cx="12117486" cy="2114264"/>
          </a:xfrm>
        </p:spPr>
        <p:txBody>
          <a:bodyPr>
            <a:normAutofit/>
          </a:bodyPr>
          <a:lstStyle/>
          <a:p>
            <a:pPr algn="just"/>
            <a:r>
              <a:rPr lang="fr-FR" sz="2800" dirty="0"/>
              <a:t>Pour utiliser </a:t>
            </a:r>
            <a:r>
              <a:rPr lang="fr-FR" sz="2800" b="1" dirty="0" err="1"/>
              <a:t>cron</a:t>
            </a:r>
            <a:r>
              <a:rPr lang="fr-FR" sz="2800" dirty="0"/>
              <a:t>, </a:t>
            </a:r>
            <a:r>
              <a:rPr lang="fr-FR" sz="2800" dirty="0" smtClean="0"/>
              <a:t>on ajoute simplement </a:t>
            </a:r>
            <a:r>
              <a:rPr lang="fr-FR" sz="2800" dirty="0"/>
              <a:t>les </a:t>
            </a:r>
            <a:r>
              <a:rPr lang="fr-FR" sz="2800" dirty="0" smtClean="0"/>
              <a:t>entrées au fichier </a:t>
            </a:r>
            <a:r>
              <a:rPr lang="fr-FR" sz="2800" b="1" dirty="0"/>
              <a:t>/</a:t>
            </a:r>
            <a:r>
              <a:rPr lang="fr-FR" sz="2800" b="1" dirty="0" err="1"/>
              <a:t>etc</a:t>
            </a:r>
            <a:r>
              <a:rPr lang="fr-FR" sz="2800" b="1" dirty="0"/>
              <a:t>/</a:t>
            </a:r>
            <a:r>
              <a:rPr lang="fr-FR" sz="2800" b="1" dirty="0" err="1"/>
              <a:t>crontab</a:t>
            </a:r>
            <a:r>
              <a:rPr lang="fr-FR" sz="2800" b="1" dirty="0"/>
              <a:t>, </a:t>
            </a:r>
            <a:r>
              <a:rPr lang="fr-FR" sz="2800" dirty="0"/>
              <a:t>Chaque ligne représente une commande à exécuter. </a:t>
            </a:r>
          </a:p>
          <a:p>
            <a:pPr algn="just"/>
            <a:r>
              <a:rPr lang="fr-FR" sz="2800" dirty="0"/>
              <a:t>La table de configuration doit être remplie de la façon suivante : </a:t>
            </a:r>
          </a:p>
          <a:p>
            <a:endParaRPr lang="fr-FR" sz="2200" dirty="0"/>
          </a:p>
        </p:txBody>
      </p:sp>
      <p:sp>
        <p:nvSpPr>
          <p:cNvPr id="4" name="Rectangle 7">
            <a:extLst>
              <a:ext uri="{FF2B5EF4-FFF2-40B4-BE49-F238E27FC236}">
                <a16:creationId xmlns="" xmlns:a16="http://schemas.microsoft.com/office/drawing/2014/main" id="{CDC649E9-40D2-225D-6FF5-9BD30693E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6957" y="4616995"/>
            <a:ext cx="9546798" cy="428625"/>
          </a:xfrm>
          <a:prstGeom prst="rect">
            <a:avLst/>
          </a:prstGeom>
          <a:solidFill>
            <a:srgbClr val="DFC867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dirty="0"/>
              <a:t>mm  </a:t>
            </a:r>
            <a:r>
              <a:rPr lang="fr-FR" sz="2400" dirty="0" err="1"/>
              <a:t>hh</a:t>
            </a:r>
            <a:r>
              <a:rPr lang="fr-FR" sz="2400" dirty="0"/>
              <a:t>  </a:t>
            </a:r>
            <a:r>
              <a:rPr lang="fr-FR" sz="2400" dirty="0" err="1"/>
              <a:t>jj</a:t>
            </a:r>
            <a:r>
              <a:rPr lang="fr-FR" sz="2400" dirty="0"/>
              <a:t>  MM  JJ  user   commande  &gt; log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="" xmlns:a16="http://schemas.microsoft.com/office/drawing/2014/main" id="{2EB3A7C8-1463-51F2-B11E-587B91FB1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238628"/>
              </p:ext>
            </p:extLst>
          </p:nvPr>
        </p:nvGraphicFramePr>
        <p:xfrm>
          <a:off x="2122035" y="5835549"/>
          <a:ext cx="10678338" cy="2789836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33916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33916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894178">
                <a:tc>
                  <a:txBody>
                    <a:bodyPr/>
                    <a:lstStyle/>
                    <a:p>
                      <a:r>
                        <a:rPr lang="fr-FR" sz="2400" b="1" dirty="0"/>
                        <a:t>mm</a:t>
                      </a:r>
                      <a:r>
                        <a:rPr lang="fr-FR" sz="2400" b="0" baseline="0" dirty="0"/>
                        <a:t> : </a:t>
                      </a:r>
                      <a:r>
                        <a:rPr lang="fr-FR" sz="2400" b="0" dirty="0"/>
                        <a:t>les minutes  0-59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b="1" dirty="0"/>
                        <a:t>JJ</a:t>
                      </a:r>
                      <a:r>
                        <a:rPr lang="fr-FR" sz="2400" b="0" dirty="0"/>
                        <a:t> : le jour de la semaine  0-7</a:t>
                      </a:r>
                    </a:p>
                    <a:p>
                      <a:r>
                        <a:rPr lang="fr-FR" sz="2400" b="0" dirty="0"/>
                        <a:t>0 et 7 représentes le</a:t>
                      </a:r>
                      <a:r>
                        <a:rPr lang="fr-FR" sz="2400" b="0" baseline="0" dirty="0"/>
                        <a:t> dimanche</a:t>
                      </a:r>
                      <a:endParaRPr lang="fr-FR" sz="24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0740">
                <a:tc>
                  <a:txBody>
                    <a:bodyPr/>
                    <a:lstStyle/>
                    <a:p>
                      <a:r>
                        <a:rPr lang="fr-FR" sz="2400" b="1" dirty="0" err="1"/>
                        <a:t>hh</a:t>
                      </a:r>
                      <a:r>
                        <a:rPr lang="fr-FR" sz="2400" dirty="0"/>
                        <a:t> :  les heures  00-23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b="1" dirty="0"/>
                        <a:t>user</a:t>
                      </a:r>
                      <a:r>
                        <a:rPr lang="fr-FR" sz="2400" b="1" baseline="0" dirty="0"/>
                        <a:t> </a:t>
                      </a:r>
                      <a:r>
                        <a:rPr lang="fr-FR" sz="2400" baseline="0" dirty="0"/>
                        <a:t>: le nom de l’utilisateur</a:t>
                      </a:r>
                      <a:endParaRPr lang="fr-FR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94178">
                <a:tc>
                  <a:txBody>
                    <a:bodyPr/>
                    <a:lstStyle/>
                    <a:p>
                      <a:r>
                        <a:rPr lang="fr-FR" sz="2400" b="1" dirty="0" err="1"/>
                        <a:t>jj</a:t>
                      </a:r>
                      <a:r>
                        <a:rPr lang="fr-FR" sz="2400" dirty="0"/>
                        <a:t> :  le numéro de jour du mois  1-31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b="1" dirty="0"/>
                        <a:t>c</a:t>
                      </a:r>
                      <a:r>
                        <a:rPr lang="fr-FR" sz="2400" b="1" dirty="0" smtClean="0"/>
                        <a:t>ommande</a:t>
                      </a:r>
                      <a:r>
                        <a:rPr lang="fr-FR" sz="2400" dirty="0" smtClean="0"/>
                        <a:t> </a:t>
                      </a:r>
                      <a:r>
                        <a:rPr lang="fr-FR" sz="2400" dirty="0"/>
                        <a:t>: commande</a:t>
                      </a:r>
                      <a:r>
                        <a:rPr lang="fr-FR" sz="2400" baseline="0" dirty="0"/>
                        <a:t> à lancer </a:t>
                      </a:r>
                      <a:endParaRPr lang="fr-FR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0740">
                <a:tc>
                  <a:txBody>
                    <a:bodyPr/>
                    <a:lstStyle/>
                    <a:p>
                      <a:r>
                        <a:rPr lang="fr-FR" sz="2400" b="1" dirty="0"/>
                        <a:t>MM</a:t>
                      </a:r>
                      <a:r>
                        <a:rPr lang="fr-FR" sz="2400" dirty="0"/>
                        <a:t> :  le numéro du mois  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b="1" dirty="0"/>
                        <a:t>l</a:t>
                      </a:r>
                      <a:r>
                        <a:rPr lang="fr-FR" sz="2400" b="1" dirty="0" smtClean="0"/>
                        <a:t>og</a:t>
                      </a:r>
                      <a:r>
                        <a:rPr lang="fr-FR" sz="2400" dirty="0" smtClean="0"/>
                        <a:t> </a:t>
                      </a:r>
                      <a:r>
                        <a:rPr lang="fr-FR" sz="2400" dirty="0"/>
                        <a:t>: le nom du fichier 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2082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118BE367-4B7C-048B-798D-C1F31E5EE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7200" dirty="0">
                <a:cs typeface="Arial"/>
                <a:sym typeface="Arial"/>
              </a:rPr>
              <a:t>System CRON jobs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4D72DE9C-59BE-E76E-B8B4-3CB0F4E26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1" y="2560701"/>
            <a:ext cx="12280032" cy="6861595"/>
          </a:xfrm>
        </p:spPr>
        <p:txBody>
          <a:bodyPr>
            <a:noAutofit/>
          </a:bodyPr>
          <a:lstStyle/>
          <a:p>
            <a:pPr marL="160020" indent="0" hangingPunct="0">
              <a:lnSpc>
                <a:spcPct val="97000"/>
              </a:lnSpc>
              <a:buClr>
                <a:srgbClr val="000000"/>
              </a:buClr>
              <a:buSzPct val="45000"/>
              <a:buNone/>
            </a:pPr>
            <a:r>
              <a:rPr lang="fr-FR" sz="2800" b="1" dirty="0">
                <a:solidFill>
                  <a:schemeClr val="bg1"/>
                </a:solidFill>
                <a:latin typeface="+mn-lt"/>
              </a:rPr>
              <a:t>Exemples</a:t>
            </a:r>
            <a:endParaRPr lang="fr-FR" sz="2400" b="1" dirty="0">
              <a:solidFill>
                <a:schemeClr val="bg1"/>
              </a:solidFill>
              <a:latin typeface="+mn-lt"/>
            </a:endParaRPr>
          </a:p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 marL="160020" indent="-457200" algn="just" hangingPunct="0">
              <a:lnSpc>
                <a:spcPct val="97000"/>
              </a:lnSpc>
              <a:spcBef>
                <a:spcPts val="12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 smtClean="0"/>
              <a:t>Exécuter </a:t>
            </a:r>
            <a:r>
              <a:rPr lang="fr-FR" sz="2800" dirty="0"/>
              <a:t>la commande  </a:t>
            </a:r>
            <a:r>
              <a:rPr lang="fr-FR" sz="2800" b="1" dirty="0"/>
              <a:t>/</a:t>
            </a:r>
            <a:r>
              <a:rPr lang="fr-FR" sz="2800" b="1" dirty="0" err="1"/>
              <a:t>usr</a:t>
            </a:r>
            <a:r>
              <a:rPr lang="fr-FR" sz="2800" b="1" dirty="0"/>
              <a:t>/bin/apt-get  update </a:t>
            </a:r>
            <a:r>
              <a:rPr lang="fr-FR" sz="2800" dirty="0"/>
              <a:t>tous les Avril (4), qui tombent un 3 Avril (3), à </a:t>
            </a:r>
            <a:r>
              <a:rPr lang="fr-FR" sz="2800" dirty="0" smtClean="0"/>
              <a:t>2h01</a:t>
            </a:r>
            <a:endParaRPr lang="fr-FR" sz="2800" dirty="0"/>
          </a:p>
          <a:p>
            <a:pPr marL="160020" indent="-457200" algn="just" hangingPunct="0">
              <a:lnSpc>
                <a:spcPct val="97000"/>
              </a:lnSpc>
              <a:spcBef>
                <a:spcPts val="12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>
                <a:latin typeface="+mn-lt"/>
              </a:rPr>
              <a:t> </a:t>
            </a:r>
            <a:r>
              <a:rPr lang="fr-FR" sz="2800" b="1" u="sng" dirty="0">
                <a:latin typeface="+mn-lt"/>
              </a:rPr>
              <a:t>une étoile (toutes les valeurs) </a:t>
            </a:r>
          </a:p>
          <a:p>
            <a:pPr marL="160020" indent="-457200" algn="just" hangingPunct="0">
              <a:lnSpc>
                <a:spcPct val="97000"/>
              </a:lnSpc>
              <a:spcBef>
                <a:spcPts val="12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endParaRPr lang="fr-FR" sz="2800" u="sng" dirty="0">
              <a:latin typeface="+mn-lt"/>
            </a:endParaRPr>
          </a:p>
          <a:p>
            <a:pPr marL="0" indent="0" algn="just" hangingPunct="0">
              <a:lnSpc>
                <a:spcPct val="97000"/>
              </a:lnSpc>
              <a:spcBef>
                <a:spcPts val="1200"/>
              </a:spcBef>
              <a:buClr>
                <a:srgbClr val="000000"/>
              </a:buClr>
              <a:buSzPct val="45000"/>
              <a:buNone/>
            </a:pPr>
            <a:r>
              <a:rPr lang="fr-FR" sz="2800" dirty="0"/>
              <a:t>Exécuter la commande  </a:t>
            </a:r>
            <a:r>
              <a:rPr lang="fr-FR" sz="2800" b="1" dirty="0"/>
              <a:t>/</a:t>
            </a:r>
            <a:r>
              <a:rPr lang="fr-FR" sz="2800" b="1" dirty="0" err="1"/>
              <a:t>usr</a:t>
            </a:r>
            <a:r>
              <a:rPr lang="fr-FR" sz="2800" b="1" dirty="0"/>
              <a:t>/bin/</a:t>
            </a:r>
            <a:r>
              <a:rPr lang="fr-FR" sz="2800" b="1" dirty="0" err="1"/>
              <a:t>apt-get</a:t>
            </a:r>
            <a:r>
              <a:rPr lang="fr-FR" sz="2800" b="1" dirty="0"/>
              <a:t>  update </a:t>
            </a:r>
            <a:r>
              <a:rPr lang="fr-FR" sz="2800" dirty="0" smtClean="0"/>
              <a:t>tous </a:t>
            </a:r>
            <a:r>
              <a:rPr lang="fr-FR" sz="2800" dirty="0"/>
              <a:t>les vendredis (5), d’Avril (4), à 2h (2), et toutes les minutes </a:t>
            </a:r>
            <a:r>
              <a:rPr lang="fr-FR" sz="2800" dirty="0" smtClean="0"/>
              <a:t>(*)</a:t>
            </a:r>
            <a:endParaRPr lang="fr-FR" sz="2800" dirty="0"/>
          </a:p>
          <a:p>
            <a:pPr marL="160020" indent="-457200" algn="just" hangingPunct="0">
              <a:lnSpc>
                <a:spcPct val="97000"/>
              </a:lnSpc>
              <a:spcBef>
                <a:spcPts val="12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b="1" u="sng" dirty="0">
                <a:latin typeface="+mn-lt"/>
              </a:rPr>
              <a:t>un multiple : </a:t>
            </a:r>
          </a:p>
          <a:p>
            <a:pPr marL="160020" indent="-457200" algn="just" hangingPunct="0">
              <a:lnSpc>
                <a:spcPct val="97000"/>
              </a:lnSpc>
              <a:spcBef>
                <a:spcPts val="12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endParaRPr lang="fr-FR" sz="2800" u="sng" dirty="0">
              <a:latin typeface="+mn-lt"/>
            </a:endParaRPr>
          </a:p>
          <a:p>
            <a:pPr marL="0" indent="0" algn="just" hangingPunct="0">
              <a:lnSpc>
                <a:spcPct val="97000"/>
              </a:lnSpc>
              <a:spcBef>
                <a:spcPts val="1200"/>
              </a:spcBef>
              <a:buClr>
                <a:srgbClr val="000000"/>
              </a:buClr>
              <a:buSzPct val="45000"/>
              <a:buNone/>
            </a:pPr>
            <a:r>
              <a:rPr lang="fr-FR" sz="2800" dirty="0"/>
              <a:t>Exécuter la commande  </a:t>
            </a:r>
            <a:r>
              <a:rPr lang="fr-FR" sz="2800" b="1" dirty="0"/>
              <a:t>/</a:t>
            </a:r>
            <a:r>
              <a:rPr lang="fr-FR" sz="2800" b="1" dirty="0" err="1"/>
              <a:t>usr</a:t>
            </a:r>
            <a:r>
              <a:rPr lang="fr-FR" sz="2800" b="1" dirty="0"/>
              <a:t>/bin/</a:t>
            </a:r>
            <a:r>
              <a:rPr lang="fr-FR" sz="2800" b="1" dirty="0" err="1"/>
              <a:t>apt-get</a:t>
            </a:r>
            <a:r>
              <a:rPr lang="fr-FR" sz="2800" b="1" dirty="0"/>
              <a:t>  update </a:t>
            </a:r>
            <a:r>
              <a:rPr lang="fr-FR" sz="2800" dirty="0" smtClean="0"/>
              <a:t>t</a:t>
            </a:r>
            <a:r>
              <a:rPr lang="fr-FR" sz="2800" dirty="0" smtClean="0"/>
              <a:t>ous </a:t>
            </a:r>
            <a:r>
              <a:rPr lang="fr-FR" sz="2800" dirty="0"/>
              <a:t>les Avril (4), qui tombent un 3 Avril (3), à 2h et toutes les 10 minutes (*/10</a:t>
            </a:r>
            <a:r>
              <a:rPr lang="fr-FR" sz="2800" dirty="0" smtClean="0"/>
              <a:t>)</a:t>
            </a:r>
            <a:endParaRPr lang="fr-FR" sz="2800" u="sng" dirty="0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956783D4-E22E-320F-F044-20D4A6D12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7325" y="3590896"/>
            <a:ext cx="8459018" cy="525390"/>
          </a:xfrm>
          <a:prstGeom prst="rect">
            <a:avLst/>
          </a:prstGeom>
          <a:solidFill>
            <a:srgbClr val="DFC867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dirty="0"/>
              <a:t>1   2   3   4   *  </a:t>
            </a:r>
            <a:r>
              <a:rPr lang="fr-FR" sz="2400" dirty="0" err="1"/>
              <a:t>root</a:t>
            </a:r>
            <a:r>
              <a:rPr lang="fr-FR" sz="2400" dirty="0"/>
              <a:t>    /</a:t>
            </a:r>
            <a:r>
              <a:rPr lang="fr-FR" sz="2400" dirty="0" err="1"/>
              <a:t>usr</a:t>
            </a:r>
            <a:r>
              <a:rPr lang="fr-FR" sz="2400" dirty="0"/>
              <a:t>/bin/</a:t>
            </a:r>
            <a:r>
              <a:rPr lang="fr-FR" sz="2400" dirty="0" err="1"/>
              <a:t>apt-get</a:t>
            </a:r>
            <a:r>
              <a:rPr lang="fr-FR" sz="2400" dirty="0"/>
              <a:t>  update 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6130628B-2795-B17B-2A84-38A650F3E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7325" y="5764450"/>
            <a:ext cx="8459018" cy="525390"/>
          </a:xfrm>
          <a:prstGeom prst="rect">
            <a:avLst/>
          </a:prstGeom>
          <a:solidFill>
            <a:srgbClr val="DFC867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dirty="0"/>
              <a:t>*   2   *   4   5  </a:t>
            </a:r>
            <a:r>
              <a:rPr lang="fr-FR" sz="2400" dirty="0" err="1"/>
              <a:t>root</a:t>
            </a:r>
            <a:r>
              <a:rPr lang="fr-FR" sz="2400" dirty="0"/>
              <a:t>    /</a:t>
            </a:r>
            <a:r>
              <a:rPr lang="fr-FR" sz="2400" dirty="0" err="1"/>
              <a:t>usr</a:t>
            </a:r>
            <a:r>
              <a:rPr lang="fr-FR" sz="2400" dirty="0"/>
              <a:t>/bin/</a:t>
            </a:r>
            <a:r>
              <a:rPr lang="fr-FR" sz="2400" dirty="0" err="1"/>
              <a:t>apt-get</a:t>
            </a:r>
            <a:r>
              <a:rPr lang="fr-FR" sz="2400" dirty="0"/>
              <a:t>  update 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370D5F70-89D8-AEAD-72C6-FF2F75081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7325" y="7854081"/>
            <a:ext cx="8612354" cy="566335"/>
          </a:xfrm>
          <a:prstGeom prst="rect">
            <a:avLst/>
          </a:prstGeom>
          <a:solidFill>
            <a:srgbClr val="DFC867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dirty="0"/>
              <a:t>*/10   2   3   4   *  </a:t>
            </a:r>
            <a:r>
              <a:rPr lang="fr-FR" sz="2400" dirty="0" err="1"/>
              <a:t>root</a:t>
            </a:r>
            <a:r>
              <a:rPr lang="fr-FR" sz="2400" dirty="0"/>
              <a:t>    /</a:t>
            </a:r>
            <a:r>
              <a:rPr lang="fr-FR" sz="2400" dirty="0" err="1"/>
              <a:t>usr</a:t>
            </a:r>
            <a:r>
              <a:rPr lang="fr-FR" sz="2400" dirty="0"/>
              <a:t>/bin/</a:t>
            </a:r>
            <a:r>
              <a:rPr lang="fr-FR" sz="2400" dirty="0" err="1"/>
              <a:t>apt-get</a:t>
            </a:r>
            <a:r>
              <a:rPr lang="fr-FR" sz="2400" dirty="0"/>
              <a:t>  update </a:t>
            </a:r>
          </a:p>
        </p:txBody>
      </p:sp>
    </p:spTree>
    <p:extLst>
      <p:ext uri="{BB962C8B-B14F-4D97-AF65-F5344CB8AC3E}">
        <p14:creationId xmlns:p14="http://schemas.microsoft.com/office/powerpoint/2010/main" val="3536115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AD50ABA5-BBCA-B380-4F75-94087165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7200" dirty="0">
                <a:cs typeface="Arial"/>
                <a:sym typeface="Arial"/>
              </a:rPr>
              <a:t>System CRON jobs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093E0DB9-31F8-49F9-1F9A-1AE4D6335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9186" y="3504934"/>
            <a:ext cx="12280032" cy="5796562"/>
          </a:xfrm>
        </p:spPr>
        <p:txBody>
          <a:bodyPr>
            <a:noAutofit/>
          </a:bodyPr>
          <a:lstStyle/>
          <a:p>
            <a:pPr marL="160020" indent="0" hangingPunct="0">
              <a:lnSpc>
                <a:spcPct val="97000"/>
              </a:lnSpc>
              <a:buClr>
                <a:srgbClr val="000000"/>
              </a:buClr>
              <a:buSzPct val="45000"/>
              <a:buNone/>
            </a:pPr>
            <a:endParaRPr lang="fr-FR" sz="2800" b="1" dirty="0">
              <a:latin typeface="+mn-lt"/>
            </a:endParaRPr>
          </a:p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/>
              <a:t>Exécuter la commande  </a:t>
            </a:r>
            <a:r>
              <a:rPr lang="fr-FR" sz="2800" b="1" dirty="0"/>
              <a:t>/</a:t>
            </a:r>
            <a:r>
              <a:rPr lang="fr-FR" sz="2800" b="1" dirty="0" err="1"/>
              <a:t>usr</a:t>
            </a:r>
            <a:r>
              <a:rPr lang="fr-FR" sz="2800" b="1" dirty="0"/>
              <a:t>/bin/</a:t>
            </a:r>
            <a:r>
              <a:rPr lang="fr-FR" sz="2800" b="1" dirty="0" err="1"/>
              <a:t>apt-get</a:t>
            </a:r>
            <a:r>
              <a:rPr lang="fr-FR" sz="2800" b="1" dirty="0"/>
              <a:t>  update </a:t>
            </a:r>
            <a:r>
              <a:rPr lang="fr-FR" sz="2800" b="1" dirty="0" smtClean="0"/>
              <a:t> </a:t>
            </a:r>
            <a:r>
              <a:rPr lang="fr-FR" sz="2800" dirty="0" smtClean="0">
                <a:latin typeface="+mn-lt"/>
              </a:rPr>
              <a:t>tous </a:t>
            </a:r>
            <a:r>
              <a:rPr lang="fr-FR" sz="2800" dirty="0">
                <a:latin typeface="+mn-lt"/>
              </a:rPr>
              <a:t>les vendredis, samedis et dimanches (5-7), d’Avril (4), à 2h01</a:t>
            </a:r>
          </a:p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endParaRPr lang="fr-FR" sz="2800" dirty="0">
              <a:latin typeface="+mn-lt"/>
            </a:endParaRPr>
          </a:p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/>
              <a:t>Exécuter la commande  </a:t>
            </a:r>
            <a:r>
              <a:rPr lang="fr-FR" sz="2800" b="1" dirty="0"/>
              <a:t>/</a:t>
            </a:r>
            <a:r>
              <a:rPr lang="fr-FR" sz="2800" b="1" dirty="0" err="1"/>
              <a:t>usr</a:t>
            </a:r>
            <a:r>
              <a:rPr lang="fr-FR" sz="2800" b="1" dirty="0"/>
              <a:t>/bin/</a:t>
            </a:r>
            <a:r>
              <a:rPr lang="fr-FR" sz="2800" b="1" dirty="0" err="1"/>
              <a:t>apt-get</a:t>
            </a:r>
            <a:r>
              <a:rPr lang="fr-FR" sz="2800" b="1" dirty="0"/>
              <a:t>  update </a:t>
            </a:r>
            <a:r>
              <a:rPr lang="fr-FR" sz="2800" dirty="0" smtClean="0">
                <a:latin typeface="+mn-lt"/>
              </a:rPr>
              <a:t>tous </a:t>
            </a:r>
            <a:r>
              <a:rPr lang="fr-FR" sz="2800" dirty="0">
                <a:latin typeface="+mn-lt"/>
              </a:rPr>
              <a:t>les mercredis, vendredis et dimanches (4,5,7), d’Avril (4), qui tombent un 3 Avril (3), à 2h01.</a:t>
            </a:r>
          </a:p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>
                <a:latin typeface="+mn-lt"/>
              </a:rPr>
              <a:t> </a:t>
            </a:r>
            <a:r>
              <a:rPr lang="fr-FR" sz="2800" b="1" u="sng" dirty="0">
                <a:latin typeface="+mn-lt"/>
              </a:rPr>
              <a:t>Ensemble des commandes</a:t>
            </a:r>
          </a:p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endParaRPr lang="fr-FR" sz="2800" b="1" dirty="0">
              <a:latin typeface="+mn-lt"/>
            </a:endParaRPr>
          </a:p>
          <a:p>
            <a:pPr marL="160020" indent="0" hangingPunct="0">
              <a:lnSpc>
                <a:spcPct val="97000"/>
              </a:lnSpc>
              <a:buClr>
                <a:srgbClr val="000000"/>
              </a:buClr>
              <a:buSzPct val="45000"/>
              <a:buNone/>
            </a:pPr>
            <a:r>
              <a:rPr lang="fr-FR" sz="2800" dirty="0">
                <a:latin typeface="+mn-lt"/>
              </a:rPr>
              <a:t>L’options </a:t>
            </a:r>
            <a:r>
              <a:rPr lang="fr-FR" sz="2800" b="1" dirty="0">
                <a:latin typeface="+mn-lt"/>
              </a:rPr>
              <a:t>run-parts</a:t>
            </a:r>
            <a:r>
              <a:rPr lang="fr-FR" sz="2800" dirty="0">
                <a:latin typeface="+mn-lt"/>
              </a:rPr>
              <a:t> est utilisé pour lancer un ensemble de commandes dans un répertoire bien déterminé.</a:t>
            </a:r>
          </a:p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endParaRPr lang="fr-FR" sz="2800" b="1" dirty="0">
              <a:latin typeface="+mn-lt"/>
            </a:endParaRPr>
          </a:p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endParaRPr lang="fr-FR" sz="2800" b="1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fr-FR" sz="2800" b="1" u="sng" dirty="0">
              <a:latin typeface="+mn-lt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="" xmlns:a16="http://schemas.microsoft.com/office/drawing/2014/main" id="{E5837E52-121A-E2AF-F88A-08FB07B88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3025" y="2399248"/>
            <a:ext cx="8612354" cy="566335"/>
          </a:xfrm>
          <a:prstGeom prst="rect">
            <a:avLst/>
          </a:prstGeom>
          <a:solidFill>
            <a:srgbClr val="DFC867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dirty="0"/>
              <a:t>1   2   *   4   5-7  </a:t>
            </a:r>
            <a:r>
              <a:rPr lang="fr-FR" sz="2400" dirty="0" err="1"/>
              <a:t>root</a:t>
            </a:r>
            <a:r>
              <a:rPr lang="fr-FR" sz="2400" dirty="0"/>
              <a:t>    /</a:t>
            </a:r>
            <a:r>
              <a:rPr lang="fr-FR" sz="2400" dirty="0" err="1"/>
              <a:t>usr</a:t>
            </a:r>
            <a:r>
              <a:rPr lang="fr-FR" sz="2400" dirty="0"/>
              <a:t>/bin/</a:t>
            </a:r>
            <a:r>
              <a:rPr lang="fr-FR" sz="2400" dirty="0" err="1"/>
              <a:t>apt-get</a:t>
            </a:r>
            <a:r>
              <a:rPr lang="fr-FR" sz="2400" dirty="0"/>
              <a:t>  update 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28CB5DCA-2996-3483-9574-CD6414BBC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3025" y="4225831"/>
            <a:ext cx="8612354" cy="566334"/>
          </a:xfrm>
          <a:prstGeom prst="rect">
            <a:avLst/>
          </a:prstGeom>
          <a:solidFill>
            <a:srgbClr val="DFC867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hangingPunct="0">
              <a:lnSpc>
                <a:spcPct val="97000"/>
              </a:lnSpc>
              <a:buSzPct val="45000"/>
            </a:pPr>
            <a:r>
              <a:rPr lang="fr-FR" sz="2400" dirty="0"/>
              <a:t>1   2   3   4   3,5,7  </a:t>
            </a:r>
            <a:r>
              <a:rPr lang="fr-FR" sz="2400" dirty="0" err="1"/>
              <a:t>root</a:t>
            </a:r>
            <a:r>
              <a:rPr lang="fr-FR" sz="2400" dirty="0"/>
              <a:t>    /</a:t>
            </a:r>
            <a:r>
              <a:rPr lang="fr-FR" sz="2400" dirty="0" err="1"/>
              <a:t>usr</a:t>
            </a:r>
            <a:r>
              <a:rPr lang="fr-FR" sz="2400" dirty="0"/>
              <a:t>/bin/</a:t>
            </a:r>
            <a:r>
              <a:rPr lang="fr-FR" sz="2400" dirty="0" err="1"/>
              <a:t>apt-get</a:t>
            </a:r>
            <a:r>
              <a:rPr lang="fr-FR" sz="2400" dirty="0"/>
              <a:t>  update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D0A4C4BB-BF38-FE99-4276-4D118FB5D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0848" y="6954257"/>
            <a:ext cx="8459018" cy="525390"/>
          </a:xfrm>
          <a:prstGeom prst="rect">
            <a:avLst/>
          </a:prstGeom>
          <a:solidFill>
            <a:srgbClr val="DFC867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dirty="0"/>
              <a:t>1   2   3   4   *  </a:t>
            </a:r>
            <a:r>
              <a:rPr lang="fr-FR" sz="2400" dirty="0" err="1"/>
              <a:t>root</a:t>
            </a:r>
            <a:r>
              <a:rPr lang="fr-FR" sz="2400" dirty="0"/>
              <a:t>   </a:t>
            </a:r>
            <a:r>
              <a:rPr lang="fr-FR" sz="2400" b="1" dirty="0" err="1"/>
              <a:t>run</a:t>
            </a:r>
            <a:r>
              <a:rPr lang="fr-FR" sz="2400" b="1" dirty="0"/>
              <a:t>-parts</a:t>
            </a:r>
            <a:r>
              <a:rPr lang="fr-FR" sz="2400" dirty="0"/>
              <a:t>  /home/esprit/</a:t>
            </a:r>
            <a:r>
              <a:rPr lang="fr-FR" sz="2400" dirty="0" err="1"/>
              <a:t>mes_taches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095395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A4381714-CCB2-5EBE-9FCF-84EB6B17E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6600" dirty="0">
                <a:cs typeface="Arial"/>
                <a:sym typeface="Arial"/>
              </a:rPr>
              <a:t>System CRON jobs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52D3DBC4-F4FD-95BE-7199-15F98FD6F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 smtClean="0"/>
              <a:t>Il </a:t>
            </a:r>
            <a:r>
              <a:rPr lang="fr-FR" sz="2800" dirty="0"/>
              <a:t>est conseillé de mettre les scripts à lancer dans les dossiers </a:t>
            </a:r>
            <a:r>
              <a:rPr lang="fr-FR" sz="2800" dirty="0" smtClean="0"/>
              <a:t>préconfigurer:</a:t>
            </a:r>
            <a:endParaRPr lang="fr-FR" sz="2800" dirty="0"/>
          </a:p>
          <a:p>
            <a:pPr lvl="1"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/>
              <a:t>/</a:t>
            </a:r>
            <a:r>
              <a:rPr lang="fr-FR" sz="2800" dirty="0" err="1"/>
              <a:t>etc</a:t>
            </a:r>
            <a:r>
              <a:rPr lang="fr-FR" sz="2800" dirty="0"/>
              <a:t>/</a:t>
            </a:r>
            <a:r>
              <a:rPr lang="fr-FR" sz="2800" dirty="0" err="1"/>
              <a:t>cron.hourly</a:t>
            </a:r>
            <a:r>
              <a:rPr lang="fr-FR" sz="2800" dirty="0"/>
              <a:t>  : les scripts qui existent dans ce dossier ce lancent chaque heure.</a:t>
            </a:r>
          </a:p>
          <a:p>
            <a:pPr lvl="1"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/>
              <a:t>/</a:t>
            </a:r>
            <a:r>
              <a:rPr lang="fr-FR" sz="2800" dirty="0" err="1"/>
              <a:t>etc</a:t>
            </a:r>
            <a:r>
              <a:rPr lang="fr-FR" sz="2800" dirty="0"/>
              <a:t>/</a:t>
            </a:r>
            <a:r>
              <a:rPr lang="fr-FR" sz="2800" dirty="0" err="1"/>
              <a:t>cron.daily</a:t>
            </a:r>
            <a:endParaRPr lang="fr-FR" sz="2800" dirty="0"/>
          </a:p>
          <a:p>
            <a:pPr lvl="1"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/>
              <a:t>/</a:t>
            </a:r>
            <a:r>
              <a:rPr lang="fr-FR" sz="2800" dirty="0" err="1"/>
              <a:t>etc</a:t>
            </a:r>
            <a:r>
              <a:rPr lang="fr-FR" sz="2800" dirty="0"/>
              <a:t>/</a:t>
            </a:r>
            <a:r>
              <a:rPr lang="fr-FR" sz="2800" dirty="0" err="1"/>
              <a:t>cron.weekly</a:t>
            </a:r>
            <a:endParaRPr lang="fr-FR" sz="2800" dirty="0"/>
          </a:p>
          <a:p>
            <a:pPr lvl="1"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/>
              <a:t>/</a:t>
            </a:r>
            <a:r>
              <a:rPr lang="fr-FR" sz="2800" dirty="0" err="1"/>
              <a:t>etc</a:t>
            </a:r>
            <a:r>
              <a:rPr lang="fr-FR" sz="2800" dirty="0"/>
              <a:t>/</a:t>
            </a:r>
            <a:r>
              <a:rPr lang="fr-FR" sz="2800" dirty="0" err="1"/>
              <a:t>cron.mounthly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515858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/>
        </p:nvSpPr>
        <p:spPr>
          <a:xfrm>
            <a:off x="1044951" y="4570420"/>
            <a:ext cx="11230809" cy="19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D93E2B"/>
              </a:buClr>
              <a:buSzPts val="6600"/>
            </a:pPr>
            <a:r>
              <a:rPr lang="fr-FR" sz="6500" dirty="0">
                <a:solidFill>
                  <a:srgbClr val="D93E2B"/>
                </a:solidFill>
                <a:latin typeface="Bodoni"/>
                <a:sym typeface="Bodoni"/>
              </a:rPr>
              <a:t>User CRON jobs</a:t>
            </a:r>
            <a:endParaRPr sz="6500" dirty="0">
              <a:solidFill>
                <a:srgbClr val="D93E2B"/>
              </a:solidFill>
              <a:latin typeface="Bodoni"/>
              <a:sym typeface="Bodoni"/>
            </a:endParaRPr>
          </a:p>
        </p:txBody>
      </p:sp>
    </p:spTree>
    <p:extLst>
      <p:ext uri="{BB962C8B-B14F-4D97-AF65-F5344CB8AC3E}">
        <p14:creationId xmlns:p14="http://schemas.microsoft.com/office/powerpoint/2010/main" val="621634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A4381714-CCB2-5EBE-9FCF-84EB6B17E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buClr>
                <a:srgbClr val="D93E2B"/>
              </a:buClr>
              <a:buSzPts val="6600"/>
            </a:pPr>
            <a:r>
              <a:rPr lang="fr-FR" sz="6600" dirty="0">
                <a:solidFill>
                  <a:srgbClr val="D93E2B"/>
                </a:solidFill>
                <a:latin typeface="Bodoni"/>
                <a:sym typeface="Bodoni"/>
              </a:rPr>
              <a:t>User CRON jobs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52D3DBC4-F4FD-95BE-7199-15F98FD6F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1" y="2908428"/>
            <a:ext cx="12280032" cy="6300391"/>
          </a:xfrm>
        </p:spPr>
        <p:txBody>
          <a:bodyPr>
            <a:noAutofit/>
          </a:bodyPr>
          <a:lstStyle/>
          <a:p>
            <a:pPr algn="just" hangingPunct="0">
              <a:lnSpc>
                <a:spcPct val="97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 smtClean="0"/>
              <a:t>Le </a:t>
            </a:r>
            <a:r>
              <a:rPr lang="fr-FR" sz="2800" dirty="0" err="1"/>
              <a:t>crontab</a:t>
            </a:r>
            <a:r>
              <a:rPr lang="fr-FR" sz="2800" dirty="0"/>
              <a:t> est un fichier spécial qui contient le calendrier des travaux </a:t>
            </a:r>
            <a:r>
              <a:rPr lang="fr-FR" sz="2800" dirty="0" err="1"/>
              <a:t>cron</a:t>
            </a:r>
            <a:r>
              <a:rPr lang="fr-FR" sz="2800" dirty="0"/>
              <a:t> à exécuter. Cependant, ceux-ci ne sont pas destinés à être modifiés directement. </a:t>
            </a:r>
          </a:p>
          <a:p>
            <a:pPr algn="just" hangingPunct="0">
              <a:lnSpc>
                <a:spcPct val="97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/>
              <a:t>Au lieu de cela, il est recommandé d'utiliser la </a:t>
            </a:r>
            <a:r>
              <a:rPr lang="fr-FR" sz="2800" b="1" dirty="0" err="1">
                <a:solidFill>
                  <a:srgbClr val="0070C0"/>
                </a:solidFill>
              </a:rPr>
              <a:t>crontab</a:t>
            </a:r>
            <a:r>
              <a:rPr lang="fr-FR" sz="2800" dirty="0"/>
              <a:t> commande.</a:t>
            </a:r>
          </a:p>
          <a:p>
            <a:pPr algn="just" hangingPunct="0">
              <a:lnSpc>
                <a:spcPct val="97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/>
              <a:t>Tous les utilisateurs peuvent planifier l’exécution de </a:t>
            </a:r>
            <a:r>
              <a:rPr lang="fr-FR" sz="2800" dirty="0" smtClean="0"/>
              <a:t>tâches. Chacun </a:t>
            </a:r>
            <a:r>
              <a:rPr lang="fr-FR" sz="2800" dirty="0"/>
              <a:t>dispose de sa propre </a:t>
            </a:r>
            <a:r>
              <a:rPr lang="fr-FR" sz="2800" b="1" dirty="0" err="1"/>
              <a:t>crontab</a:t>
            </a:r>
            <a:r>
              <a:rPr lang="fr-FR" sz="2800" b="1" dirty="0"/>
              <a:t>.</a:t>
            </a:r>
          </a:p>
          <a:p>
            <a:pPr algn="just" hangingPunct="0">
              <a:lnSpc>
                <a:spcPct val="97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 smtClean="0"/>
              <a:t>Pour </a:t>
            </a:r>
            <a:r>
              <a:rPr lang="fr-FR" sz="2800" dirty="0"/>
              <a:t>éditer les commandes à </a:t>
            </a:r>
            <a:r>
              <a:rPr lang="fr-FR" sz="2800" dirty="0" smtClean="0"/>
              <a:t>planifier, utiliser </a:t>
            </a:r>
            <a:r>
              <a:rPr lang="fr-FR" sz="2800" dirty="0"/>
              <a:t>la commande </a:t>
            </a:r>
            <a:r>
              <a:rPr lang="fr-FR" sz="2800" b="1" dirty="0" err="1">
                <a:solidFill>
                  <a:srgbClr val="0070C0"/>
                </a:solidFill>
              </a:rPr>
              <a:t>crontab</a:t>
            </a:r>
            <a:r>
              <a:rPr lang="fr-FR" sz="2800" b="1" dirty="0">
                <a:solidFill>
                  <a:srgbClr val="0070C0"/>
                </a:solidFill>
              </a:rPr>
              <a:t> –e</a:t>
            </a:r>
          </a:p>
          <a:p>
            <a:pPr algn="just" hangingPunct="0">
              <a:lnSpc>
                <a:spcPct val="97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endParaRPr lang="fr-FR" sz="2800" b="1" dirty="0"/>
          </a:p>
          <a:p>
            <a:pPr algn="just" hangingPunct="0">
              <a:lnSpc>
                <a:spcPct val="97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endParaRPr lang="fr-FR" sz="2800" b="1" dirty="0"/>
          </a:p>
          <a:p>
            <a:pPr algn="just" hangingPunct="0">
              <a:lnSpc>
                <a:spcPct val="97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endParaRPr lang="fr-FR" sz="2800" dirty="0" smtClean="0"/>
          </a:p>
          <a:p>
            <a:pPr algn="just" hangingPunct="0">
              <a:lnSpc>
                <a:spcPct val="97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endParaRPr lang="fr-FR" sz="2800" dirty="0"/>
          </a:p>
          <a:p>
            <a:pPr algn="just" hangingPunct="0">
              <a:lnSpc>
                <a:spcPct val="97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endParaRPr lang="fr-FR" sz="2800" dirty="0" smtClean="0"/>
          </a:p>
          <a:p>
            <a:pPr algn="just" hangingPunct="0">
              <a:lnSpc>
                <a:spcPct val="97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endParaRPr lang="fr-FR" sz="2800" dirty="0"/>
          </a:p>
          <a:p>
            <a:pPr algn="just" hangingPunct="0">
              <a:lnSpc>
                <a:spcPct val="97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/>
              <a:t> La </a:t>
            </a:r>
            <a:r>
              <a:rPr lang="fr-FR" sz="2800" dirty="0" smtClean="0"/>
              <a:t>commande </a:t>
            </a:r>
            <a:r>
              <a:rPr lang="fr-FR" sz="2800" b="1" dirty="0" err="1"/>
              <a:t>crontab</a:t>
            </a:r>
            <a:r>
              <a:rPr lang="fr-FR" sz="2800" dirty="0"/>
              <a:t> </a:t>
            </a:r>
            <a:r>
              <a:rPr lang="fr-FR" sz="2800" dirty="0" smtClean="0"/>
              <a:t>indiquera </a:t>
            </a:r>
            <a:r>
              <a:rPr lang="fr-FR" sz="2800" dirty="0"/>
              <a:t>également </a:t>
            </a:r>
            <a:r>
              <a:rPr lang="fr-FR" sz="2800" dirty="0" smtClean="0"/>
              <a:t>s’il y a des </a:t>
            </a:r>
            <a:r>
              <a:rPr lang="fr-FR" sz="2800" dirty="0"/>
              <a:t>erreurs de syntaxe dans le fichier </a:t>
            </a:r>
            <a:r>
              <a:rPr lang="fr-FR" sz="2800" dirty="0" err="1"/>
              <a:t>crontab</a:t>
            </a:r>
            <a:r>
              <a:rPr lang="fr-FR" sz="2800" dirty="0"/>
              <a:t>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="" xmlns:a16="http://schemas.microsoft.com/office/drawing/2014/main" id="{1C575005-263E-8DE7-C460-B6426C0AD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546" y="5867238"/>
            <a:ext cx="6825622" cy="266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74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C3A78583-82B4-8587-94EA-2CB5FDC1F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7200" dirty="0">
                <a:solidFill>
                  <a:srgbClr val="D93E2B"/>
                </a:solidFill>
                <a:latin typeface="Bodoni"/>
                <a:sym typeface="Bodoni"/>
              </a:rPr>
              <a:t>User CRON jobs</a:t>
            </a:r>
            <a:br>
              <a:rPr lang="fr-FR" sz="7200" dirty="0">
                <a:solidFill>
                  <a:srgbClr val="D93E2B"/>
                </a:solidFill>
                <a:latin typeface="Bodoni"/>
                <a:sym typeface="Bodoni"/>
              </a:rPr>
            </a:b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EF8AFBFF-6890-934F-93FA-E38EF9D47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1" y="3339016"/>
            <a:ext cx="12280032" cy="6825711"/>
          </a:xfrm>
        </p:spPr>
        <p:txBody>
          <a:bodyPr>
            <a:normAutofit/>
          </a:bodyPr>
          <a:lstStyle/>
          <a:p>
            <a:pPr algn="just" hangingPunct="0">
              <a:lnSpc>
                <a:spcPct val="170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/>
              <a:t>Pour Afficher la liste des tâches </a:t>
            </a:r>
            <a:r>
              <a:rPr lang="fr-FR" sz="2800" dirty="0" smtClean="0"/>
              <a:t>programmées, on utilise la </a:t>
            </a:r>
            <a:r>
              <a:rPr lang="fr-FR" sz="2800" dirty="0"/>
              <a:t>commande </a:t>
            </a:r>
            <a:endParaRPr lang="fr-FR" sz="2800" dirty="0" smtClean="0"/>
          </a:p>
          <a:p>
            <a:pPr marL="160020" indent="0" algn="just" hangingPunct="0">
              <a:lnSpc>
                <a:spcPct val="170000"/>
              </a:lnSpc>
              <a:spcBef>
                <a:spcPts val="600"/>
              </a:spcBef>
              <a:buClr>
                <a:srgbClr val="000000"/>
              </a:buClr>
              <a:buSzPct val="45000"/>
              <a:buNone/>
            </a:pPr>
            <a:r>
              <a:rPr lang="fr-FR" sz="2800" b="1" dirty="0" err="1" smtClean="0">
                <a:solidFill>
                  <a:srgbClr val="0070C0"/>
                </a:solidFill>
              </a:rPr>
              <a:t>crontab</a:t>
            </a:r>
            <a:r>
              <a:rPr lang="fr-FR" sz="2800" b="1" dirty="0" smtClean="0">
                <a:solidFill>
                  <a:srgbClr val="0070C0"/>
                </a:solidFill>
              </a:rPr>
              <a:t> </a:t>
            </a:r>
            <a:r>
              <a:rPr lang="fr-FR" sz="2800" b="1" dirty="0">
                <a:solidFill>
                  <a:srgbClr val="0070C0"/>
                </a:solidFill>
              </a:rPr>
              <a:t>–u </a:t>
            </a:r>
            <a:r>
              <a:rPr lang="fr-FR" sz="2800" b="1" dirty="0" err="1">
                <a:solidFill>
                  <a:srgbClr val="0070C0"/>
                </a:solidFill>
              </a:rPr>
              <a:t>username</a:t>
            </a:r>
            <a:r>
              <a:rPr lang="fr-FR" sz="2800" b="1" dirty="0">
                <a:solidFill>
                  <a:srgbClr val="0070C0"/>
                </a:solidFill>
              </a:rPr>
              <a:t> –l</a:t>
            </a:r>
          </a:p>
          <a:p>
            <a:pPr>
              <a:lnSpc>
                <a:spcPct val="170000"/>
              </a:lnSpc>
              <a:spcBef>
                <a:spcPts val="600"/>
              </a:spcBef>
            </a:pPr>
            <a:endParaRPr lang="fr-FR" sz="24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endParaRPr lang="fr-FR" sz="2400" dirty="0"/>
          </a:p>
          <a:p>
            <a:pPr marL="160020" indent="0">
              <a:lnSpc>
                <a:spcPct val="170000"/>
              </a:lnSpc>
              <a:spcBef>
                <a:spcPts val="600"/>
              </a:spcBef>
              <a:buNone/>
            </a:pPr>
            <a:endParaRPr lang="fr-FR" sz="2400" dirty="0" smtClean="0"/>
          </a:p>
          <a:p>
            <a:pPr marL="160020" indent="0">
              <a:lnSpc>
                <a:spcPct val="170000"/>
              </a:lnSpc>
              <a:spcBef>
                <a:spcPts val="600"/>
              </a:spcBef>
              <a:buNone/>
            </a:pPr>
            <a:endParaRPr lang="fr-FR" sz="2400" dirty="0"/>
          </a:p>
          <a:p>
            <a:pPr marL="160020" indent="0">
              <a:lnSpc>
                <a:spcPct val="170000"/>
              </a:lnSpc>
              <a:spcBef>
                <a:spcPts val="600"/>
              </a:spcBef>
              <a:buNone/>
            </a:pPr>
            <a:endParaRPr lang="fr-FR" sz="2400" dirty="0" smtClean="0"/>
          </a:p>
          <a:p>
            <a:pPr marL="160020" indent="0">
              <a:lnSpc>
                <a:spcPct val="170000"/>
              </a:lnSpc>
              <a:spcBef>
                <a:spcPts val="600"/>
              </a:spcBef>
              <a:buNone/>
            </a:pPr>
            <a:endParaRPr lang="fr-FR" sz="2400" dirty="0"/>
          </a:p>
          <a:p>
            <a:pPr algn="just" hangingPunct="0">
              <a:lnSpc>
                <a:spcPct val="170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 smtClean="0"/>
              <a:t>Pour </a:t>
            </a:r>
            <a:r>
              <a:rPr lang="fr-FR" sz="2800" dirty="0"/>
              <a:t>Supprimer la table </a:t>
            </a:r>
            <a:r>
              <a:rPr lang="fr-FR" sz="2800" dirty="0" err="1" smtClean="0"/>
              <a:t>cron</a:t>
            </a:r>
            <a:r>
              <a:rPr lang="fr-FR" sz="2800" dirty="0" smtClean="0"/>
              <a:t>, on u</a:t>
            </a:r>
            <a:r>
              <a:rPr lang="fr-FR" sz="2800" dirty="0" smtClean="0"/>
              <a:t>tilise la </a:t>
            </a:r>
            <a:r>
              <a:rPr lang="fr-FR" sz="2800" dirty="0"/>
              <a:t>commande </a:t>
            </a:r>
            <a:r>
              <a:rPr lang="fr-FR" sz="2800" b="1" dirty="0" err="1">
                <a:solidFill>
                  <a:srgbClr val="0070C0"/>
                </a:solidFill>
              </a:rPr>
              <a:t>crontab</a:t>
            </a:r>
            <a:r>
              <a:rPr lang="fr-FR" sz="2800" b="1" dirty="0">
                <a:solidFill>
                  <a:srgbClr val="0070C0"/>
                </a:solidFill>
              </a:rPr>
              <a:t> -r</a:t>
            </a:r>
          </a:p>
          <a:p>
            <a:pPr>
              <a:lnSpc>
                <a:spcPct val="170000"/>
              </a:lnSpc>
              <a:spcBef>
                <a:spcPts val="600"/>
              </a:spcBef>
            </a:pPr>
            <a:endParaRPr lang="fr-FR" sz="24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endParaRPr lang="fr-FR" sz="24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endParaRPr lang="fr-FR" sz="2400" dirty="0"/>
          </a:p>
        </p:txBody>
      </p:sp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ECE1E322-9F4E-C4D6-A088-B21167CF7D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15244" b="28599"/>
          <a:stretch/>
        </p:blipFill>
        <p:spPr>
          <a:xfrm>
            <a:off x="3391887" y="4004629"/>
            <a:ext cx="5649914" cy="66445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="" xmlns:a16="http://schemas.microsoft.com/office/drawing/2014/main" id="{B056A8AD-6857-10C9-D748-B057D0BB2E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40" b="4453"/>
          <a:stretch/>
        </p:blipFill>
        <p:spPr>
          <a:xfrm>
            <a:off x="1805856" y="4827181"/>
            <a:ext cx="10504988" cy="276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309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C4D11176-D5D9-B0D0-6D40-08901FD78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6600" dirty="0">
                <a:solidFill>
                  <a:srgbClr val="D93E2B"/>
                </a:solidFill>
                <a:latin typeface="Bodoni"/>
                <a:sym typeface="Bodoni"/>
              </a:rPr>
              <a:t>User CRON jobs</a:t>
            </a:r>
            <a:br>
              <a:rPr lang="fr-FR" sz="6600" dirty="0">
                <a:solidFill>
                  <a:srgbClr val="D93E2B"/>
                </a:solidFill>
                <a:latin typeface="Bodoni"/>
                <a:sym typeface="Bodoni"/>
              </a:rPr>
            </a:b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4D750104-B2C6-5619-4625-BA8867F35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045" y="2621508"/>
            <a:ext cx="12472328" cy="7288035"/>
          </a:xfrm>
        </p:spPr>
        <p:txBody>
          <a:bodyPr>
            <a:normAutofit fontScale="85000" lnSpcReduction="10000"/>
          </a:bodyPr>
          <a:lstStyle/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b="1" dirty="0"/>
              <a:t>La sécurité dans CRON </a:t>
            </a:r>
            <a:r>
              <a:rPr lang="fr-FR" sz="2800" b="1" dirty="0" smtClean="0"/>
              <a:t>est définie à travers les fichiers:</a:t>
            </a:r>
            <a:endParaRPr lang="fr-FR" sz="2800" b="1" dirty="0"/>
          </a:p>
          <a:p>
            <a:pPr algn="ctr"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800" b="1" dirty="0">
                <a:solidFill>
                  <a:srgbClr val="0070C0"/>
                </a:solidFill>
              </a:rPr>
              <a:t>/</a:t>
            </a:r>
            <a:r>
              <a:rPr lang="fr-FR" sz="2800" b="1" dirty="0" err="1">
                <a:solidFill>
                  <a:srgbClr val="0070C0"/>
                </a:solidFill>
              </a:rPr>
              <a:t>etc</a:t>
            </a:r>
            <a:r>
              <a:rPr lang="fr-FR" sz="2800" b="1" dirty="0">
                <a:solidFill>
                  <a:srgbClr val="0070C0"/>
                </a:solidFill>
              </a:rPr>
              <a:t>/</a:t>
            </a:r>
            <a:r>
              <a:rPr lang="fr-FR" sz="2800" b="1" dirty="0" err="1">
                <a:solidFill>
                  <a:srgbClr val="0070C0"/>
                </a:solidFill>
              </a:rPr>
              <a:t>cron.allow</a:t>
            </a:r>
            <a:endParaRPr lang="fr-FR" sz="2800" b="1" dirty="0">
              <a:solidFill>
                <a:srgbClr val="0070C0"/>
              </a:solidFill>
            </a:endParaRPr>
          </a:p>
          <a:p>
            <a:pPr algn="ctr"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800" b="1" dirty="0">
                <a:solidFill>
                  <a:srgbClr val="0070C0"/>
                </a:solidFill>
              </a:rPr>
              <a:t>/</a:t>
            </a:r>
            <a:r>
              <a:rPr lang="fr-FR" sz="2800" b="1" dirty="0" err="1">
                <a:solidFill>
                  <a:srgbClr val="0070C0"/>
                </a:solidFill>
              </a:rPr>
              <a:t>etc</a:t>
            </a:r>
            <a:r>
              <a:rPr lang="fr-FR" sz="2800" b="1" dirty="0">
                <a:solidFill>
                  <a:srgbClr val="0070C0"/>
                </a:solidFill>
              </a:rPr>
              <a:t>/</a:t>
            </a:r>
            <a:r>
              <a:rPr lang="fr-FR" sz="2800" b="1" dirty="0" err="1">
                <a:solidFill>
                  <a:srgbClr val="0070C0"/>
                </a:solidFill>
              </a:rPr>
              <a:t>cron.deny</a:t>
            </a:r>
            <a:endParaRPr lang="fr-FR" sz="2800" b="1" dirty="0">
              <a:solidFill>
                <a:srgbClr val="0070C0"/>
              </a:solidFill>
            </a:endParaRPr>
          </a:p>
          <a:p>
            <a:pPr algn="just" hangingPunct="0">
              <a:lnSpc>
                <a:spcPct val="170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/>
              <a:t>Si le fichier « </a:t>
            </a:r>
            <a:r>
              <a:rPr lang="fr-FR" sz="2800" dirty="0" err="1"/>
              <a:t>allow</a:t>
            </a:r>
            <a:r>
              <a:rPr lang="fr-FR" sz="2800" dirty="0"/>
              <a:t> » existe: SEULS les usagers listés dans ce </a:t>
            </a:r>
            <a:r>
              <a:rPr lang="fr-FR" sz="2800" dirty="0" smtClean="0"/>
              <a:t>fichier sont </a:t>
            </a:r>
            <a:r>
              <a:rPr lang="fr-FR" sz="2800" dirty="0"/>
              <a:t>autorisés à utiliser le </a:t>
            </a:r>
            <a:r>
              <a:rPr lang="fr-FR" sz="2800" dirty="0" smtClean="0"/>
              <a:t>service </a:t>
            </a:r>
            <a:r>
              <a:rPr lang="fr-FR" sz="2800" dirty="0" err="1" smtClean="0"/>
              <a:t>cron</a:t>
            </a:r>
            <a:r>
              <a:rPr lang="fr-FR" sz="2800" dirty="0" smtClean="0"/>
              <a:t>.</a:t>
            </a:r>
            <a:endParaRPr lang="fr-FR" sz="2800" dirty="0"/>
          </a:p>
          <a:p>
            <a:pPr algn="just" hangingPunct="0">
              <a:lnSpc>
                <a:spcPct val="170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/>
              <a:t>Si le fichier « </a:t>
            </a:r>
            <a:r>
              <a:rPr lang="fr-FR" sz="2800" dirty="0" err="1"/>
              <a:t>allow</a:t>
            </a:r>
            <a:r>
              <a:rPr lang="fr-FR" sz="2800" dirty="0"/>
              <a:t> » n'existe pas, mais le fichier « </a:t>
            </a:r>
            <a:r>
              <a:rPr lang="fr-FR" sz="2800" dirty="0" err="1"/>
              <a:t>deny</a:t>
            </a:r>
            <a:r>
              <a:rPr lang="fr-FR" sz="2800" dirty="0"/>
              <a:t> » existe, SEULS les usagers non listés dans le fichier « </a:t>
            </a:r>
            <a:r>
              <a:rPr lang="fr-FR" sz="2800" dirty="0" err="1"/>
              <a:t>deny</a:t>
            </a:r>
            <a:r>
              <a:rPr lang="fr-FR" sz="2800" dirty="0"/>
              <a:t> » sont autorisés à utiliser le </a:t>
            </a:r>
            <a:r>
              <a:rPr lang="fr-FR" sz="2800" dirty="0" smtClean="0"/>
              <a:t>service </a:t>
            </a:r>
            <a:r>
              <a:rPr lang="fr-FR" sz="2800" dirty="0" err="1" smtClean="0"/>
              <a:t>cron</a:t>
            </a:r>
            <a:r>
              <a:rPr lang="fr-FR" sz="2800" dirty="0" smtClean="0"/>
              <a:t>. </a:t>
            </a:r>
            <a:endParaRPr lang="fr-FR" sz="2800" dirty="0"/>
          </a:p>
          <a:p>
            <a:pPr algn="just" hangingPunct="0">
              <a:lnSpc>
                <a:spcPct val="170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/>
              <a:t>Par exemple, pour refuser l'accès à tous les utilisateurs saufs </a:t>
            </a:r>
            <a:r>
              <a:rPr lang="fr-FR" sz="2800" dirty="0" smtClean="0"/>
              <a:t>amine, on peut utiliser </a:t>
            </a:r>
            <a:r>
              <a:rPr lang="fr-FR" sz="2800" dirty="0"/>
              <a:t>la séquence de commandes </a:t>
            </a:r>
            <a:r>
              <a:rPr lang="fr-FR" sz="2800" dirty="0" smtClean="0"/>
              <a:t>suivantes</a:t>
            </a:r>
            <a:r>
              <a:rPr lang="fr-FR" sz="2800" dirty="0"/>
              <a:t> :</a:t>
            </a:r>
          </a:p>
          <a:p>
            <a:pPr lvl="1" algn="just" hangingPunct="0">
              <a:lnSpc>
                <a:spcPct val="170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es-ES" sz="2800" i="1" dirty="0"/>
              <a:t>sudo echo ALL &gt;&gt;/</a:t>
            </a:r>
            <a:r>
              <a:rPr lang="es-ES" sz="2800" i="1" dirty="0" err="1"/>
              <a:t>etc</a:t>
            </a:r>
            <a:r>
              <a:rPr lang="es-ES" sz="2800" i="1" dirty="0"/>
              <a:t>/</a:t>
            </a:r>
            <a:r>
              <a:rPr lang="es-ES" sz="2800" i="1" dirty="0" err="1"/>
              <a:t>cron.deny</a:t>
            </a:r>
            <a:endParaRPr lang="es-ES" sz="2800" i="1" dirty="0"/>
          </a:p>
          <a:p>
            <a:pPr lvl="1" algn="just" hangingPunct="0">
              <a:lnSpc>
                <a:spcPct val="170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es-ES" sz="2800" i="1" dirty="0"/>
              <a:t>sudo echo amine &gt;&gt;/</a:t>
            </a:r>
            <a:r>
              <a:rPr lang="es-ES" sz="2800" i="1" dirty="0" err="1"/>
              <a:t>etc</a:t>
            </a:r>
            <a:r>
              <a:rPr lang="es-ES" sz="2800" i="1" dirty="0"/>
              <a:t>/</a:t>
            </a:r>
            <a:r>
              <a:rPr lang="es-ES" sz="2800" i="1" dirty="0" err="1"/>
              <a:t>cron.allow</a:t>
            </a:r>
            <a:endParaRPr lang="fr-FR" sz="2800" i="1" dirty="0"/>
          </a:p>
          <a:p>
            <a:pPr algn="just">
              <a:buFont typeface="Courier New" pitchFamily="49" charset="0"/>
              <a:buChar char="o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2155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/>
        </p:nvSpPr>
        <p:spPr>
          <a:xfrm>
            <a:off x="1044951" y="4570420"/>
            <a:ext cx="11230809" cy="19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D93E2B"/>
              </a:buClr>
              <a:buSzPts val="6600"/>
            </a:pPr>
            <a:r>
              <a:rPr lang="fr-FR" sz="6500" dirty="0">
                <a:solidFill>
                  <a:srgbClr val="D93E2B"/>
                </a:solidFill>
                <a:latin typeface="Bodoni"/>
                <a:sym typeface="Bodoni"/>
              </a:rPr>
              <a:t>At  jobs</a:t>
            </a:r>
            <a:endParaRPr sz="6500" dirty="0">
              <a:solidFill>
                <a:srgbClr val="D93E2B"/>
              </a:solidFill>
              <a:latin typeface="Bodoni"/>
              <a:sym typeface="Bodoni"/>
            </a:endParaRPr>
          </a:p>
        </p:txBody>
      </p:sp>
    </p:spTree>
    <p:extLst>
      <p:ext uri="{BB962C8B-B14F-4D97-AF65-F5344CB8AC3E}">
        <p14:creationId xmlns:p14="http://schemas.microsoft.com/office/powerpoint/2010/main" val="2358101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C4D11176-D5D9-B0D0-6D40-08901FD78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900" dirty="0"/>
              <a:t>at et le </a:t>
            </a:r>
            <a:r>
              <a:rPr lang="fr-FR" sz="5900" dirty="0" err="1"/>
              <a:t>demon</a:t>
            </a:r>
            <a:r>
              <a:rPr lang="fr-FR" sz="5900" dirty="0"/>
              <a:t> </a:t>
            </a:r>
            <a:r>
              <a:rPr lang="fr-FR" sz="5900" dirty="0" err="1"/>
              <a:t>atd</a:t>
            </a:r>
            <a:endParaRPr lang="fr-FR" sz="590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4D750104-B2C6-5619-4625-BA8867F35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045" y="2621509"/>
            <a:ext cx="12472328" cy="6454252"/>
          </a:xfrm>
        </p:spPr>
        <p:txBody>
          <a:bodyPr>
            <a:normAutofit/>
          </a:bodyPr>
          <a:lstStyle/>
          <a:p>
            <a:pPr algn="just" hangingPunct="0"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600" dirty="0" err="1"/>
              <a:t>Atd</a:t>
            </a:r>
            <a:r>
              <a:rPr lang="fr-FR" sz="2600" dirty="0"/>
              <a:t> est un démon qui s’occupe des commandes à exécuter une seule fois à un instant précis et futur</a:t>
            </a:r>
          </a:p>
          <a:p>
            <a:pPr algn="just" hangingPunct="0"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600" dirty="0"/>
              <a:t>De nombreuses tâches sont régulièrement planifiées :</a:t>
            </a:r>
          </a:p>
          <a:p>
            <a:pPr lvl="1" algn="just" hangingPunct="0"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600" dirty="0" smtClean="0"/>
              <a:t>la </a:t>
            </a:r>
            <a:r>
              <a:rPr lang="fr-FR" sz="2600" dirty="0"/>
              <a:t>rotation des logs</a:t>
            </a:r>
          </a:p>
          <a:p>
            <a:pPr lvl="1" algn="just" hangingPunct="0"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600" dirty="0" smtClean="0"/>
              <a:t>les </a:t>
            </a:r>
            <a:r>
              <a:rPr lang="fr-FR" sz="2600" dirty="0"/>
              <a:t>sauvegardes</a:t>
            </a:r>
          </a:p>
          <a:p>
            <a:pPr lvl="1" algn="just" hangingPunct="0"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600" dirty="0" smtClean="0"/>
              <a:t>des </a:t>
            </a:r>
            <a:r>
              <a:rPr lang="fr-FR" sz="2600" dirty="0"/>
              <a:t>scripts d'entretien (comme le nettoyage des fichiers temporaires)</a:t>
            </a:r>
          </a:p>
        </p:txBody>
      </p:sp>
    </p:spTree>
    <p:extLst>
      <p:ext uri="{BB962C8B-B14F-4D97-AF65-F5344CB8AC3E}">
        <p14:creationId xmlns:p14="http://schemas.microsoft.com/office/powerpoint/2010/main" val="2255255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6DC5D2C1-29FE-E3DB-1D51-A166EBB4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900" dirty="0"/>
              <a:t>exemple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D854982A-1298-561B-006C-6797929C8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r>
              <a:rPr lang="fr-FR" sz="2800" dirty="0"/>
              <a:t>Je souhaite supprimer tous les fichiers *.</a:t>
            </a:r>
            <a:r>
              <a:rPr lang="fr-FR" sz="2800" dirty="0" err="1"/>
              <a:t>tmp</a:t>
            </a:r>
            <a:r>
              <a:rPr lang="fr-FR" sz="2800" dirty="0"/>
              <a:t> du répertoire </a:t>
            </a:r>
            <a:r>
              <a:rPr lang="fr-FR" sz="2800" dirty="0" err="1"/>
              <a:t>tmp</a:t>
            </a:r>
            <a:r>
              <a:rPr lang="fr-FR" sz="2800" dirty="0"/>
              <a:t> </a:t>
            </a:r>
            <a:r>
              <a:rPr lang="fr-FR" sz="2400" dirty="0"/>
              <a:t>:</a:t>
            </a:r>
          </a:p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fr-FR" sz="2400" dirty="0"/>
          </a:p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b="1" dirty="0"/>
              <a:t>dans 2 minutes : </a:t>
            </a:r>
          </a:p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dirty="0"/>
              <a:t>at </a:t>
            </a:r>
            <a:r>
              <a:rPr lang="fr-FR" sz="2400" dirty="0" err="1"/>
              <a:t>now</a:t>
            </a:r>
            <a:r>
              <a:rPr lang="fr-FR" sz="2400" dirty="0"/>
              <a:t> + 2 minutes </a:t>
            </a:r>
          </a:p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i="1" dirty="0"/>
              <a:t>Entrée</a:t>
            </a:r>
            <a:r>
              <a:rPr lang="fr-FR" sz="2400" dirty="0"/>
              <a:t> </a:t>
            </a:r>
          </a:p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dirty="0" err="1"/>
              <a:t>rm</a:t>
            </a:r>
            <a:r>
              <a:rPr lang="fr-FR" sz="2400" dirty="0"/>
              <a:t> /</a:t>
            </a:r>
            <a:r>
              <a:rPr lang="fr-FR" sz="2400" dirty="0" err="1"/>
              <a:t>tmp</a:t>
            </a:r>
            <a:r>
              <a:rPr lang="fr-FR" sz="2400" dirty="0"/>
              <a:t>/*.</a:t>
            </a:r>
            <a:r>
              <a:rPr lang="fr-FR" sz="2400" dirty="0" err="1"/>
              <a:t>tmp</a:t>
            </a:r>
            <a:r>
              <a:rPr lang="fr-FR" sz="2400" dirty="0"/>
              <a:t> </a:t>
            </a:r>
          </a:p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i="1" dirty="0"/>
              <a:t>Entrée</a:t>
            </a:r>
            <a:r>
              <a:rPr lang="fr-FR" sz="2400" dirty="0"/>
              <a:t> "</a:t>
            </a:r>
            <a:r>
              <a:rPr lang="fr-FR" sz="2400" dirty="0" err="1"/>
              <a:t>Ctrl+D</a:t>
            </a:r>
            <a:r>
              <a:rPr lang="fr-FR" sz="2400" dirty="0"/>
              <a:t>"</a:t>
            </a:r>
          </a:p>
          <a:p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="" xmlns:a16="http://schemas.microsoft.com/office/drawing/2014/main" id="{E30337B3-F00A-663B-79AD-4D887E444DA3}"/>
              </a:ext>
            </a:extLst>
          </p:cNvPr>
          <p:cNvSpPr txBox="1"/>
          <p:nvPr/>
        </p:nvSpPr>
        <p:spPr>
          <a:xfrm>
            <a:off x="7260609" y="4829105"/>
            <a:ext cx="6892618" cy="3114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97180" hangingPunct="0">
              <a:lnSpc>
                <a:spcPct val="97000"/>
              </a:lnSpc>
              <a:spcBef>
                <a:spcPts val="2400"/>
              </a:spcBef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b="1" dirty="0">
                <a:solidFill>
                  <a:srgbClr val="414141"/>
                </a:solidFill>
                <a:latin typeface="Palatino"/>
                <a:sym typeface="Palatino"/>
              </a:rPr>
              <a:t>à 13h37 : </a:t>
            </a:r>
          </a:p>
          <a:p>
            <a:pPr marL="457200" indent="-297180" hangingPunct="0">
              <a:lnSpc>
                <a:spcPct val="97000"/>
              </a:lnSpc>
              <a:spcBef>
                <a:spcPts val="2400"/>
              </a:spcBef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dirty="0">
                <a:solidFill>
                  <a:srgbClr val="414141"/>
                </a:solidFill>
                <a:latin typeface="Palatino"/>
                <a:sym typeface="Palatino"/>
              </a:rPr>
              <a:t>at 13:37 </a:t>
            </a:r>
          </a:p>
          <a:p>
            <a:pPr marL="457200" indent="-297180" hangingPunct="0">
              <a:lnSpc>
                <a:spcPct val="97000"/>
              </a:lnSpc>
              <a:spcBef>
                <a:spcPts val="2400"/>
              </a:spcBef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dirty="0">
                <a:solidFill>
                  <a:srgbClr val="414141"/>
                </a:solidFill>
                <a:latin typeface="Palatino"/>
                <a:sym typeface="Palatino"/>
              </a:rPr>
              <a:t>Entrée </a:t>
            </a:r>
          </a:p>
          <a:p>
            <a:pPr marL="457200" indent="-297180" hangingPunct="0">
              <a:lnSpc>
                <a:spcPct val="97000"/>
              </a:lnSpc>
              <a:spcBef>
                <a:spcPts val="2400"/>
              </a:spcBef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dirty="0" err="1">
                <a:solidFill>
                  <a:srgbClr val="414141"/>
                </a:solidFill>
                <a:latin typeface="Palatino"/>
                <a:sym typeface="Palatino"/>
              </a:rPr>
              <a:t>rm</a:t>
            </a:r>
            <a:r>
              <a:rPr lang="fr-FR" sz="2400" dirty="0">
                <a:solidFill>
                  <a:srgbClr val="414141"/>
                </a:solidFill>
                <a:latin typeface="Palatino"/>
                <a:sym typeface="Palatino"/>
              </a:rPr>
              <a:t> /</a:t>
            </a:r>
            <a:r>
              <a:rPr lang="fr-FR" sz="2400" dirty="0" err="1">
                <a:solidFill>
                  <a:srgbClr val="414141"/>
                </a:solidFill>
                <a:latin typeface="Palatino"/>
                <a:sym typeface="Palatino"/>
              </a:rPr>
              <a:t>tmp</a:t>
            </a:r>
            <a:r>
              <a:rPr lang="fr-FR" sz="2400" dirty="0">
                <a:solidFill>
                  <a:srgbClr val="414141"/>
                </a:solidFill>
                <a:latin typeface="Palatino"/>
                <a:sym typeface="Palatino"/>
              </a:rPr>
              <a:t>/*.</a:t>
            </a:r>
            <a:r>
              <a:rPr lang="fr-FR" sz="2400" dirty="0" err="1">
                <a:solidFill>
                  <a:srgbClr val="414141"/>
                </a:solidFill>
                <a:latin typeface="Palatino"/>
                <a:sym typeface="Palatino"/>
              </a:rPr>
              <a:t>tmp</a:t>
            </a:r>
            <a:r>
              <a:rPr lang="fr-FR" sz="2400" dirty="0">
                <a:solidFill>
                  <a:srgbClr val="414141"/>
                </a:solidFill>
                <a:latin typeface="Palatino"/>
                <a:sym typeface="Palatino"/>
              </a:rPr>
              <a:t> </a:t>
            </a:r>
          </a:p>
          <a:p>
            <a:pPr marL="457200" indent="-297180" hangingPunct="0">
              <a:lnSpc>
                <a:spcPct val="97000"/>
              </a:lnSpc>
              <a:spcBef>
                <a:spcPts val="2400"/>
              </a:spcBef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400" dirty="0">
                <a:solidFill>
                  <a:srgbClr val="414141"/>
                </a:solidFill>
                <a:latin typeface="Palatino"/>
                <a:sym typeface="Palatino"/>
              </a:rPr>
              <a:t>Entrée "</a:t>
            </a:r>
            <a:r>
              <a:rPr lang="fr-FR" sz="2400" dirty="0" err="1">
                <a:solidFill>
                  <a:srgbClr val="414141"/>
                </a:solidFill>
                <a:latin typeface="Palatino"/>
                <a:sym typeface="Palatino"/>
              </a:rPr>
              <a:t>Ctrl+D</a:t>
            </a:r>
            <a:r>
              <a:rPr lang="fr-FR" sz="2400" dirty="0">
                <a:solidFill>
                  <a:srgbClr val="414141"/>
                </a:solidFill>
                <a:latin typeface="Palatino"/>
                <a:sym typeface="Palatino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021466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C394C835-9D13-081E-53F1-3C49D789D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ABA51958-D662-36F9-EBE4-F1A435491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1" y="2223482"/>
            <a:ext cx="13195660" cy="799810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200" i="1" u="sng" dirty="0"/>
              <a:t>Le jour n’est pas </a:t>
            </a:r>
            <a:r>
              <a:rPr lang="fr-FR" sz="2200" i="1" u="sng" dirty="0" smtClean="0"/>
              <a:t>obligatoire. Par défaut, c’est </a:t>
            </a:r>
            <a:r>
              <a:rPr lang="fr-FR" sz="2200" i="1" u="sng" dirty="0"/>
              <a:t>aujourd’hui. </a:t>
            </a:r>
            <a:endParaRPr lang="fr-FR" sz="2200" i="1" u="sng" dirty="0" smtClean="0"/>
          </a:p>
          <a:p>
            <a:pPr>
              <a:buFont typeface="Wingdings" pitchFamily="2" charset="2"/>
              <a:buChar char="Ø"/>
            </a:pPr>
            <a:r>
              <a:rPr lang="fr-FR" sz="2200" dirty="0" smtClean="0"/>
              <a:t>Lancer </a:t>
            </a:r>
            <a:r>
              <a:rPr lang="fr-FR" sz="2200" dirty="0" err="1"/>
              <a:t>firefox</a:t>
            </a:r>
            <a:r>
              <a:rPr lang="fr-FR" sz="2200" dirty="0"/>
              <a:t> à 20h </a:t>
            </a:r>
          </a:p>
          <a:p>
            <a:pPr marL="160020" indent="0">
              <a:buNone/>
            </a:pPr>
            <a:r>
              <a:rPr lang="fr-FR" sz="2200" dirty="0"/>
              <a:t>	</a:t>
            </a:r>
            <a:r>
              <a:rPr lang="fr-FR" sz="2200" dirty="0" smtClean="0"/>
              <a:t>	</a:t>
            </a:r>
            <a:r>
              <a:rPr lang="fr-FR" sz="2200" dirty="0" smtClean="0"/>
              <a:t>$ </a:t>
            </a:r>
            <a:r>
              <a:rPr lang="fr-FR" sz="2200" dirty="0"/>
              <a:t>at 20:00 </a:t>
            </a:r>
          </a:p>
          <a:p>
            <a:pPr marL="160020" indent="0">
              <a:buNone/>
            </a:pPr>
            <a:r>
              <a:rPr lang="fr-FR" sz="2200" dirty="0"/>
              <a:t>	</a:t>
            </a:r>
            <a:r>
              <a:rPr lang="fr-FR" sz="2200" dirty="0" smtClean="0"/>
              <a:t>	</a:t>
            </a:r>
            <a:r>
              <a:rPr lang="fr-FR" sz="2200" dirty="0" err="1" smtClean="0"/>
              <a:t>at</a:t>
            </a:r>
            <a:r>
              <a:rPr lang="fr-FR" sz="2200" dirty="0" smtClean="0"/>
              <a:t>&gt;</a:t>
            </a:r>
            <a:r>
              <a:rPr lang="fr-FR" sz="2200" dirty="0" err="1" smtClean="0"/>
              <a:t>firefox</a:t>
            </a:r>
            <a:r>
              <a:rPr lang="fr-FR" sz="2200" dirty="0" smtClean="0"/>
              <a:t> </a:t>
            </a:r>
            <a:endParaRPr lang="fr-FR" sz="2200" dirty="0"/>
          </a:p>
          <a:p>
            <a:pPr marL="160020" indent="0">
              <a:buNone/>
            </a:pPr>
            <a:r>
              <a:rPr lang="fr-FR" sz="2200" dirty="0"/>
              <a:t>	</a:t>
            </a:r>
            <a:r>
              <a:rPr lang="fr-FR" sz="2200" dirty="0" smtClean="0"/>
              <a:t>	</a:t>
            </a:r>
            <a:r>
              <a:rPr lang="fr-FR" sz="2200" dirty="0" err="1" smtClean="0"/>
              <a:t>at</a:t>
            </a:r>
            <a:r>
              <a:rPr lang="fr-FR" sz="2200" dirty="0"/>
              <a:t>&gt; ^D  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200" dirty="0"/>
              <a:t>Exécuter les commandes listées dans le fichier </a:t>
            </a:r>
            <a:r>
              <a:rPr lang="fr-FR" sz="2200" dirty="0" err="1"/>
              <a:t>cmd_list</a:t>
            </a:r>
            <a:r>
              <a:rPr lang="fr-FR" sz="2200" dirty="0"/>
              <a:t>  après deux jours à 9 pm</a:t>
            </a:r>
          </a:p>
          <a:p>
            <a:pPr marL="160020" indent="0" algn="just">
              <a:buNone/>
            </a:pPr>
            <a:r>
              <a:rPr lang="fr-FR" sz="2200" dirty="0"/>
              <a:t>	</a:t>
            </a:r>
            <a:r>
              <a:rPr lang="fr-FR" sz="2200" dirty="0" smtClean="0"/>
              <a:t>	</a:t>
            </a:r>
            <a:r>
              <a:rPr lang="fr-FR" sz="2200" dirty="0" smtClean="0"/>
              <a:t>$ </a:t>
            </a:r>
            <a:r>
              <a:rPr lang="fr-FR" sz="2200" dirty="0"/>
              <a:t>at -f </a:t>
            </a:r>
            <a:r>
              <a:rPr lang="fr-FR" sz="2200" dirty="0" err="1"/>
              <a:t>cmd_list</a:t>
            </a:r>
            <a:r>
              <a:rPr lang="fr-FR" sz="2200" dirty="0"/>
              <a:t> 9pm +2 </a:t>
            </a:r>
            <a:r>
              <a:rPr lang="fr-FR" sz="2200" dirty="0" err="1"/>
              <a:t>days</a:t>
            </a:r>
            <a:r>
              <a:rPr lang="fr-FR" sz="2200" dirty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200" dirty="0"/>
              <a:t>Lister les commandes actuellement planifiés: </a:t>
            </a:r>
            <a:r>
              <a:rPr lang="fr-FR" sz="2200" b="1" i="1" dirty="0" err="1"/>
              <a:t>atq</a:t>
            </a:r>
            <a:r>
              <a:rPr lang="fr-FR" sz="2200" b="1" i="1" dirty="0"/>
              <a:t> ou at -l </a:t>
            </a:r>
          </a:p>
          <a:p>
            <a:pPr marL="160020" indent="0">
              <a:buNone/>
            </a:pPr>
            <a:r>
              <a:rPr lang="fr-FR" sz="2200" dirty="0"/>
              <a:t>	</a:t>
            </a:r>
            <a:r>
              <a:rPr lang="fr-FR" sz="2200" dirty="0" smtClean="0"/>
              <a:t>	</a:t>
            </a:r>
            <a:r>
              <a:rPr lang="fr-FR" sz="2200" dirty="0" smtClean="0"/>
              <a:t>$ </a:t>
            </a:r>
            <a:r>
              <a:rPr lang="fr-FR" sz="2200" dirty="0"/>
              <a:t>at -l </a:t>
            </a:r>
          </a:p>
          <a:p>
            <a:pPr marL="160020" indent="0">
              <a:buNone/>
            </a:pPr>
            <a:r>
              <a:rPr lang="fr-FR" sz="2200" dirty="0"/>
              <a:t>	</a:t>
            </a:r>
            <a:r>
              <a:rPr lang="fr-FR" sz="2200" dirty="0" smtClean="0"/>
              <a:t>	</a:t>
            </a:r>
            <a:r>
              <a:rPr lang="fr-FR" sz="2200" dirty="0" smtClean="0"/>
              <a:t>12 </a:t>
            </a:r>
            <a:r>
              <a:rPr lang="fr-FR" sz="2200" dirty="0"/>
              <a:t>2009-05-28 18:15 a </a:t>
            </a:r>
            <a:r>
              <a:rPr lang="fr-FR" sz="2200" dirty="0" err="1"/>
              <a:t>salah</a:t>
            </a:r>
            <a:r>
              <a:rPr lang="fr-FR" sz="2200" dirty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200" dirty="0"/>
              <a:t>Annuler une commande planifiée: </a:t>
            </a:r>
            <a:r>
              <a:rPr lang="fr-FR" sz="2200" dirty="0" err="1"/>
              <a:t>atrm</a:t>
            </a:r>
            <a:r>
              <a:rPr lang="fr-FR" sz="2200" dirty="0"/>
              <a:t> </a:t>
            </a:r>
          </a:p>
          <a:p>
            <a:pPr marL="160020" indent="0">
              <a:buNone/>
            </a:pPr>
            <a:r>
              <a:rPr lang="fr-FR" sz="2200" dirty="0"/>
              <a:t>	</a:t>
            </a:r>
            <a:r>
              <a:rPr lang="fr-FR" sz="2200" dirty="0" smtClean="0"/>
              <a:t>	</a:t>
            </a:r>
            <a:r>
              <a:rPr lang="fr-FR" sz="2200" dirty="0" smtClean="0"/>
              <a:t>$ </a:t>
            </a:r>
            <a:r>
              <a:rPr lang="fr-FR" sz="2200" dirty="0" err="1"/>
              <a:t>atrm</a:t>
            </a:r>
            <a:r>
              <a:rPr lang="fr-FR" sz="2200" dirty="0"/>
              <a:t> 12 </a:t>
            </a:r>
          </a:p>
          <a:p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471751750"/>
      </p:ext>
    </p:extLst>
  </p:cSld>
  <p:clrMapOvr>
    <a:masterClrMapping/>
  </p:clrMapOvr>
</p:sld>
</file>

<file path=ppt/theme/theme1.xml><?xml version="1.0" encoding="utf-8"?>
<a:theme xmlns:a="http://schemas.openxmlformats.org/drawingml/2006/main" name="New_Template4">
  <a:themeElements>
    <a:clrScheme name="New_Template4">
      <a:dk1>
        <a:srgbClr val="414141"/>
      </a:dk1>
      <a:lt1>
        <a:srgbClr val="004141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w_Template4">
  <a:themeElements>
    <a:clrScheme name="New_Template4">
      <a:dk1>
        <a:srgbClr val="000000"/>
      </a:dk1>
      <a:lt1>
        <a:srgbClr val="FFFFFF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1551</TotalTime>
  <Words>910</Words>
  <Application>Microsoft Office PowerPoint</Application>
  <PresentationFormat>Personnalisé</PresentationFormat>
  <Paragraphs>154</Paragraphs>
  <Slides>20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8" baseType="lpstr">
      <vt:lpstr>Bodoni</vt:lpstr>
      <vt:lpstr>Palatino</vt:lpstr>
      <vt:lpstr>Helvetica Neue</vt:lpstr>
      <vt:lpstr>Courier New</vt:lpstr>
      <vt:lpstr>Wingdings</vt:lpstr>
      <vt:lpstr>Times New Roman</vt:lpstr>
      <vt:lpstr>Arial</vt:lpstr>
      <vt:lpstr>New_Template4</vt:lpstr>
      <vt:lpstr> Administration &amp; Sécurité des Systèmes d’Exploitation </vt:lpstr>
      <vt:lpstr>Chapitre V : Planifier des tâches  Avec CRON  </vt:lpstr>
      <vt:lpstr>Objectifs</vt:lpstr>
      <vt:lpstr>Plan</vt:lpstr>
      <vt:lpstr>Présentation PowerPoint</vt:lpstr>
      <vt:lpstr>CRON</vt:lpstr>
      <vt:lpstr>CRON</vt:lpstr>
      <vt:lpstr>Présentation PowerPoint</vt:lpstr>
      <vt:lpstr>System CRON jobs</vt:lpstr>
      <vt:lpstr>System CRON jobs</vt:lpstr>
      <vt:lpstr>System CRON jobs</vt:lpstr>
      <vt:lpstr>System CRON jobs</vt:lpstr>
      <vt:lpstr>Présentation PowerPoint</vt:lpstr>
      <vt:lpstr>User CRON jobs</vt:lpstr>
      <vt:lpstr>User CRON jobs </vt:lpstr>
      <vt:lpstr>User CRON jobs </vt:lpstr>
      <vt:lpstr>Présentation PowerPoint</vt:lpstr>
      <vt:lpstr>at et le demon atd</vt:lpstr>
      <vt:lpstr>exemple</vt:lpstr>
      <vt:lpstr>exemple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Administration &amp; Sécurité des Systèmes d’Exploitation </dc:title>
  <dc:creator>Latifa Guesmi</dc:creator>
  <cp:lastModifiedBy>Compte Microsoft</cp:lastModifiedBy>
  <cp:revision>203</cp:revision>
  <dcterms:created xsi:type="dcterms:W3CDTF">2022-03-15T08:36:47Z</dcterms:created>
  <dcterms:modified xsi:type="dcterms:W3CDTF">2022-11-27T16:15:44Z</dcterms:modified>
</cp:coreProperties>
</file>