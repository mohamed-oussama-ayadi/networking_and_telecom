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54"/>
  </p:notesMasterIdLst>
  <p:sldIdLst>
    <p:sldId id="256" r:id="rId2"/>
    <p:sldId id="348" r:id="rId3"/>
    <p:sldId id="347" r:id="rId4"/>
    <p:sldId id="344" r:id="rId5"/>
    <p:sldId id="258" r:id="rId6"/>
    <p:sldId id="345" r:id="rId7"/>
    <p:sldId id="346" r:id="rId8"/>
    <p:sldId id="289" r:id="rId9"/>
    <p:sldId id="290" r:id="rId10"/>
    <p:sldId id="291" r:id="rId11"/>
    <p:sldId id="292" r:id="rId12"/>
    <p:sldId id="293" r:id="rId13"/>
    <p:sldId id="297" r:id="rId14"/>
    <p:sldId id="294" r:id="rId15"/>
    <p:sldId id="295" r:id="rId16"/>
    <p:sldId id="316" r:id="rId17"/>
    <p:sldId id="296" r:id="rId18"/>
    <p:sldId id="298" r:id="rId19"/>
    <p:sldId id="299" r:id="rId20"/>
    <p:sldId id="300" r:id="rId21"/>
    <p:sldId id="301" r:id="rId22"/>
    <p:sldId id="302" r:id="rId23"/>
    <p:sldId id="303" r:id="rId24"/>
    <p:sldId id="306" r:id="rId25"/>
    <p:sldId id="311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31" r:id="rId41"/>
    <p:sldId id="332" r:id="rId42"/>
    <p:sldId id="333" r:id="rId43"/>
    <p:sldId id="342" r:id="rId44"/>
    <p:sldId id="343" r:id="rId45"/>
    <p:sldId id="334" r:id="rId46"/>
    <p:sldId id="335" r:id="rId47"/>
    <p:sldId id="336" r:id="rId48"/>
    <p:sldId id="337" r:id="rId49"/>
    <p:sldId id="338" r:id="rId50"/>
    <p:sldId id="339" r:id="rId51"/>
    <p:sldId id="340" r:id="rId52"/>
    <p:sldId id="341" r:id="rId5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375889"/>
              <a:satOff val="-9195"/>
              <a:lumOff val="-14901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7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39D60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hueOff val="708446"/>
              <a:satOff val="-4821"/>
              <a:lumOff val="-14251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-113918"/>
              <a:satOff val="19024"/>
              <a:lumOff val="19749"/>
              <a:alpha val="35000"/>
            </a:scheme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38AA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6"/>
              <a:satOff val="13972"/>
              <a:lumOff val="-24493"/>
            </a:schemeClr>
          </a:solidFill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4"/>
              <a:satOff val="6343"/>
              <a:lumOff val="-13963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6635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3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41" autoAdjust="0"/>
    <p:restoredTop sz="94667"/>
  </p:normalViewPr>
  <p:slideViewPr>
    <p:cSldViewPr snapToGrid="0" snapToObjects="1">
      <p:cViewPr varScale="1">
        <p:scale>
          <a:sx n="50" d="100"/>
          <a:sy n="50" d="100"/>
        </p:scale>
        <p:origin x="124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2" name="Shape 14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691468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38613" y="9109075"/>
            <a:ext cx="3163887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1pPr>
            <a:lvl2pPr marL="742950" indent="-285750" defTabSz="9652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2pPr>
            <a:lvl3pPr marL="1143000" indent="-228600" defTabSz="9652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3pPr>
            <a:lvl4pPr marL="1600200" indent="-228600" defTabSz="9652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4pPr>
            <a:lvl5pPr marL="2057400" indent="-228600" defTabSz="9652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5pPr>
            <a:lvl6pPr marL="25146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6pPr>
            <a:lvl7pPr marL="29718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7pPr>
            <a:lvl8pPr marL="34290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8pPr>
            <a:lvl9pPr marL="3886200" indent="-228600" algn="ctr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9pPr>
          </a:lstStyle>
          <a:p>
            <a:pPr eaLnBrk="1" hangingPunct="1"/>
            <a:fld id="{4E499632-3E90-4759-BDD5-965B198EA96D}" type="slidenum"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pPr eaLnBrk="1" hangingPunct="1"/>
              <a:t>3</a:t>
            </a:fld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498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4759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809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316388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1pPr>
            <a:lvl2pPr marL="742950" indent="-285750"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2pPr>
            <a:lvl3pPr marL="1143000" indent="-228600"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3pPr>
            <a:lvl4pPr marL="1600200" indent="-228600"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4pPr>
            <a:lvl5pPr marL="2057400" indent="-228600"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5pPr>
            <a:lvl6pPr marL="2514600" indent="-228600" algn="ctr" defTabSz="9620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6pPr>
            <a:lvl7pPr marL="2971800" indent="-228600" algn="ctr" defTabSz="9620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7pPr>
            <a:lvl8pPr marL="3429000" indent="-228600" algn="ctr" defTabSz="9620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8pPr>
            <a:lvl9pPr marL="3886200" indent="-228600" algn="ctr" defTabSz="9620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9pPr>
          </a:lstStyle>
          <a:p>
            <a:pPr eaLnBrk="1" hangingPunct="1"/>
            <a:r>
              <a:rPr lang="en-US" altLang="en-US" sz="1300">
                <a:latin typeface="Times New Roman" panose="02020603050405020304" pitchFamily="18" charset="0"/>
              </a:rPr>
              <a:t>The C Shell</a:t>
            </a:r>
          </a:p>
        </p:txBody>
      </p:sp>
      <p:sp>
        <p:nvSpPr>
          <p:cNvPr id="101379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109075"/>
            <a:ext cx="3163888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1pPr>
            <a:lvl2pPr marL="742950" indent="-285750"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2pPr>
            <a:lvl3pPr marL="1143000" indent="-228600"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3pPr>
            <a:lvl4pPr marL="1600200" indent="-228600"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4pPr>
            <a:lvl5pPr marL="2057400" indent="-228600"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5pPr>
            <a:lvl6pPr marL="2514600" indent="-228600" algn="ctr" defTabSz="9620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6pPr>
            <a:lvl7pPr marL="2971800" indent="-228600" algn="ctr" defTabSz="9620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7pPr>
            <a:lvl8pPr marL="3429000" indent="-228600" algn="ctr" defTabSz="9620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8pPr>
            <a:lvl9pPr marL="3886200" indent="-228600" algn="ctr" defTabSz="9620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9pPr>
          </a:lstStyle>
          <a:p>
            <a:pPr eaLnBrk="1" hangingPunct="1"/>
            <a:r>
              <a:rPr lang="en-US" altLang="en-US" sz="1300">
                <a:latin typeface="Times New Roman" panose="02020603050405020304" pitchFamily="18" charset="0"/>
              </a:rPr>
              <a:t>Copyright Department of Computer Science, Northern Illinois University, 2005</a:t>
            </a:r>
          </a:p>
        </p:txBody>
      </p:sp>
      <p:sp>
        <p:nvSpPr>
          <p:cNvPr id="10138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38613" y="9109075"/>
            <a:ext cx="3163887" cy="4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1pPr>
            <a:lvl2pPr marL="742950" indent="-285750"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2pPr>
            <a:lvl3pPr marL="1143000" indent="-228600"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3pPr>
            <a:lvl4pPr marL="1600200" indent="-228600"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4pPr>
            <a:lvl5pPr marL="2057400" indent="-228600" defTabSz="962025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5pPr>
            <a:lvl6pPr marL="2514600" indent="-228600" algn="ctr" defTabSz="9620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6pPr>
            <a:lvl7pPr marL="2971800" indent="-228600" algn="ctr" defTabSz="9620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7pPr>
            <a:lvl8pPr marL="3429000" indent="-228600" algn="ctr" defTabSz="9620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8pPr>
            <a:lvl9pPr marL="3886200" indent="-228600" algn="ctr" defTabSz="96202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9pPr>
          </a:lstStyle>
          <a:p>
            <a:pPr eaLnBrk="1" hangingPunct="1"/>
            <a:fld id="{D7264DEE-C339-4648-A636-8F47A6A15819}" type="slidenum">
              <a:rPr lang="en-US" altLang="en-US" sz="1300">
                <a:latin typeface="Times New Roman" panose="02020603050405020304" pitchFamily="18" charset="0"/>
              </a:rPr>
              <a:pPr eaLnBrk="1" hangingPunct="1"/>
              <a:t>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013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1" hangingPunct="1">
              <a:spcBef>
                <a:spcPct val="0"/>
              </a:spcBef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73986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9" name="Shape 20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9965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000" dirty="0"/>
              <a:t>Pour bien comprendre ce qui se passe, intéressons-nous au fonctionnement de ce que l'on appelle les « </a:t>
            </a:r>
            <a:r>
              <a:rPr lang="fr-FR" sz="2000" dirty="0" err="1"/>
              <a:t>quotes</a:t>
            </a:r>
            <a:r>
              <a:rPr lang="fr-FR" sz="2000" dirty="0"/>
              <a:t> ».</a:t>
            </a:r>
            <a:endParaRPr lang="fr-FR" sz="2000" dirty="0">
              <a:solidFill>
                <a:schemeClr val="tx1"/>
              </a:solidFill>
              <a:latin typeface="Montserrat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7445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3835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200" i="1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#!/bin/</a:t>
            </a:r>
            <a:r>
              <a:rPr lang="fr-FR" sz="2200" i="1" dirty="0" err="1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bash</a:t>
            </a:r>
            <a:r>
              <a:rPr lang="fr-FR" dirty="0"/>
              <a:t> </a:t>
            </a:r>
            <a:r>
              <a:rPr lang="fr-FR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tableau</a:t>
            </a:r>
            <a:r>
              <a:rPr lang="fr-FR" dirty="0"/>
              <a:t>=</a:t>
            </a:r>
            <a:r>
              <a:rPr lang="fr-FR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fr-FR" dirty="0"/>
              <a:t> bleu jaune rouge </a:t>
            </a:r>
            <a:r>
              <a:rPr lang="fr-FR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fr-FR" dirty="0"/>
              <a:t> </a:t>
            </a:r>
            <a:r>
              <a:rPr lang="fr-FR" sz="2200" dirty="0" err="1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echo</a:t>
            </a:r>
            <a:r>
              <a:rPr lang="fr-FR" dirty="0"/>
              <a:t> </a:t>
            </a:r>
            <a:r>
              <a:rPr lang="fr-FR" sz="2200" i="1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${#tableau[*]}</a:t>
            </a:r>
            <a:r>
              <a:rPr lang="fr-FR" dirty="0"/>
              <a:t> tableau</a:t>
            </a:r>
            <a:r>
              <a:rPr lang="fr-FR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fr-FR" sz="2200" i="1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${#tableau[*]}</a:t>
            </a:r>
            <a:r>
              <a:rPr lang="fr-FR" sz="2200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r>
              <a:rPr lang="fr-FR" dirty="0"/>
              <a:t>=couleurs </a:t>
            </a:r>
            <a:r>
              <a:rPr lang="fr-FR" sz="2200" dirty="0" err="1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echo</a:t>
            </a:r>
            <a:r>
              <a:rPr lang="fr-FR" dirty="0"/>
              <a:t> </a:t>
            </a:r>
            <a:r>
              <a:rPr lang="fr-FR" sz="2200" i="1" dirty="0">
                <a:effectLst/>
                <a:latin typeface="Helvetica Neue"/>
                <a:ea typeface="Helvetica Neue"/>
                <a:cs typeface="Helvetica Neue"/>
                <a:sym typeface="Helvetica Neue"/>
              </a:rPr>
              <a:t>${tableau[*]}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5351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400" dirty="0" err="1">
                <a:solidFill>
                  <a:srgbClr val="002060"/>
                </a:solidFill>
              </a:rPr>
              <a:t>expr</a:t>
            </a:r>
            <a:r>
              <a:rPr lang="fr-FR" sz="2400" dirty="0">
                <a:solidFill>
                  <a:srgbClr val="002060"/>
                </a:solidFill>
              </a:rPr>
              <a:t> </a:t>
            </a:r>
            <a:r>
              <a:rPr lang="fr-FR" sz="2400" dirty="0" err="1">
                <a:solidFill>
                  <a:srgbClr val="002060"/>
                </a:solidFill>
              </a:rPr>
              <a:t>length</a:t>
            </a:r>
            <a:r>
              <a:rPr lang="fr-FR" sz="2400" dirty="0">
                <a:solidFill>
                  <a:srgbClr val="002060"/>
                </a:solidFill>
              </a:rPr>
              <a:t> $chaine 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400" dirty="0" err="1">
                <a:solidFill>
                  <a:srgbClr val="002060"/>
                </a:solidFill>
              </a:rPr>
              <a:t>expr</a:t>
            </a:r>
            <a:r>
              <a:rPr lang="fr-FR" sz="2400" dirty="0">
                <a:solidFill>
                  <a:srgbClr val="002060"/>
                </a:solidFill>
              </a:rPr>
              <a:t> match "$chaine" '$</a:t>
            </a:r>
            <a:r>
              <a:rPr lang="fr-FR" sz="2400" dirty="0" err="1">
                <a:solidFill>
                  <a:srgbClr val="002060"/>
                </a:solidFill>
              </a:rPr>
              <a:t>souschaine</a:t>
            </a:r>
            <a:r>
              <a:rPr lang="fr-FR" sz="2400" dirty="0">
                <a:solidFill>
                  <a:srgbClr val="002060"/>
                </a:solidFill>
              </a:rPr>
              <a:t>‘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2400" dirty="0">
              <a:solidFill>
                <a:srgbClr val="00206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2850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0383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9298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440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3344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gne"/>
          <p:cNvSpPr/>
          <p:nvPr/>
        </p:nvSpPr>
        <p:spPr>
          <a:xfrm>
            <a:off x="508000" y="6591300"/>
            <a:ext cx="11999453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" name="Ligne"/>
          <p:cNvSpPr/>
          <p:nvPr/>
        </p:nvSpPr>
        <p:spPr>
          <a:xfrm>
            <a:off x="508000" y="4089400"/>
            <a:ext cx="12000019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" name="Ligne"/>
          <p:cNvSpPr/>
          <p:nvPr/>
        </p:nvSpPr>
        <p:spPr>
          <a:xfrm flipV="1">
            <a:off x="7994302" y="4526255"/>
            <a:ext cx="1" cy="1642759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508000" y="3505200"/>
            <a:ext cx="7200900" cy="508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2400" i="1"/>
            </a:lvl1pPr>
          </a:lstStyle>
          <a:p>
            <a:r>
              <a:t>Lorem Ipsum Dolor</a:t>
            </a:r>
          </a:p>
        </p:txBody>
      </p:sp>
      <p:sp>
        <p:nvSpPr>
          <p:cNvPr id="17" name="Texte du titre"/>
          <p:cNvSpPr txBox="1">
            <a:spLocks noGrp="1"/>
          </p:cNvSpPr>
          <p:nvPr>
            <p:ph type="title"/>
          </p:nvPr>
        </p:nvSpPr>
        <p:spPr>
          <a:xfrm>
            <a:off x="508000" y="4140200"/>
            <a:ext cx="7200900" cy="24130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Texte du titre</a:t>
            </a:r>
          </a:p>
        </p:txBody>
      </p:sp>
      <p:sp>
        <p:nvSpPr>
          <p:cNvPr id="18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8280400" y="4140200"/>
            <a:ext cx="4241800" cy="241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2400"/>
            </a:lvl1pPr>
            <a:lvl2pPr marL="0" indent="228600">
              <a:spcBef>
                <a:spcPts val="0"/>
              </a:spcBef>
              <a:buClrTx/>
              <a:buSzTx/>
              <a:buFontTx/>
              <a:buNone/>
              <a:defRPr sz="2400"/>
            </a:lvl2pPr>
            <a:lvl3pPr marL="0" indent="457200">
              <a:spcBef>
                <a:spcPts val="0"/>
              </a:spcBef>
              <a:buClrTx/>
              <a:buSzTx/>
              <a:buFontTx/>
              <a:buNone/>
              <a:defRPr sz="2400"/>
            </a:lvl3pPr>
            <a:lvl4pPr marL="0" indent="685800">
              <a:spcBef>
                <a:spcPts val="0"/>
              </a:spcBef>
              <a:buClrTx/>
              <a:buSzTx/>
              <a:buFontTx/>
              <a:buNone/>
              <a:defRPr sz="2400"/>
            </a:lvl4pPr>
            <a:lvl5pPr marL="0" indent="914400">
              <a:spcBef>
                <a:spcPts val="0"/>
              </a:spcBef>
              <a:buClrTx/>
              <a:buSzTx/>
              <a:buFontTx/>
              <a:buNone/>
              <a:defRPr sz="2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9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igne"/>
          <p:cNvSpPr/>
          <p:nvPr/>
        </p:nvSpPr>
        <p:spPr>
          <a:xfrm flipV="1">
            <a:off x="7994302" y="7053555"/>
            <a:ext cx="1" cy="1642759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7" name="Ligne"/>
          <p:cNvSpPr/>
          <p:nvPr/>
        </p:nvSpPr>
        <p:spPr>
          <a:xfrm>
            <a:off x="508000" y="9131300"/>
            <a:ext cx="11999453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" name="Ligne"/>
          <p:cNvSpPr/>
          <p:nvPr/>
        </p:nvSpPr>
        <p:spPr>
          <a:xfrm>
            <a:off x="508000" y="6629400"/>
            <a:ext cx="12000019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9" name="Ligne"/>
          <p:cNvSpPr/>
          <p:nvPr/>
        </p:nvSpPr>
        <p:spPr>
          <a:xfrm flipV="1">
            <a:off x="7994302" y="7053555"/>
            <a:ext cx="1" cy="1642759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0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508000" y="6096000"/>
            <a:ext cx="7200900" cy="508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2400" i="1"/>
            </a:lvl1pPr>
          </a:lstStyle>
          <a:p>
            <a:r>
              <a:t>Lorem Ipsum Dolor</a:t>
            </a:r>
          </a:p>
        </p:txBody>
      </p:sp>
      <p:sp>
        <p:nvSpPr>
          <p:cNvPr id="31" name="Image"/>
          <p:cNvSpPr>
            <a:spLocks noGrp="1"/>
          </p:cNvSpPr>
          <p:nvPr>
            <p:ph type="pic" idx="22"/>
          </p:nvPr>
        </p:nvSpPr>
        <p:spPr>
          <a:xfrm>
            <a:off x="584200" y="558800"/>
            <a:ext cx="11823700" cy="70866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2" name="Texte du titre"/>
          <p:cNvSpPr txBox="1">
            <a:spLocks noGrp="1"/>
          </p:cNvSpPr>
          <p:nvPr>
            <p:ph type="title"/>
          </p:nvPr>
        </p:nvSpPr>
        <p:spPr>
          <a:xfrm>
            <a:off x="508000" y="6680200"/>
            <a:ext cx="7200900" cy="24130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Texte du titre</a:t>
            </a:r>
          </a:p>
        </p:txBody>
      </p:sp>
      <p:sp>
        <p:nvSpPr>
          <p:cNvPr id="33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8280400" y="6680200"/>
            <a:ext cx="4241800" cy="241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2400"/>
            </a:lvl1pPr>
            <a:lvl2pPr marL="0" indent="228600">
              <a:spcBef>
                <a:spcPts val="0"/>
              </a:spcBef>
              <a:buClrTx/>
              <a:buSzTx/>
              <a:buFontTx/>
              <a:buNone/>
              <a:defRPr sz="2400"/>
            </a:lvl2pPr>
            <a:lvl3pPr marL="0" indent="457200">
              <a:spcBef>
                <a:spcPts val="0"/>
              </a:spcBef>
              <a:buClrTx/>
              <a:buSzTx/>
              <a:buFontTx/>
              <a:buNone/>
              <a:defRPr sz="2400"/>
            </a:lvl3pPr>
            <a:lvl4pPr marL="0" indent="685800">
              <a:spcBef>
                <a:spcPts val="0"/>
              </a:spcBef>
              <a:buClrTx/>
              <a:buSzTx/>
              <a:buFontTx/>
              <a:buNone/>
              <a:defRPr sz="2400"/>
            </a:lvl4pPr>
            <a:lvl5pPr marL="0" indent="914400">
              <a:spcBef>
                <a:spcPts val="0"/>
              </a:spcBef>
              <a:buClrTx/>
              <a:buSzTx/>
              <a:buFontTx/>
              <a:buNone/>
              <a:defRPr sz="2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34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- Cent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e du titre"/>
          <p:cNvSpPr txBox="1">
            <a:spLocks noGrp="1"/>
          </p:cNvSpPr>
          <p:nvPr>
            <p:ph type="title"/>
          </p:nvPr>
        </p:nvSpPr>
        <p:spPr>
          <a:xfrm>
            <a:off x="508000" y="3670300"/>
            <a:ext cx="11988800" cy="2413000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42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Ligne"/>
          <p:cNvSpPr/>
          <p:nvPr/>
        </p:nvSpPr>
        <p:spPr>
          <a:xfrm>
            <a:off x="508000" y="4876800"/>
            <a:ext cx="56763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0" name="Ligne"/>
          <p:cNvSpPr/>
          <p:nvPr/>
        </p:nvSpPr>
        <p:spPr>
          <a:xfrm>
            <a:off x="508000" y="2768600"/>
            <a:ext cx="5676316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1" name="Lorem Ipsum Dolor"/>
          <p:cNvSpPr txBox="1">
            <a:spLocks noGrp="1"/>
          </p:cNvSpPr>
          <p:nvPr>
            <p:ph type="body" sz="quarter" idx="21"/>
          </p:nvPr>
        </p:nvSpPr>
        <p:spPr>
          <a:xfrm>
            <a:off x="508000" y="2171700"/>
            <a:ext cx="5676900" cy="508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2400" i="1"/>
            </a:lvl1pPr>
          </a:lstStyle>
          <a:p>
            <a:r>
              <a:t>Lorem Ipsum Dolor</a:t>
            </a:r>
          </a:p>
        </p:txBody>
      </p:sp>
      <p:sp>
        <p:nvSpPr>
          <p:cNvPr id="52" name="Image"/>
          <p:cNvSpPr>
            <a:spLocks noGrp="1"/>
          </p:cNvSpPr>
          <p:nvPr>
            <p:ph type="pic" sz="half" idx="22"/>
          </p:nvPr>
        </p:nvSpPr>
        <p:spPr>
          <a:xfrm>
            <a:off x="6704698" y="590550"/>
            <a:ext cx="5806884" cy="85090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3" name="Texte du titre"/>
          <p:cNvSpPr txBox="1">
            <a:spLocks noGrp="1"/>
          </p:cNvSpPr>
          <p:nvPr>
            <p:ph type="title"/>
          </p:nvPr>
        </p:nvSpPr>
        <p:spPr>
          <a:xfrm>
            <a:off x="508000" y="2806700"/>
            <a:ext cx="5676900" cy="2032000"/>
          </a:xfrm>
          <a:prstGeom prst="rect">
            <a:avLst/>
          </a:prstGeom>
        </p:spPr>
        <p:txBody>
          <a:bodyPr/>
          <a:lstStyle>
            <a:lvl1pPr algn="l">
              <a:defRPr sz="4100">
                <a:solidFill>
                  <a:srgbClr val="008F00"/>
                </a:solidFill>
              </a:defRPr>
            </a:lvl1pPr>
          </a:lstStyle>
          <a:p>
            <a:r>
              <a:t>Texte du titre</a:t>
            </a:r>
          </a:p>
        </p:txBody>
      </p:sp>
      <p:sp>
        <p:nvSpPr>
          <p:cNvPr id="54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508000" y="5029200"/>
            <a:ext cx="5676900" cy="40132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2400"/>
            </a:lvl1pPr>
            <a:lvl2pPr marL="0" indent="228600">
              <a:spcBef>
                <a:spcPts val="0"/>
              </a:spcBef>
              <a:buClrTx/>
              <a:buSzTx/>
              <a:buFontTx/>
              <a:buNone/>
              <a:defRPr sz="2400"/>
            </a:lvl2pPr>
            <a:lvl3pPr marL="0" indent="457200">
              <a:spcBef>
                <a:spcPts val="0"/>
              </a:spcBef>
              <a:buClrTx/>
              <a:buSzTx/>
              <a:buFontTx/>
              <a:buNone/>
              <a:defRPr sz="2400"/>
            </a:lvl3pPr>
            <a:lvl4pPr marL="0" indent="685800">
              <a:spcBef>
                <a:spcPts val="0"/>
              </a:spcBef>
              <a:buClrTx/>
              <a:buSzTx/>
              <a:buFontTx/>
              <a:buNone/>
              <a:defRPr sz="2400"/>
            </a:lvl4pPr>
            <a:lvl5pPr marL="0" indent="914400">
              <a:spcBef>
                <a:spcPts val="0"/>
              </a:spcBef>
              <a:buClrTx/>
              <a:buSzTx/>
              <a:buFontTx/>
              <a:buNone/>
              <a:defRPr sz="2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55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- H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e du tit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63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e du titre"/>
          <p:cNvSpPr txBox="1">
            <a:spLocks noGrp="1"/>
          </p:cNvSpPr>
          <p:nvPr>
            <p:ph type="title"/>
          </p:nvPr>
        </p:nvSpPr>
        <p:spPr>
          <a:xfrm>
            <a:off x="508000" y="800100"/>
            <a:ext cx="11988800" cy="1219200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71" name="Texte niveau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72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, puces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Image"/>
          <p:cNvSpPr>
            <a:spLocks noGrp="1"/>
          </p:cNvSpPr>
          <p:nvPr>
            <p:ph type="pic" sz="half" idx="21"/>
          </p:nvPr>
        </p:nvSpPr>
        <p:spPr>
          <a:xfrm>
            <a:off x="6819900" y="1739900"/>
            <a:ext cx="5575300" cy="8169655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0" name="Texte du titre"/>
          <p:cNvSpPr txBox="1">
            <a:spLocks noGrp="1"/>
          </p:cNvSpPr>
          <p:nvPr>
            <p:ph type="title"/>
          </p:nvPr>
        </p:nvSpPr>
        <p:spPr>
          <a:xfrm>
            <a:off x="508000" y="800100"/>
            <a:ext cx="11988800" cy="1219200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81" name="Texte niveau 1…"/>
          <p:cNvSpPr txBox="1">
            <a:spLocks noGrp="1"/>
          </p:cNvSpPr>
          <p:nvPr>
            <p:ph type="body" sz="half" idx="1"/>
          </p:nvPr>
        </p:nvSpPr>
        <p:spPr>
          <a:xfrm>
            <a:off x="508000" y="2730500"/>
            <a:ext cx="5816600" cy="6350000"/>
          </a:xfrm>
          <a:prstGeom prst="rect">
            <a:avLst/>
          </a:prstGeom>
        </p:spPr>
        <p:txBody>
          <a:bodyPr/>
          <a:lstStyle>
            <a:lvl1pPr marL="393700" indent="-393700">
              <a:spcBef>
                <a:spcPts val="1800"/>
              </a:spcBef>
              <a:buSzPct val="65000"/>
              <a:defRPr sz="3000"/>
            </a:lvl1pPr>
            <a:lvl2pPr marL="787400" indent="-393700">
              <a:spcBef>
                <a:spcPts val="1800"/>
              </a:spcBef>
              <a:buSzPct val="65000"/>
              <a:defRPr sz="3000"/>
            </a:lvl2pPr>
            <a:lvl3pPr marL="1181100" indent="-393700">
              <a:spcBef>
                <a:spcPts val="1800"/>
              </a:spcBef>
              <a:buSzPct val="65000"/>
              <a:defRPr sz="3000"/>
            </a:lvl3pPr>
            <a:lvl4pPr marL="1574800" indent="-393700">
              <a:spcBef>
                <a:spcPts val="1800"/>
              </a:spcBef>
              <a:buSzPct val="65000"/>
              <a:defRPr sz="3000"/>
            </a:lvl4pPr>
            <a:lvl5pPr marL="1968500" indent="-393700">
              <a:spcBef>
                <a:spcPts val="1800"/>
              </a:spcBef>
              <a:buSzPct val="65000"/>
              <a:defRPr sz="30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2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e niveau 1…"/>
          <p:cNvSpPr txBox="1">
            <a:spLocks noGrp="1"/>
          </p:cNvSpPr>
          <p:nvPr>
            <p:ph type="body" idx="1"/>
          </p:nvPr>
        </p:nvSpPr>
        <p:spPr>
          <a:xfrm>
            <a:off x="508000" y="1270000"/>
            <a:ext cx="11988800" cy="7213600"/>
          </a:xfrm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90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 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Image"/>
          <p:cNvSpPr>
            <a:spLocks noGrp="1"/>
          </p:cNvSpPr>
          <p:nvPr>
            <p:ph type="pic" sz="half" idx="21"/>
          </p:nvPr>
        </p:nvSpPr>
        <p:spPr>
          <a:xfrm>
            <a:off x="6260986" y="4406900"/>
            <a:ext cx="6697779" cy="47117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8" name="Image"/>
          <p:cNvSpPr>
            <a:spLocks noGrp="1"/>
          </p:cNvSpPr>
          <p:nvPr>
            <p:ph type="pic" sz="quarter" idx="22"/>
          </p:nvPr>
        </p:nvSpPr>
        <p:spPr>
          <a:xfrm>
            <a:off x="6680200" y="635000"/>
            <a:ext cx="5829301" cy="35179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9" name="Image"/>
          <p:cNvSpPr>
            <a:spLocks noGrp="1"/>
          </p:cNvSpPr>
          <p:nvPr>
            <p:ph type="pic" sz="half" idx="23"/>
          </p:nvPr>
        </p:nvSpPr>
        <p:spPr>
          <a:xfrm>
            <a:off x="482600" y="609600"/>
            <a:ext cx="5728881" cy="83947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0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-Gilles Allain"/>
          <p:cNvSpPr txBox="1">
            <a:spLocks noGrp="1"/>
          </p:cNvSpPr>
          <p:nvPr>
            <p:ph type="body" sz="quarter" idx="21"/>
          </p:nvPr>
        </p:nvSpPr>
        <p:spPr>
          <a:xfrm>
            <a:off x="533400" y="5969000"/>
            <a:ext cx="11938000" cy="6096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1200"/>
              </a:spcBef>
              <a:buClrTx/>
              <a:buSzTx/>
              <a:buFontTx/>
              <a:buNone/>
              <a:defRPr sz="3000" i="1"/>
            </a:lvl1pPr>
          </a:lstStyle>
          <a:p>
            <a:r>
              <a:t>-Gilles Allain</a:t>
            </a:r>
          </a:p>
        </p:txBody>
      </p:sp>
      <p:sp>
        <p:nvSpPr>
          <p:cNvPr id="108" name="« Saisissez une citation ici. »"/>
          <p:cNvSpPr txBox="1">
            <a:spLocks noGrp="1"/>
          </p:cNvSpPr>
          <p:nvPr>
            <p:ph type="body" sz="quarter" idx="22"/>
          </p:nvPr>
        </p:nvSpPr>
        <p:spPr>
          <a:xfrm>
            <a:off x="1270000" y="4254500"/>
            <a:ext cx="10464800" cy="7112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</a:lvl1pPr>
          </a:lstStyle>
          <a:p>
            <a:r>
              <a:t>« Saisissez une citation ici. » </a:t>
            </a:r>
          </a:p>
        </p:txBody>
      </p:sp>
      <p:sp>
        <p:nvSpPr>
          <p:cNvPr id="109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Image"/>
          <p:cNvSpPr>
            <a:spLocks noGrp="1"/>
          </p:cNvSpPr>
          <p:nvPr>
            <p:ph type="pic" idx="21"/>
          </p:nvPr>
        </p:nvSpPr>
        <p:spPr>
          <a:xfrm>
            <a:off x="-901700" y="-127000"/>
            <a:ext cx="14211300" cy="999725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Ligne"/>
          <p:cNvSpPr/>
          <p:nvPr/>
        </p:nvSpPr>
        <p:spPr>
          <a:xfrm>
            <a:off x="2006599" y="2847974"/>
            <a:ext cx="8997971" cy="1"/>
          </a:xfrm>
          <a:prstGeom prst="line">
            <a:avLst/>
          </a:prstGeom>
          <a:ln w="3175">
            <a:solidFill>
              <a:srgbClr val="444444">
                <a:alpha val="30000"/>
              </a:srgbClr>
            </a:solidFill>
            <a:miter lim="400000"/>
          </a:ln>
        </p:spPr>
        <p:txBody>
          <a:bodyPr lIns="38100" tIns="38100" rIns="38100" bIns="38100" anchor="ctr"/>
          <a:lstStyle/>
          <a:p>
            <a:pPr algn="l" defTabSz="457200">
              <a:defRPr sz="11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2" name="Ligne"/>
          <p:cNvSpPr/>
          <p:nvPr/>
        </p:nvSpPr>
        <p:spPr>
          <a:xfrm>
            <a:off x="2006599" y="1695449"/>
            <a:ext cx="8997971" cy="1"/>
          </a:xfrm>
          <a:prstGeom prst="line">
            <a:avLst/>
          </a:prstGeom>
          <a:ln w="3175">
            <a:solidFill>
              <a:srgbClr val="444444">
                <a:alpha val="30000"/>
              </a:srgbClr>
            </a:solidFill>
            <a:miter lim="400000"/>
          </a:ln>
        </p:spPr>
        <p:txBody>
          <a:bodyPr lIns="38100" tIns="38100" rIns="38100" bIns="38100" anchor="ctr"/>
          <a:lstStyle/>
          <a:p>
            <a:pPr algn="l" defTabSz="457200">
              <a:defRPr sz="11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33" name="Texte du titre"/>
          <p:cNvSpPr txBox="1">
            <a:spLocks noGrp="1"/>
          </p:cNvSpPr>
          <p:nvPr>
            <p:ph type="title"/>
          </p:nvPr>
        </p:nvSpPr>
        <p:spPr>
          <a:xfrm>
            <a:off x="2006599" y="1819274"/>
            <a:ext cx="8991602" cy="914401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defRPr sz="6800"/>
            </a:lvl1pPr>
          </a:lstStyle>
          <a:p>
            <a:r>
              <a:t>Texte du titre</a:t>
            </a:r>
          </a:p>
        </p:txBody>
      </p:sp>
      <p:sp>
        <p:nvSpPr>
          <p:cNvPr id="134" name="Texte niveau 1…"/>
          <p:cNvSpPr txBox="1">
            <a:spLocks noGrp="1"/>
          </p:cNvSpPr>
          <p:nvPr>
            <p:ph type="body" sz="half" idx="1"/>
          </p:nvPr>
        </p:nvSpPr>
        <p:spPr>
          <a:xfrm>
            <a:off x="2006599" y="3190875"/>
            <a:ext cx="8991602" cy="4572001"/>
          </a:xfrm>
          <a:prstGeom prst="rect">
            <a:avLst/>
          </a:prstGeom>
        </p:spPr>
        <p:txBody>
          <a:bodyPr lIns="38100" tIns="38100" rIns="38100" bIns="38100"/>
          <a:lstStyle>
            <a:lvl1pPr marL="443794" indent="-443794">
              <a:defRPr sz="3400"/>
            </a:lvl1pPr>
            <a:lvl2pPr marL="913694" indent="-443794">
              <a:defRPr sz="3400"/>
            </a:lvl2pPr>
            <a:lvl3pPr marL="1383594" indent="-443794">
              <a:defRPr sz="3400"/>
            </a:lvl3pPr>
            <a:lvl4pPr marL="1853494" indent="-443794">
              <a:defRPr sz="3400"/>
            </a:lvl4pPr>
            <a:lvl5pPr marL="2323394" indent="-443794">
              <a:defRPr sz="3400"/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35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6351587" y="8162925"/>
            <a:ext cx="292101" cy="330200"/>
          </a:xfrm>
          <a:prstGeom prst="rect">
            <a:avLst/>
          </a:prstGeom>
        </p:spPr>
        <p:txBody>
          <a:bodyPr lIns="38100" tIns="38100" rIns="38100" bIns="38100"/>
          <a:lstStyle>
            <a:lvl1pPr>
              <a:defRPr sz="1600"/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>
          <a:xfrm>
            <a:off x="6237966" y="9258300"/>
            <a:ext cx="516168" cy="379591"/>
          </a:xfrm>
        </p:spPr>
        <p:txBody>
          <a:bodyPr/>
          <a:lstStyle>
            <a:lvl1pPr>
              <a:defRPr/>
            </a:lvl1pPr>
          </a:lstStyle>
          <a:p>
            <a:fld id="{75C07AC0-5508-4CE6-BF7E-34C32D9F5250}" type="slidenum">
              <a:rPr lang="en-GB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06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gne"/>
          <p:cNvSpPr/>
          <p:nvPr/>
        </p:nvSpPr>
        <p:spPr>
          <a:xfrm>
            <a:off x="508000" y="2171700"/>
            <a:ext cx="1199729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Ligne"/>
          <p:cNvSpPr/>
          <p:nvPr/>
        </p:nvSpPr>
        <p:spPr>
          <a:xfrm>
            <a:off x="508000" y="635000"/>
            <a:ext cx="1199729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" name="Texte du titre"/>
          <p:cNvSpPr txBox="1">
            <a:spLocks noGrp="1"/>
          </p:cNvSpPr>
          <p:nvPr>
            <p:ph type="title"/>
          </p:nvPr>
        </p:nvSpPr>
        <p:spPr>
          <a:xfrm>
            <a:off x="508000" y="3276600"/>
            <a:ext cx="11988800" cy="121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Texte du titre</a:t>
            </a:r>
          </a:p>
        </p:txBody>
      </p:sp>
      <p:sp>
        <p:nvSpPr>
          <p:cNvPr id="5" name="Texte niveau 1…"/>
          <p:cNvSpPr txBox="1">
            <a:spLocks noGrp="1"/>
          </p:cNvSpPr>
          <p:nvPr>
            <p:ph type="body" idx="1"/>
          </p:nvPr>
        </p:nvSpPr>
        <p:spPr>
          <a:xfrm>
            <a:off x="508000" y="2628900"/>
            <a:ext cx="11988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6324599" y="9258300"/>
            <a:ext cx="342901" cy="4064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>
                <a:solidFill>
                  <a:srgbClr val="4C4946"/>
                </a:solidFill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1pPr>
      <a:lvl2pPr marL="0" marR="0" indent="2286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2pPr>
      <a:lvl3pPr marL="0" marR="0" indent="4572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3pPr>
      <a:lvl4pPr marL="0" marR="0" indent="6858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4pPr>
      <a:lvl5pPr marL="0" marR="0" indent="9144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5pPr>
      <a:lvl6pPr marL="0" marR="0" indent="11430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6pPr>
      <a:lvl7pPr marL="0" marR="0" indent="13716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7pPr>
      <a:lvl8pPr marL="0" marR="0" indent="16002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8pPr>
      <a:lvl9pPr marL="0" marR="0" indent="1828800" algn="ctr" defTabSz="584200" rtl="0" latinLnBrk="0">
        <a:lnSpc>
          <a:spcPct val="90000"/>
        </a:lnSpc>
        <a:spcBef>
          <a:spcPts val="160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9pPr>
    </p:titleStyle>
    <p:bodyStyle>
      <a:lvl1pPr marL="4699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1pPr>
      <a:lvl2pPr marL="9398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2pPr>
      <a:lvl3pPr marL="14097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3pPr>
      <a:lvl4pPr marL="18796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4pPr>
      <a:lvl5pPr marL="23495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5pPr>
      <a:lvl6pPr marL="28194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6pPr>
      <a:lvl7pPr marL="32893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7pPr>
      <a:lvl8pPr marL="37592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8pPr>
      <a:lvl9pPr marL="4229100" marR="0" indent="-469900" algn="l" defTabSz="5842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36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Administration &amp; Sécurité des Systèmes d’Exploitation"/>
          <p:cNvSpPr txBox="1">
            <a:spLocks noGrp="1"/>
          </p:cNvSpPr>
          <p:nvPr>
            <p:ph type="title"/>
          </p:nvPr>
        </p:nvSpPr>
        <p:spPr>
          <a:xfrm>
            <a:off x="508000" y="3212766"/>
            <a:ext cx="11988800" cy="24130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12800"/>
          </a:lstStyle>
          <a:p>
            <a:r>
              <a:rPr lang="fr-FR" dirty="0"/>
              <a:t> Administration &amp; Sécurité des Systèmes d’Exploitation UNIX </a:t>
            </a:r>
            <a:endParaRPr dirty="0"/>
          </a:p>
        </p:txBody>
      </p:sp>
      <p:sp>
        <p:nvSpPr>
          <p:cNvPr id="146" name="Année Universitaire…"/>
          <p:cNvSpPr txBox="1">
            <a:spLocks noGrp="1"/>
          </p:cNvSpPr>
          <p:nvPr>
            <p:ph type="body" sz="quarter" idx="4294967295"/>
          </p:nvPr>
        </p:nvSpPr>
        <p:spPr>
          <a:xfrm>
            <a:off x="4495466" y="5784033"/>
            <a:ext cx="4241801" cy="2413001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ClrTx/>
              <a:buSzTx/>
              <a:buFontTx/>
              <a:buNone/>
              <a:defRPr sz="2400" b="1"/>
            </a:pPr>
            <a:r>
              <a:rPr dirty="0" err="1"/>
              <a:t>Année</a:t>
            </a:r>
            <a:r>
              <a:rPr dirty="0"/>
              <a:t> </a:t>
            </a:r>
            <a:r>
              <a:rPr dirty="0" err="1"/>
              <a:t>Universitaire</a:t>
            </a:r>
            <a:r>
              <a:rPr dirty="0"/>
              <a:t> </a:t>
            </a:r>
          </a:p>
          <a:p>
            <a:pPr marL="0" indent="0" algn="ctr">
              <a:spcBef>
                <a:spcPts val="0"/>
              </a:spcBef>
              <a:buClrTx/>
              <a:buSzTx/>
              <a:buFontTx/>
              <a:buNone/>
              <a:defRPr sz="2400"/>
            </a:pPr>
            <a:r>
              <a:rPr dirty="0"/>
              <a:t>202</a:t>
            </a:r>
            <a:r>
              <a:rPr lang="fr-FR" dirty="0"/>
              <a:t>2</a:t>
            </a:r>
            <a:r>
              <a:rPr dirty="0"/>
              <a:t>-202</a:t>
            </a:r>
            <a:r>
              <a:rPr lang="fr-FR"/>
              <a:t>3</a:t>
            </a:r>
            <a:r>
              <a:t>  </a:t>
            </a:r>
            <a:endParaRPr dirty="0"/>
          </a:p>
        </p:txBody>
      </p:sp>
      <p:sp>
        <p:nvSpPr>
          <p:cNvPr id="147" name="Ligne"/>
          <p:cNvSpPr/>
          <p:nvPr/>
        </p:nvSpPr>
        <p:spPr>
          <a:xfrm>
            <a:off x="341224" y="3127464"/>
            <a:ext cx="12322353" cy="1"/>
          </a:xfrm>
          <a:prstGeom prst="line">
            <a:avLst/>
          </a:prstGeom>
          <a:ln w="12700">
            <a:solidFill>
              <a:srgbClr val="C0C0C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/>
          </a:p>
        </p:txBody>
      </p:sp>
      <p:sp>
        <p:nvSpPr>
          <p:cNvPr id="148" name="Ligne"/>
          <p:cNvSpPr/>
          <p:nvPr/>
        </p:nvSpPr>
        <p:spPr>
          <a:xfrm>
            <a:off x="341224" y="5711067"/>
            <a:ext cx="12322352" cy="1"/>
          </a:xfrm>
          <a:prstGeom prst="line">
            <a:avLst/>
          </a:prstGeom>
          <a:ln w="12700">
            <a:solidFill>
              <a:srgbClr val="C0C0C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3200"/>
            </a:pPr>
            <a:endParaRPr/>
          </a:p>
        </p:txBody>
      </p:sp>
      <p:pic>
        <p:nvPicPr>
          <p:cNvPr id="14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973" y="489406"/>
            <a:ext cx="4464854" cy="16526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ASSEU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ASSEU</a:t>
            </a:r>
          </a:p>
        </p:txBody>
      </p:sp>
      <p:sp>
        <p:nvSpPr>
          <p:cNvPr id="161" name="Chapitre IV : Redirections des E/S &amp; Tubes"/>
          <p:cNvSpPr txBox="1">
            <a:spLocks noGrp="1"/>
          </p:cNvSpPr>
          <p:nvPr>
            <p:ph type="ctrTitle"/>
          </p:nvPr>
        </p:nvSpPr>
        <p:spPr>
          <a:xfrm>
            <a:off x="508000" y="4140200"/>
            <a:ext cx="11845075" cy="2413000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rPr dirty="0" err="1" smtClean="0"/>
              <a:t>Chapitre</a:t>
            </a:r>
            <a:r>
              <a:rPr lang="fr-FR" dirty="0"/>
              <a:t> </a:t>
            </a:r>
            <a:r>
              <a:rPr dirty="0" smtClean="0"/>
              <a:t>V </a:t>
            </a:r>
            <a:r>
              <a:rPr dirty="0"/>
              <a:t>: </a:t>
            </a:r>
            <a:r>
              <a:rPr lang="fr-FR" dirty="0" smtClean="0"/>
              <a:t>Programmation Shell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912354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767316"/>
            <a:ext cx="11458203" cy="1219200"/>
          </a:xfrm>
        </p:spPr>
        <p:txBody>
          <a:bodyPr>
            <a:normAutofit/>
          </a:bodyPr>
          <a:lstStyle/>
          <a:p>
            <a:pPr hangingPunct="1"/>
            <a:r>
              <a:rPr lang="en-US" altLang="en-US" sz="6000" dirty="0"/>
              <a:t> Shell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528" y="3082452"/>
            <a:ext cx="3495675" cy="32385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01438" y="2635002"/>
            <a:ext cx="6947162" cy="67760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dirty="0"/>
              <a:t>Qu'est-ce qu'un </a:t>
            </a:r>
            <a:r>
              <a:rPr lang="fr-FR" sz="2800" b="1" dirty="0" err="1"/>
              <a:t>shell</a:t>
            </a:r>
            <a:r>
              <a:rPr lang="fr-FR" sz="2800" b="1" dirty="0"/>
              <a:t> ?</a:t>
            </a:r>
          </a:p>
          <a:p>
            <a:pPr algn="just">
              <a:lnSpc>
                <a:spcPct val="150000"/>
              </a:lnSpc>
            </a:pPr>
            <a:endParaRPr lang="fr-FR" b="1" dirty="0"/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chemeClr val="tx1"/>
                </a:solidFill>
                <a:ea typeface="굴림" pitchFamily="34" charset="-127"/>
              </a:rPr>
              <a:t>Un </a:t>
            </a:r>
            <a:r>
              <a:rPr lang="fr-FR" sz="2800" dirty="0" err="1">
                <a:solidFill>
                  <a:schemeClr val="tx1"/>
                </a:solidFill>
                <a:ea typeface="굴림" pitchFamily="34" charset="-127"/>
              </a:rPr>
              <a:t>shell</a:t>
            </a:r>
            <a:r>
              <a:rPr lang="fr-FR" sz="2800" dirty="0">
                <a:solidFill>
                  <a:schemeClr val="tx1"/>
                </a:solidFill>
                <a:ea typeface="굴림" pitchFamily="34" charset="-127"/>
              </a:rPr>
              <a:t> est un programme qui fournit une interface à l'utilisateur pour utiliser les services du système d'exploitation.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800" dirty="0">
                <a:solidFill>
                  <a:schemeClr val="tx1"/>
                </a:solidFill>
                <a:ea typeface="굴림" pitchFamily="34" charset="-127"/>
              </a:rPr>
              <a:t>Shell accepte les commandes par l'utilisateur  et les convertit en quelque chose que le noyau peut comprendre. 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6677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81378" y="1069918"/>
            <a:ext cx="11988800" cy="1219200"/>
          </a:xfrm>
        </p:spPr>
        <p:txBody>
          <a:bodyPr/>
          <a:lstStyle/>
          <a:p>
            <a:pPr hangingPunct="1"/>
            <a:r>
              <a:rPr lang="en-US" altLang="en-US" dirty="0"/>
              <a:t>Shell</a:t>
            </a:r>
          </a:p>
        </p:txBody>
      </p:sp>
      <p:sp>
        <p:nvSpPr>
          <p:cNvPr id="819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960707" y="13167360"/>
            <a:ext cx="556242" cy="408958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>
            <a:lvl1pPr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1pPr>
            <a:lvl2pPr marL="1056623" indent="-406394"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2pPr>
            <a:lvl3pPr marL="1625575" indent="-325115"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3pPr>
            <a:lvl4pPr marL="2275804" indent="-325115"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4pPr>
            <a:lvl5pPr marL="2926034" indent="-325115"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5pPr>
            <a:lvl6pPr marL="3576264" indent="-325115" algn="ctr" eaLnBrk="0" fontAlgn="base" hangingPunct="0">
              <a:spcBef>
                <a:spcPct val="0"/>
              </a:spcBef>
              <a:spcAft>
                <a:spcPct val="0"/>
              </a:spcAft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6pPr>
            <a:lvl7pPr marL="4226494" indent="-325115" algn="ctr" eaLnBrk="0" fontAlgn="base" hangingPunct="0">
              <a:spcBef>
                <a:spcPct val="0"/>
              </a:spcBef>
              <a:spcAft>
                <a:spcPct val="0"/>
              </a:spcAft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7pPr>
            <a:lvl8pPr marL="4876724" indent="-325115" algn="ctr" eaLnBrk="0" fontAlgn="base" hangingPunct="0">
              <a:spcBef>
                <a:spcPct val="0"/>
              </a:spcBef>
              <a:spcAft>
                <a:spcPct val="0"/>
              </a:spcAft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8pPr>
            <a:lvl9pPr marL="5526954" indent="-325115" algn="ctr" eaLnBrk="0" fontAlgn="base" hangingPunct="0">
              <a:spcBef>
                <a:spcPct val="0"/>
              </a:spcBef>
              <a:spcAft>
                <a:spcPct val="0"/>
              </a:spcAft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9pPr>
          </a:lstStyle>
          <a:p>
            <a:fld id="{5A6F9B48-551B-4C7A-BDED-2EF7E7A88DB9}" type="slidenum">
              <a:rPr lang="en-US" altLang="en-US" sz="1991">
                <a:solidFill>
                  <a:srgbClr val="FFFFFF"/>
                </a:solidFill>
                <a:latin typeface="Times New Roman" panose="02020603050405020304" pitchFamily="18" charset="0"/>
              </a:rPr>
              <a:pPr/>
              <a:t>4</a:t>
            </a:fld>
            <a:endParaRPr lang="en-US" altLang="en-US" sz="1991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914400" y="2305349"/>
            <a:ext cx="11826240" cy="7135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1pPr>
            <a:lvl2pPr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fr-FR" altLang="en-US" sz="2800" dirty="0">
                <a:latin typeface="Palatino"/>
              </a:rPr>
              <a:t>Il existe différents </a:t>
            </a:r>
            <a:r>
              <a:rPr lang="fr-FR" altLang="en-US" sz="2800">
                <a:latin typeface="Palatino"/>
              </a:rPr>
              <a:t>types d’interpréteurs </a:t>
            </a:r>
            <a:r>
              <a:rPr lang="fr-FR" altLang="en-US" sz="2800" dirty="0">
                <a:latin typeface="Palatino"/>
              </a:rPr>
              <a:t>de commandes « Shell » </a:t>
            </a:r>
            <a:r>
              <a:rPr lang="en-US" altLang="en-US" sz="2800" dirty="0">
                <a:latin typeface="Palatino"/>
              </a:rPr>
              <a:t>:</a:t>
            </a:r>
          </a:p>
          <a:p>
            <a:pPr marL="898525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800" dirty="0" err="1">
                <a:solidFill>
                  <a:srgbClr val="002060"/>
                </a:solidFill>
                <a:latin typeface="Palatino"/>
              </a:rPr>
              <a:t>sh</a:t>
            </a:r>
            <a:r>
              <a:rPr lang="en-US" altLang="en-US" sz="2800" dirty="0">
                <a:solidFill>
                  <a:srgbClr val="002060"/>
                </a:solidFill>
                <a:latin typeface="Palatino"/>
              </a:rPr>
              <a:t>: Bourne Shell </a:t>
            </a:r>
          </a:p>
          <a:p>
            <a:pPr marL="898525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800" dirty="0">
                <a:solidFill>
                  <a:srgbClr val="002060"/>
                </a:solidFill>
                <a:latin typeface="Palatino"/>
              </a:rPr>
              <a:t>bash: Bourne again </a:t>
            </a:r>
            <a:r>
              <a:rPr lang="en-US" altLang="en-US" sz="2800" dirty="0" err="1">
                <a:solidFill>
                  <a:srgbClr val="002060"/>
                </a:solidFill>
                <a:latin typeface="Palatino"/>
              </a:rPr>
              <a:t>ShelL</a:t>
            </a:r>
            <a:endParaRPr lang="en-US" altLang="en-US" sz="2800" dirty="0">
              <a:solidFill>
                <a:srgbClr val="002060"/>
              </a:solidFill>
              <a:latin typeface="Palatino"/>
            </a:endParaRPr>
          </a:p>
          <a:p>
            <a:pPr marL="898525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800" dirty="0" err="1">
                <a:solidFill>
                  <a:srgbClr val="002060"/>
                </a:solidFill>
                <a:latin typeface="Palatino"/>
              </a:rPr>
              <a:t>ksh</a:t>
            </a:r>
            <a:r>
              <a:rPr lang="en-US" altLang="en-US" sz="2800" dirty="0">
                <a:solidFill>
                  <a:srgbClr val="002060"/>
                </a:solidFill>
                <a:latin typeface="Palatino"/>
              </a:rPr>
              <a:t>: </a:t>
            </a:r>
            <a:r>
              <a:rPr lang="en-US" altLang="en-US" sz="2800" dirty="0" err="1">
                <a:solidFill>
                  <a:srgbClr val="002060"/>
                </a:solidFill>
                <a:latin typeface="Palatino"/>
              </a:rPr>
              <a:t>Korn</a:t>
            </a:r>
            <a:r>
              <a:rPr lang="en-US" altLang="en-US" sz="2800" dirty="0">
                <a:solidFill>
                  <a:srgbClr val="002060"/>
                </a:solidFill>
                <a:latin typeface="Palatino"/>
              </a:rPr>
              <a:t> Shell</a:t>
            </a:r>
          </a:p>
          <a:p>
            <a:pPr marL="898525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800" dirty="0" err="1">
                <a:solidFill>
                  <a:srgbClr val="002060"/>
                </a:solidFill>
                <a:latin typeface="Palatino"/>
              </a:rPr>
              <a:t>csh</a:t>
            </a:r>
            <a:r>
              <a:rPr lang="en-US" altLang="en-US" sz="2800" dirty="0">
                <a:solidFill>
                  <a:srgbClr val="002060"/>
                </a:solidFill>
                <a:latin typeface="Palatino"/>
              </a:rPr>
              <a:t>: C Shell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Palatino"/>
              </a:rPr>
              <a:t> </a:t>
            </a:r>
            <a:r>
              <a:rPr lang="fr-FR" altLang="en-US" sz="2800" dirty="0">
                <a:latin typeface="Palatino"/>
              </a:rPr>
              <a:t>Pour lister  tous les </a:t>
            </a:r>
            <a:r>
              <a:rPr lang="fr-FR" altLang="en-US" sz="2800" dirty="0" err="1">
                <a:latin typeface="Palatino"/>
              </a:rPr>
              <a:t>shells</a:t>
            </a:r>
            <a:r>
              <a:rPr lang="fr-FR" altLang="en-US" sz="2800" dirty="0">
                <a:latin typeface="Palatino"/>
              </a:rPr>
              <a:t> disponibles dans votre système:  </a:t>
            </a:r>
            <a:endParaRPr lang="en-US" altLang="en-US" sz="2800" dirty="0">
              <a:latin typeface="Palatino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Palatino"/>
              </a:rPr>
              <a:t>             </a:t>
            </a:r>
            <a:r>
              <a:rPr lang="en-US" altLang="en-US" sz="2800" b="1" dirty="0">
                <a:solidFill>
                  <a:srgbClr val="002060"/>
                </a:solidFill>
                <a:latin typeface="Palatino"/>
              </a:rPr>
              <a:t>$ cat /</a:t>
            </a:r>
            <a:r>
              <a:rPr lang="en-US" altLang="en-US" sz="2800" b="1" dirty="0" err="1">
                <a:solidFill>
                  <a:srgbClr val="002060"/>
                </a:solidFill>
                <a:latin typeface="Palatino"/>
              </a:rPr>
              <a:t>etc</a:t>
            </a:r>
            <a:r>
              <a:rPr lang="en-US" altLang="en-US" sz="2800" b="1" dirty="0">
                <a:solidFill>
                  <a:srgbClr val="002060"/>
                </a:solidFill>
                <a:latin typeface="Palatino"/>
              </a:rPr>
              <a:t>/shells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Palatino"/>
              </a:rPr>
              <a:t>Pour installer un nouveau shell: </a:t>
            </a: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Palatino"/>
              </a:rPr>
              <a:t>           </a:t>
            </a:r>
            <a:r>
              <a:rPr lang="en-US" altLang="en-US" sz="2800" b="1" dirty="0">
                <a:solidFill>
                  <a:srgbClr val="002060"/>
                </a:solidFill>
                <a:latin typeface="Palatino"/>
              </a:rPr>
              <a:t># yum install </a:t>
            </a:r>
            <a:r>
              <a:rPr lang="en-US" altLang="en-US" sz="2800" b="1" dirty="0" err="1">
                <a:solidFill>
                  <a:srgbClr val="002060"/>
                </a:solidFill>
                <a:latin typeface="Palatino"/>
              </a:rPr>
              <a:t>ksh</a:t>
            </a:r>
            <a:endParaRPr lang="en-US" altLang="en-US" sz="2800" b="1" dirty="0">
              <a:solidFill>
                <a:srgbClr val="002060"/>
              </a:solidFill>
              <a:latin typeface="Palatino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800" b="1" dirty="0">
                <a:solidFill>
                  <a:srgbClr val="002060"/>
                </a:solidFill>
                <a:latin typeface="Palatino"/>
              </a:rPr>
              <a:t>           # apt-get install </a:t>
            </a:r>
            <a:r>
              <a:rPr lang="en-US" altLang="en-US" sz="2800" b="1" dirty="0" err="1">
                <a:solidFill>
                  <a:srgbClr val="002060"/>
                </a:solidFill>
                <a:latin typeface="Palatino"/>
              </a:rPr>
              <a:t>ksh</a:t>
            </a:r>
            <a:endParaRPr lang="en-US" altLang="en-US" sz="2800" b="1" dirty="0">
              <a:solidFill>
                <a:srgbClr val="002060"/>
              </a:solidFill>
              <a:latin typeface="Palatino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Palatino"/>
              </a:rPr>
              <a:t> </a:t>
            </a:r>
            <a:r>
              <a:rPr lang="fr-FR" altLang="en-US" sz="2800" dirty="0">
                <a:latin typeface="Palatino"/>
              </a:rPr>
              <a:t>Pour changer le </a:t>
            </a:r>
            <a:r>
              <a:rPr lang="fr-FR" altLang="en-US" sz="2800" dirty="0" err="1">
                <a:latin typeface="Palatino"/>
              </a:rPr>
              <a:t>shell</a:t>
            </a:r>
            <a:r>
              <a:rPr lang="fr-FR" altLang="en-US" sz="2800" dirty="0">
                <a:latin typeface="Palatino"/>
              </a:rPr>
              <a:t>  on exécute commande</a:t>
            </a:r>
            <a:r>
              <a:rPr lang="en-US" altLang="en-US" sz="2800" dirty="0">
                <a:latin typeface="Palatino"/>
              </a:rPr>
              <a:t>:     </a:t>
            </a:r>
            <a:r>
              <a:rPr lang="en-US" altLang="en-US" sz="2800" b="1" dirty="0">
                <a:solidFill>
                  <a:srgbClr val="002060"/>
                </a:solidFill>
                <a:latin typeface="Palatino"/>
              </a:rPr>
              <a:t>$   </a:t>
            </a:r>
            <a:r>
              <a:rPr lang="en-US" altLang="en-US" sz="2800" b="1" dirty="0" err="1">
                <a:solidFill>
                  <a:srgbClr val="002060"/>
                </a:solidFill>
                <a:latin typeface="Palatino"/>
              </a:rPr>
              <a:t>chsh</a:t>
            </a:r>
            <a:r>
              <a:rPr lang="en-US" altLang="en-US" sz="2800" b="1" dirty="0">
                <a:solidFill>
                  <a:srgbClr val="002060"/>
                </a:solidFill>
                <a:latin typeface="Palatin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429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ystème d’exploitation (O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 dirty="0"/>
              <a:t>Script Shell</a:t>
            </a:r>
            <a:endParaRPr dirty="0"/>
          </a:p>
        </p:txBody>
      </p:sp>
      <p:sp>
        <p:nvSpPr>
          <p:cNvPr id="154" name="Un système d'exploitation, ou OS (Operating System), définit un ensemble de programmes chargé d'établir une relation entre les différentes ressources matérielles, les applications et l'utilisateur."/>
          <p:cNvSpPr txBox="1">
            <a:spLocks noGrp="1"/>
          </p:cNvSpPr>
          <p:nvPr>
            <p:ph type="body" idx="1"/>
          </p:nvPr>
        </p:nvSpPr>
        <p:spPr>
          <a:xfrm>
            <a:off x="736600" y="2595629"/>
            <a:ext cx="11531600" cy="6096000"/>
          </a:xfrm>
          <a:prstGeom prst="rect">
            <a:avLst/>
          </a:prstGeom>
        </p:spPr>
        <p:txBody>
          <a:bodyPr anchor="t">
            <a:no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fr-FR" sz="2900" dirty="0"/>
              <a:t>Les  scripts Shell sont utilisés:</a:t>
            </a:r>
          </a:p>
          <a:p>
            <a:pPr algn="just"/>
            <a:r>
              <a:rPr lang="fr-FR" sz="2900" dirty="0"/>
              <a:t>Assembler des commandes simples pour réaliser des actions complexes.</a:t>
            </a:r>
          </a:p>
          <a:p>
            <a:pPr algn="just"/>
            <a:r>
              <a:rPr lang="fr-FR" sz="2900" dirty="0"/>
              <a:t>Regrouper des actions que l'on désire exécuter plus d'une fois.</a:t>
            </a:r>
          </a:p>
          <a:p>
            <a:pPr algn="just"/>
            <a:r>
              <a:rPr lang="fr-FR" sz="2900" dirty="0"/>
              <a:t>Réaliser un outil à mettre à la disposition de plusieurs personnes.</a:t>
            </a:r>
          </a:p>
          <a:p>
            <a:pPr marL="0" indent="0" algn="just">
              <a:buNone/>
            </a:pPr>
            <a:endParaRPr lang="fr-FR" sz="2900" dirty="0"/>
          </a:p>
          <a:p>
            <a:pPr marL="0" indent="0" algn="just">
              <a:buNone/>
            </a:pPr>
            <a:r>
              <a:rPr lang="fr-FR" sz="2900" dirty="0"/>
              <a:t> </a:t>
            </a:r>
            <a:r>
              <a:rPr lang="fr-FR" sz="2900" b="1" dirty="0"/>
              <a:t>Remarque: </a:t>
            </a:r>
            <a:r>
              <a:rPr lang="fr-FR" sz="2900" dirty="0"/>
              <a:t>un script est un programme interprété et non compilé.</a:t>
            </a:r>
          </a:p>
          <a:p>
            <a:pPr marL="0" indent="0" algn="just">
              <a:lnSpc>
                <a:spcPct val="140000"/>
              </a:lnSpc>
              <a:buFont typeface="Zapf Dingbats"/>
              <a:buNone/>
            </a:pPr>
            <a:r>
              <a:rPr lang="fr-FR" sz="2900" dirty="0"/>
              <a:t> 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ystème d’exploitation (O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Script Shell 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154" name="Un système d'exploitation, ou OS (Operating System), définit un ensemble de programmes chargé d'établir une relation entre les différentes ressources matérielles, les applications et l'utilisateur."/>
          <p:cNvSpPr txBox="1">
            <a:spLocks noGrp="1"/>
          </p:cNvSpPr>
          <p:nvPr>
            <p:ph type="body" idx="1"/>
          </p:nvPr>
        </p:nvSpPr>
        <p:spPr>
          <a:xfrm>
            <a:off x="508000" y="2367029"/>
            <a:ext cx="11988800" cy="6096000"/>
          </a:xfrm>
          <a:prstGeom prst="rect">
            <a:avLst/>
          </a:prstGeom>
        </p:spPr>
        <p:txBody>
          <a:bodyPr anchor="t">
            <a:no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2900" dirty="0"/>
              <a:t> </a:t>
            </a:r>
            <a:endParaRPr lang="fr-FR" sz="29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50240" y="2822222"/>
            <a:ext cx="11275060" cy="6931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77500" lnSpcReduction="20000"/>
          </a:bodyPr>
          <a:lstStyle>
            <a:lvl1pPr marL="4699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1pPr>
            <a:lvl2pPr marL="9398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14097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18796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23495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28194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32893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37592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4229100" marR="0" indent="-469900" algn="l" defTabSz="584200" rtl="0" latinLnBrk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36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hangingPunct="1"/>
            <a:r>
              <a:rPr lang="en-US" altLang="fr-FR" dirty="0"/>
              <a:t> </a:t>
            </a:r>
            <a:r>
              <a:rPr lang="fr-FR" altLang="fr-FR" dirty="0"/>
              <a:t>Un script </a:t>
            </a:r>
            <a:r>
              <a:rPr lang="fr-FR" altLang="fr-FR" dirty="0" err="1"/>
              <a:t>shell</a:t>
            </a:r>
            <a:r>
              <a:rPr lang="fr-FR" altLang="fr-FR" dirty="0"/>
              <a:t> est un fichier qui contient:</a:t>
            </a:r>
          </a:p>
          <a:p>
            <a:pPr marL="990600" indent="-365125" hangingPunct="1">
              <a:buFont typeface="Wingdings" panose="05000000000000000000" pitchFamily="2" charset="2"/>
              <a:buChar char="ü"/>
            </a:pPr>
            <a:r>
              <a:rPr lang="fr-FR" altLang="fr-FR" dirty="0"/>
              <a:t>Commandes </a:t>
            </a:r>
            <a:r>
              <a:rPr lang="fr-FR" altLang="fr-FR" dirty="0" err="1"/>
              <a:t>shell</a:t>
            </a:r>
            <a:r>
              <a:rPr lang="fr-FR" altLang="fr-FR" dirty="0"/>
              <a:t>  </a:t>
            </a:r>
          </a:p>
          <a:p>
            <a:pPr marL="990600" indent="-365125" hangingPunct="1">
              <a:buFont typeface="Wingdings" panose="05000000000000000000" pitchFamily="2" charset="2"/>
              <a:buChar char="ü"/>
            </a:pPr>
            <a:r>
              <a:rPr lang="fr-FR" altLang="fr-FR" dirty="0"/>
              <a:t>Variables</a:t>
            </a:r>
          </a:p>
          <a:p>
            <a:pPr marL="990600" indent="-365125" hangingPunct="1">
              <a:buFont typeface="Wingdings" panose="05000000000000000000" pitchFamily="2" charset="2"/>
              <a:buChar char="ü"/>
            </a:pPr>
            <a:r>
              <a:rPr lang="fr-FR" altLang="fr-FR" dirty="0"/>
              <a:t>Structure de contrôle </a:t>
            </a:r>
          </a:p>
          <a:p>
            <a:pPr marL="990600" indent="-365125" hangingPunct="1">
              <a:buFont typeface="Wingdings" panose="05000000000000000000" pitchFamily="2" charset="2"/>
              <a:buChar char="ü"/>
            </a:pPr>
            <a:r>
              <a:rPr lang="fr-FR" altLang="fr-FR" dirty="0"/>
              <a:t>Fonctions </a:t>
            </a:r>
            <a:endParaRPr lang="en-US" altLang="fr-FR" dirty="0"/>
          </a:p>
          <a:p>
            <a:pPr hangingPunct="1"/>
            <a:r>
              <a:rPr lang="en-US" altLang="fr-FR" dirty="0" err="1"/>
              <a:t>Ajout</a:t>
            </a:r>
            <a:r>
              <a:rPr lang="en-US" altLang="fr-FR" dirty="0"/>
              <a:t> </a:t>
            </a:r>
            <a:r>
              <a:rPr lang="en-US" altLang="fr-FR" dirty="0" err="1"/>
              <a:t>d’une</a:t>
            </a:r>
            <a:r>
              <a:rPr lang="en-US" altLang="fr-FR" dirty="0"/>
              <a:t> </a:t>
            </a:r>
            <a:r>
              <a:rPr lang="en-US" altLang="fr-FR" dirty="0" err="1"/>
              <a:t>ligne</a:t>
            </a:r>
            <a:r>
              <a:rPr lang="en-US" altLang="fr-FR" dirty="0"/>
              <a:t>  “ shebang” :</a:t>
            </a:r>
          </a:p>
          <a:p>
            <a:pPr hangingPunct="1">
              <a:buFont typeface="Wingdings" panose="05000000000000000000" pitchFamily="2" charset="2"/>
              <a:buNone/>
            </a:pPr>
            <a:r>
              <a:rPr lang="en-US" altLang="fr-FR" dirty="0">
                <a:solidFill>
                  <a:srgbClr val="002060"/>
                </a:solidFill>
              </a:rPr>
              <a:t>	     </a:t>
            </a:r>
            <a:r>
              <a:rPr lang="en-US" alt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#!/bin/bash</a:t>
            </a:r>
          </a:p>
          <a:p>
            <a:pPr hangingPunct="1">
              <a:buFont typeface="Wingdings" panose="05000000000000000000" pitchFamily="2" charset="2"/>
              <a:buNone/>
            </a:pPr>
            <a:r>
              <a:rPr lang="en-US" alt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#!/bin/sh</a:t>
            </a:r>
            <a:endParaRPr lang="en-US" altLang="fr-FR" dirty="0">
              <a:solidFill>
                <a:srgbClr val="002060"/>
              </a:solidFill>
            </a:endParaRPr>
          </a:p>
          <a:p>
            <a:pPr hangingPunct="1">
              <a:buFont typeface="Wingdings" panose="05000000000000000000" pitchFamily="2" charset="2"/>
              <a:buNone/>
            </a:pPr>
            <a:r>
              <a:rPr lang="fr-FR" altLang="fr-FR" dirty="0"/>
              <a:t>la ligne « shebang » indique au système d'exploitation que ce  fichier </a:t>
            </a:r>
          </a:p>
          <a:p>
            <a:pPr hangingPunct="1">
              <a:buFont typeface="Wingdings" panose="05000000000000000000" pitchFamily="2" charset="2"/>
              <a:buNone/>
            </a:pPr>
            <a:r>
              <a:rPr lang="fr-FR" altLang="fr-FR" dirty="0"/>
              <a:t> est  un script  et spécifie l'interpréteur utilisé pour exécuter ce  script.</a:t>
            </a:r>
            <a:endParaRPr lang="en-US" altLang="fr-FR" dirty="0"/>
          </a:p>
        </p:txBody>
      </p:sp>
    </p:spTree>
    <p:extLst>
      <p:ext uri="{BB962C8B-B14F-4D97-AF65-F5344CB8AC3E}">
        <p14:creationId xmlns:p14="http://schemas.microsoft.com/office/powerpoint/2010/main" val="29808791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23900"/>
            <a:ext cx="11988800" cy="1219200"/>
          </a:xfrm>
        </p:spPr>
        <p:txBody>
          <a:bodyPr/>
          <a:lstStyle/>
          <a:p>
            <a:pPr hangingPunct="1"/>
            <a:r>
              <a:rPr lang="en-US" altLang="en-US" dirty="0"/>
              <a:t>Script Shell 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960707" y="13167360"/>
            <a:ext cx="556242" cy="408958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>
            <a:lvl1pPr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1pPr>
            <a:lvl2pPr marL="1056623" indent="-406394"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2pPr>
            <a:lvl3pPr marL="1625575" indent="-325115"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3pPr>
            <a:lvl4pPr marL="2275804" indent="-325115"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4pPr>
            <a:lvl5pPr marL="2926034" indent="-325115"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5pPr>
            <a:lvl6pPr marL="3576264" indent="-325115" algn="ctr" eaLnBrk="0" fontAlgn="base" hangingPunct="0">
              <a:spcBef>
                <a:spcPct val="0"/>
              </a:spcBef>
              <a:spcAft>
                <a:spcPct val="0"/>
              </a:spcAft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6pPr>
            <a:lvl7pPr marL="4226494" indent="-325115" algn="ctr" eaLnBrk="0" fontAlgn="base" hangingPunct="0">
              <a:spcBef>
                <a:spcPct val="0"/>
              </a:spcBef>
              <a:spcAft>
                <a:spcPct val="0"/>
              </a:spcAft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7pPr>
            <a:lvl8pPr marL="4876724" indent="-325115" algn="ctr" eaLnBrk="0" fontAlgn="base" hangingPunct="0">
              <a:spcBef>
                <a:spcPct val="0"/>
              </a:spcBef>
              <a:spcAft>
                <a:spcPct val="0"/>
              </a:spcAft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8pPr>
            <a:lvl9pPr marL="5526954" indent="-325115" algn="ctr" eaLnBrk="0" fontAlgn="base" hangingPunct="0">
              <a:spcBef>
                <a:spcPct val="0"/>
              </a:spcBef>
              <a:spcAft>
                <a:spcPct val="0"/>
              </a:spcAft>
              <a:defRPr sz="2844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9pPr>
          </a:lstStyle>
          <a:p>
            <a:fld id="{CC30FADB-D6C5-4052-A72A-368B0F79F7FF}" type="slidenum">
              <a:rPr lang="en-US" altLang="en-US" sz="1991">
                <a:solidFill>
                  <a:srgbClr val="FFFFFF"/>
                </a:solidFill>
                <a:latin typeface="Times New Roman" panose="02020603050405020304" pitchFamily="18" charset="0"/>
              </a:rPr>
              <a:pPr/>
              <a:t>7</a:t>
            </a:fld>
            <a:endParaRPr lang="en-US" altLang="en-US" sz="1991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Rectangle 2"/>
          <p:cNvSpPr>
            <a:spLocks noChangeArrowheads="1"/>
          </p:cNvSpPr>
          <p:nvPr/>
        </p:nvSpPr>
        <p:spPr bwMode="auto">
          <a:xfrm>
            <a:off x="6026009" y="2520646"/>
            <a:ext cx="6685279" cy="6004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9pPr>
          </a:lstStyle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Palatino"/>
              </a:rPr>
              <a:t>Pour </a:t>
            </a:r>
            <a:r>
              <a:rPr lang="en-US" altLang="en-US" sz="2800" dirty="0" err="1">
                <a:latin typeface="Palatino"/>
              </a:rPr>
              <a:t>déboguer</a:t>
            </a:r>
            <a:r>
              <a:rPr lang="en-US" altLang="en-US" sz="2800" dirty="0">
                <a:latin typeface="Palatino"/>
              </a:rPr>
              <a:t> un script :</a:t>
            </a:r>
          </a:p>
          <a:p>
            <a:pPr algn="just">
              <a:lnSpc>
                <a:spcPct val="200000"/>
              </a:lnSpc>
            </a:pPr>
            <a:r>
              <a:rPr lang="en-US" altLang="en-US" sz="2800" dirty="0">
                <a:latin typeface="Palatino"/>
              </a:rPr>
              <a:t>   </a:t>
            </a:r>
            <a:r>
              <a:rPr lang="en-US" altLang="en-US" sz="2800" b="1" dirty="0">
                <a:solidFill>
                  <a:srgbClr val="002060"/>
                </a:solidFill>
                <a:latin typeface="Palatino"/>
              </a:rPr>
              <a:t>    $ bash –x test.sh  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altLang="en-US" sz="2800" dirty="0">
                <a:latin typeface="Palatino"/>
              </a:rPr>
              <a:t>Pour exécuter un script depuis n’importe quel répertoire sans (./) devant, il faut le placer dans l’un des répertoires du PATH</a:t>
            </a:r>
          </a:p>
          <a:p>
            <a:pPr algn="just">
              <a:lnSpc>
                <a:spcPct val="200000"/>
              </a:lnSpc>
            </a:pPr>
            <a:r>
              <a:rPr lang="en-US" altLang="en-US" sz="2800" b="1" dirty="0">
                <a:solidFill>
                  <a:srgbClr val="002060"/>
                </a:solidFill>
                <a:latin typeface="Palatino"/>
              </a:rPr>
              <a:t>    # echo $ PATH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57200" y="2588000"/>
            <a:ext cx="5690729" cy="5909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 Unicode MS" panose="020B0604020202020204" pitchFamily="34" charset="-128"/>
                <a:ea typeface="굴림" pitchFamily="34" charset="-127"/>
              </a:defRPr>
            </a:lvl9pPr>
          </a:lstStyle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err="1">
                <a:latin typeface="Palatino"/>
              </a:rPr>
              <a:t>Ajouter</a:t>
            </a:r>
            <a:r>
              <a:rPr lang="en-US" altLang="en-US" sz="2800" dirty="0">
                <a:latin typeface="Palatino"/>
              </a:rPr>
              <a:t> le droit </a:t>
            </a:r>
            <a:r>
              <a:rPr lang="en-US" altLang="en-US" sz="2800" dirty="0" err="1">
                <a:latin typeface="Palatino"/>
              </a:rPr>
              <a:t>d’exécution</a:t>
            </a:r>
            <a:r>
              <a:rPr lang="en-US" altLang="en-US" sz="2800" dirty="0">
                <a:latin typeface="Palatino"/>
              </a:rPr>
              <a:t> :</a:t>
            </a:r>
          </a:p>
          <a:p>
            <a:pPr algn="just">
              <a:lnSpc>
                <a:spcPct val="200000"/>
              </a:lnSpc>
            </a:pPr>
            <a:r>
              <a:rPr lang="en-US" altLang="en-US" sz="2800" b="1" dirty="0">
                <a:solidFill>
                  <a:srgbClr val="FF0000"/>
                </a:solidFill>
                <a:latin typeface="Palatino"/>
              </a:rPr>
              <a:t>     $ </a:t>
            </a:r>
            <a:r>
              <a:rPr lang="en-US" altLang="en-US" sz="2800" b="1" dirty="0" err="1">
                <a:solidFill>
                  <a:srgbClr val="FF0000"/>
                </a:solidFill>
                <a:latin typeface="Palatino"/>
              </a:rPr>
              <a:t>chmod</a:t>
            </a:r>
            <a:r>
              <a:rPr lang="en-US" altLang="en-US" sz="2800" b="1" dirty="0">
                <a:solidFill>
                  <a:srgbClr val="FF0000"/>
                </a:solidFill>
                <a:latin typeface="Palatino"/>
              </a:rPr>
              <a:t> +x your-script-name   </a:t>
            </a:r>
            <a:endParaRPr lang="en-US" altLang="en-US" sz="2800" b="1" dirty="0">
              <a:latin typeface="Palatino"/>
            </a:endParaRP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altLang="en-US" sz="2800" dirty="0">
                <a:latin typeface="Palatino"/>
              </a:rPr>
              <a:t>Exécuter </a:t>
            </a:r>
            <a:r>
              <a:rPr lang="en-US" altLang="en-US" sz="2800" dirty="0">
                <a:latin typeface="Palatino"/>
              </a:rPr>
              <a:t>un script :</a:t>
            </a:r>
          </a:p>
          <a:p>
            <a:pPr algn="just">
              <a:lnSpc>
                <a:spcPct val="200000"/>
              </a:lnSpc>
            </a:pPr>
            <a:r>
              <a:rPr lang="en-US" altLang="en-US" sz="2800" b="1" dirty="0">
                <a:solidFill>
                  <a:srgbClr val="002060"/>
                </a:solidFill>
                <a:latin typeface="Palatino"/>
              </a:rPr>
              <a:t>       $ bash your-script-name </a:t>
            </a:r>
          </a:p>
          <a:p>
            <a:pPr algn="just">
              <a:lnSpc>
                <a:spcPct val="200000"/>
              </a:lnSpc>
            </a:pPr>
            <a:r>
              <a:rPr lang="en-US" altLang="en-US" sz="2800" b="1" dirty="0">
                <a:solidFill>
                  <a:srgbClr val="002060"/>
                </a:solidFill>
                <a:latin typeface="Palatino"/>
              </a:rPr>
              <a:t>       $ </a:t>
            </a:r>
            <a:r>
              <a:rPr lang="en-US" altLang="en-US" sz="2800" b="1" dirty="0" err="1">
                <a:solidFill>
                  <a:srgbClr val="002060"/>
                </a:solidFill>
                <a:latin typeface="Palatino"/>
              </a:rPr>
              <a:t>sh</a:t>
            </a:r>
            <a:r>
              <a:rPr lang="en-US" altLang="en-US" sz="2800" b="1" dirty="0">
                <a:solidFill>
                  <a:srgbClr val="002060"/>
                </a:solidFill>
                <a:latin typeface="Palatino"/>
              </a:rPr>
              <a:t> your-script-name</a:t>
            </a:r>
          </a:p>
          <a:p>
            <a:pPr algn="just">
              <a:lnSpc>
                <a:spcPct val="200000"/>
              </a:lnSpc>
            </a:pPr>
            <a:r>
              <a:rPr lang="en-US" altLang="en-US" sz="2800" b="1" dirty="0">
                <a:solidFill>
                  <a:srgbClr val="002060"/>
                </a:solidFill>
                <a:latin typeface="Palatino"/>
              </a:rPr>
              <a:t>       $ ./your-script-name</a:t>
            </a:r>
          </a:p>
          <a:p>
            <a:pPr algn="just">
              <a:lnSpc>
                <a:spcPct val="150000"/>
              </a:lnSpc>
            </a:pPr>
            <a:endParaRPr lang="en-US" altLang="en-US" sz="2800" dirty="0">
              <a:solidFill>
                <a:srgbClr val="FF0000"/>
              </a:solidFill>
              <a:latin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95068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Unix Vs Linux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fr-FR" dirty="0"/>
              <a:t>Déclaration des variables</a:t>
            </a:r>
            <a:endParaRPr lang="fr-FR" cap="all" dirty="0"/>
          </a:p>
        </p:txBody>
      </p:sp>
      <p:sp>
        <p:nvSpPr>
          <p:cNvPr id="207" name="Richard Stallman, un chercheur en intelligence artificielle au MIT a lancé un projet GNU, l’idée est de créer un OS  open source, copie de UNIX.…"/>
          <p:cNvSpPr txBox="1">
            <a:spLocks noGrp="1"/>
          </p:cNvSpPr>
          <p:nvPr>
            <p:ph type="body" idx="1"/>
          </p:nvPr>
        </p:nvSpPr>
        <p:spPr>
          <a:xfrm>
            <a:off x="508000" y="2454171"/>
            <a:ext cx="11988800" cy="7194607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FR" sz="2900" dirty="0"/>
              <a:t>Création d’un nouveau script </a:t>
            </a:r>
            <a:r>
              <a:rPr lang="fr-FR" sz="2900" b="1" dirty="0"/>
              <a:t>variables.sh </a:t>
            </a:r>
            <a:r>
              <a:rPr lang="fr-FR" sz="2900" dirty="0"/>
              <a:t>: </a:t>
            </a:r>
          </a:p>
          <a:p>
            <a:pPr marL="0" indent="0">
              <a:buNone/>
            </a:pPr>
            <a:endParaRPr lang="fr-FR" sz="2900" dirty="0"/>
          </a:p>
          <a:p>
            <a:pPr>
              <a:buFont typeface="Wingdings" panose="05000000000000000000" pitchFamily="2" charset="2"/>
              <a:buChar char="v"/>
            </a:pPr>
            <a:r>
              <a:rPr lang="fr-FR" sz="2900" dirty="0"/>
              <a:t> Indiquer le  </a:t>
            </a:r>
            <a:r>
              <a:rPr lang="fr-FR" sz="2900" dirty="0" err="1"/>
              <a:t>shell</a:t>
            </a:r>
            <a:r>
              <a:rPr lang="fr-FR" sz="2900" dirty="0"/>
              <a:t> utilisé pour interpréter le script .</a:t>
            </a:r>
          </a:p>
          <a:p>
            <a:pPr marL="0" indent="0">
              <a:buNone/>
            </a:pPr>
            <a:endParaRPr lang="fr-FR" sz="2900" dirty="0"/>
          </a:p>
          <a:p>
            <a:pPr>
              <a:buFont typeface="Wingdings" panose="05000000000000000000" pitchFamily="2" charset="2"/>
              <a:buChar char="v"/>
            </a:pPr>
            <a:r>
              <a:rPr lang="fr-FR" sz="2900" dirty="0"/>
              <a:t>Définition  des variables.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900" dirty="0"/>
              <a:t> Créez une nouvelle variable en utilisant la syntaxe suivante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900" b="1" dirty="0"/>
              <a:t>Syntaxe : </a:t>
            </a:r>
            <a:r>
              <a:rPr lang="fr-FR" sz="2900" b="1" dirty="0" err="1">
                <a:solidFill>
                  <a:srgbClr val="002060"/>
                </a:solidFill>
              </a:rPr>
              <a:t>variable_nom</a:t>
            </a:r>
            <a:r>
              <a:rPr lang="fr-FR" sz="2900" b="1" dirty="0">
                <a:solidFill>
                  <a:srgbClr val="002060"/>
                </a:solidFill>
              </a:rPr>
              <a:t>= </a:t>
            </a:r>
            <a:r>
              <a:rPr lang="fr-FR" sz="2900" b="1" dirty="0" err="1">
                <a:solidFill>
                  <a:srgbClr val="002060"/>
                </a:solidFill>
              </a:rPr>
              <a:t>variable_valeur</a:t>
            </a:r>
            <a:r>
              <a:rPr lang="fr-FR" sz="2900" b="1" dirty="0">
                <a:solidFill>
                  <a:srgbClr val="002060"/>
                </a:solidFill>
              </a:rPr>
              <a:t> </a:t>
            </a:r>
          </a:p>
          <a:p>
            <a:pPr marL="0" indent="0">
              <a:buNone/>
            </a:pPr>
            <a:endParaRPr lang="fr-FR" sz="2900" dirty="0"/>
          </a:p>
          <a:p>
            <a:pPr>
              <a:buFont typeface="Wingdings" panose="05000000000000000000" pitchFamily="2" charset="2"/>
              <a:buChar char="v"/>
            </a:pPr>
            <a:r>
              <a:rPr lang="fr-FR" sz="2900" dirty="0"/>
              <a:t>Exécution du script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sz="21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sz="21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51141" y="3235975"/>
            <a:ext cx="3445814" cy="307777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 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vim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variables.sh</a:t>
            </a:r>
            <a:endParaRPr lang="fr-FR" sz="3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851141" y="4721395"/>
            <a:ext cx="3445814" cy="307777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#!/bin/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bash</a:t>
            </a:r>
            <a:endParaRPr lang="fr-FR" sz="3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3717791" y="7770298"/>
            <a:ext cx="4610279" cy="615553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#!/bin/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bash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message='Bonjour  ESPRIT '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3851141" y="9101829"/>
            <a:ext cx="3445814" cy="307777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 ./variables.sh</a:t>
            </a:r>
          </a:p>
        </p:txBody>
      </p:sp>
    </p:spTree>
    <p:extLst>
      <p:ext uri="{BB962C8B-B14F-4D97-AF65-F5344CB8AC3E}">
        <p14:creationId xmlns:p14="http://schemas.microsoft.com/office/powerpoint/2010/main" val="178712448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r>
              <a:rPr lang="fr-FR" dirty="0" err="1"/>
              <a:t>echo</a:t>
            </a:r>
            <a:r>
              <a:rPr lang="fr-FR" dirty="0"/>
              <a:t> : affichage des variables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6881" y="2201005"/>
            <a:ext cx="12240477" cy="57323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900" dirty="0"/>
              <a:t>La commande </a:t>
            </a:r>
            <a:r>
              <a:rPr lang="fr-FR" sz="2900" b="1" dirty="0" err="1"/>
              <a:t>echo</a:t>
            </a:r>
            <a:r>
              <a:rPr lang="fr-FR" sz="2900" dirty="0"/>
              <a:t> permet d'afficher une ligne.</a:t>
            </a:r>
          </a:p>
          <a:p>
            <a:endParaRPr lang="fr-FR" sz="2900" dirty="0"/>
          </a:p>
          <a:p>
            <a:endParaRPr lang="fr-FR" sz="29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900" dirty="0"/>
              <a:t>Lors de </a:t>
            </a:r>
            <a:r>
              <a:rPr lang="fr-FR" sz="2900" b="1" dirty="0"/>
              <a:t>l’insertion des retours à la ligne</a:t>
            </a:r>
            <a:r>
              <a:rPr lang="fr-FR" sz="2900" dirty="0"/>
              <a:t>, il faut activer le paramètre </a:t>
            </a:r>
            <a:r>
              <a:rPr lang="fr-FR" sz="2900" b="1" dirty="0"/>
              <a:t>-e </a:t>
            </a:r>
            <a:r>
              <a:rPr lang="fr-FR" sz="2900" dirty="0"/>
              <a:t>et utiliser le symbole </a:t>
            </a:r>
            <a:r>
              <a:rPr lang="fr-FR" sz="2900" b="1" dirty="0"/>
              <a:t>\n </a:t>
            </a:r>
            <a:r>
              <a:rPr lang="fr-FR" sz="2900" dirty="0"/>
              <a:t>:</a:t>
            </a:r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>
              <a:lnSpc>
                <a:spcPct val="150000"/>
              </a:lnSpc>
            </a:pPr>
            <a:r>
              <a:rPr lang="fr-FR" sz="2900" dirty="0"/>
              <a:t>Afficher une variable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-138499"/>
            <a:ext cx="54550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6979" tIns="0" rIns="26979" bIns="0" numCol="1" anchor="ctr" anchorCtr="0" compatLnSpc="1">
            <a:prstTxWarp prst="textNoShape">
              <a:avLst/>
            </a:prstTxWarp>
            <a:spAutoFit/>
          </a:bodyPr>
          <a:lstStyle>
            <a:lvl1pPr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545801" y="3346528"/>
            <a:ext cx="4687552" cy="615553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 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echo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Salut ESPRIT Salut ESPRIT</a:t>
            </a:r>
            <a:endParaRPr lang="fr-FR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545801" y="5959316"/>
            <a:ext cx="5791382" cy="923330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$ 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echo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 -e "Message\n Autre ligne" Message</a:t>
            </a:r>
          </a:p>
          <a:p>
            <a:pPr algn="l"/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Autre ligne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3545801" y="8215912"/>
            <a:ext cx="5655615" cy="93871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#!/bin/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bash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 message='Bonjour 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ESPRIT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‘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echo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 $message </a:t>
            </a:r>
          </a:p>
        </p:txBody>
      </p:sp>
    </p:spTree>
    <p:extLst>
      <p:ext uri="{BB962C8B-B14F-4D97-AF65-F5344CB8AC3E}">
        <p14:creationId xmlns:p14="http://schemas.microsoft.com/office/powerpoint/2010/main" val="170942727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r>
              <a:rPr lang="fr-FR" dirty="0" err="1"/>
              <a:t>echo</a:t>
            </a:r>
            <a:r>
              <a:rPr lang="fr-FR" dirty="0"/>
              <a:t> : affichage des variables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8894" y="3057878"/>
            <a:ext cx="11787012" cy="58169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fr-FR" sz="2900" dirty="0"/>
              <a:t>Affichage du texte et  variable.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sz="2900" dirty="0"/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sz="2900" dirty="0"/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sz="2900" dirty="0"/>
              <a:t> Pourquoi la variable message n'est-il pas analysé ?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fr-FR" sz="2900" dirty="0"/>
              <a:t>Il existe trois types de </a:t>
            </a:r>
            <a:r>
              <a:rPr lang="fr-FR" sz="2900" dirty="0" err="1"/>
              <a:t>quotes</a:t>
            </a:r>
            <a:r>
              <a:rPr lang="fr-FR" sz="2900" dirty="0"/>
              <a:t> :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fr-FR" sz="2900" dirty="0"/>
              <a:t>Les apostrophes ' ' (simples </a:t>
            </a:r>
            <a:r>
              <a:rPr lang="fr-FR" sz="2900" dirty="0" err="1"/>
              <a:t>quotes</a:t>
            </a:r>
            <a:r>
              <a:rPr lang="fr-FR" sz="2900" dirty="0"/>
              <a:t>) 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fr-FR" sz="2900" dirty="0"/>
              <a:t>Les guillemets " " (doubles </a:t>
            </a:r>
            <a:r>
              <a:rPr lang="fr-FR" sz="2900" dirty="0" err="1"/>
              <a:t>quotes</a:t>
            </a:r>
            <a:r>
              <a:rPr lang="fr-FR" sz="2900" dirty="0"/>
              <a:t>) </a:t>
            </a:r>
          </a:p>
          <a:p>
            <a:pPr lvl="2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fr-FR" sz="2900" dirty="0"/>
              <a:t>Les accents graves ` ` (back </a:t>
            </a:r>
            <a:r>
              <a:rPr lang="fr-FR" sz="2900" dirty="0" err="1"/>
              <a:t>quotes</a:t>
            </a:r>
            <a:r>
              <a:rPr lang="fr-FR" sz="2900" dirty="0"/>
              <a:t>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22959" y="4006606"/>
            <a:ext cx="5878405" cy="923330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#!/bin/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bash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message='Bonjour Esprit' 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echo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 'Le message est : $message'</a:t>
            </a:r>
            <a:endParaRPr lang="fr-FR" sz="3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331010" y="4076584"/>
            <a:ext cx="4958549" cy="307777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 message est : $message</a:t>
            </a:r>
            <a:endParaRPr lang="fr-FR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2" descr="Vrais Et Faux Symboles Acceptent Rejetés Pour Vecteur D'évaluation Style  Simple Et Moderne, Réponse, Approuvé, Contexte PNG et vecteur pour  téléchargement gratu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429" y="3732991"/>
            <a:ext cx="734622" cy="734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88021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7200" dirty="0"/>
              <a:t>Les « </a:t>
            </a:r>
            <a:r>
              <a:rPr lang="fr-FR" sz="7200" dirty="0" err="1"/>
              <a:t>quotes</a:t>
            </a:r>
            <a:r>
              <a:rPr lang="fr-FR" sz="7200" dirty="0"/>
              <a:t> »</a:t>
            </a:r>
            <a:endParaRPr lang="fr-F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0" y="2215459"/>
            <a:ext cx="12190168" cy="6096000"/>
          </a:xfrm>
        </p:spPr>
        <p:txBody>
          <a:bodyPr>
            <a:noAutofit/>
          </a:bodyPr>
          <a:lstStyle/>
          <a:p>
            <a:pPr marL="939800" lvl="2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600" dirty="0"/>
              <a:t>Avec de simples </a:t>
            </a:r>
            <a:r>
              <a:rPr lang="fr-FR" sz="2600" dirty="0" err="1"/>
              <a:t>quotes</a:t>
            </a:r>
            <a:r>
              <a:rPr lang="fr-FR" sz="2600" dirty="0"/>
              <a:t>, la variable n'est pas analysée   :</a:t>
            </a:r>
          </a:p>
          <a:p>
            <a:pPr marL="939800" lvl="2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6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2600" dirty="0"/>
              <a:t>Les doubles </a:t>
            </a:r>
            <a:r>
              <a:rPr lang="fr-FR" sz="2600" dirty="0" err="1"/>
              <a:t>quotes</a:t>
            </a:r>
            <a:r>
              <a:rPr lang="fr-FR" sz="2600" dirty="0"/>
              <a:t> demandent à </a:t>
            </a:r>
            <a:r>
              <a:rPr lang="fr-FR" sz="2600" dirty="0" err="1"/>
              <a:t>bash</a:t>
            </a:r>
            <a:r>
              <a:rPr lang="fr-FR" sz="2600" dirty="0"/>
              <a:t> d'analyser le contenu du message s'il trouve des symboles spéciaux (comme des variables), il les interprète.</a:t>
            </a:r>
          </a:p>
          <a:p>
            <a:endParaRPr lang="fr-FR" sz="2600" dirty="0"/>
          </a:p>
          <a:p>
            <a:pPr lvl="1">
              <a:buFont typeface="Wingdings" panose="05000000000000000000" pitchFamily="2" charset="2"/>
              <a:buChar char="Ø"/>
            </a:pPr>
            <a:endParaRPr lang="fr-FR" sz="26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fr-FR" sz="2600" dirty="0"/>
              <a:t>Les back </a:t>
            </a:r>
            <a:r>
              <a:rPr lang="fr-FR" sz="2600" dirty="0" err="1"/>
              <a:t>quotes</a:t>
            </a:r>
            <a:r>
              <a:rPr lang="fr-FR" sz="2600" dirty="0"/>
              <a:t> demandent à </a:t>
            </a:r>
            <a:r>
              <a:rPr lang="fr-FR" sz="2600" dirty="0" err="1"/>
              <a:t>bash</a:t>
            </a:r>
            <a:r>
              <a:rPr lang="fr-FR" sz="2600" dirty="0"/>
              <a:t> d'exécuter ce qui se trouve à l'intérieur.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90100"/>
            <a:ext cx="54550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6979" tIns="0" rIns="26979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03960" y="3677967"/>
            <a:ext cx="5546586" cy="923330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#!/bin/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bash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message='Bonjour Esprit' 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echo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 'Le message est : $message'</a:t>
            </a:r>
            <a:endParaRPr lang="fr-FR" sz="3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259663" y="4004259"/>
            <a:ext cx="5655615" cy="307777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 message est : $message</a:t>
            </a:r>
            <a:endParaRPr lang="fr-FR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56087" y="5989220"/>
            <a:ext cx="6203508" cy="923330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#!/bin/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bash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message='Bonjour Esprit' </a:t>
            </a:r>
          </a:p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echo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  </a:t>
            </a:r>
            <a:r>
              <a:rPr lang="fr-FR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" 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Le message est : $message "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062028" y="6296995"/>
            <a:ext cx="5842000" cy="307777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 message est :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 Bonjour Esprit 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fr-FR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24567" y="8305068"/>
            <a:ext cx="6203508" cy="923330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/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#!/bin/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bash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</a:p>
          <a:p>
            <a:pPr algn="l"/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message=`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pwd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` 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echo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 "Vous êtes dans $message"</a:t>
            </a:r>
            <a:endParaRPr lang="fr-FR" sz="2000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6750546" y="8612843"/>
            <a:ext cx="4805299" cy="307777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Vous êtes dans /home/Esprit</a:t>
            </a:r>
          </a:p>
        </p:txBody>
      </p:sp>
    </p:spTree>
    <p:extLst>
      <p:ext uri="{BB962C8B-B14F-4D97-AF65-F5344CB8AC3E}">
        <p14:creationId xmlns:p14="http://schemas.microsoft.com/office/powerpoint/2010/main" val="420133487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fr-FR" sz="7200" dirty="0" err="1"/>
              <a:t>read</a:t>
            </a:r>
            <a:r>
              <a:rPr lang="fr-FR" sz="7200" dirty="0"/>
              <a:t> : saisie des variables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7998" y="2381517"/>
            <a:ext cx="11881478" cy="6363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6979" tIns="0" rIns="26979" bIns="0" numCol="1" anchor="ctr" anchorCtr="0" compatLnSpc="1">
            <a:prstTxWarp prst="textNoShape">
              <a:avLst/>
            </a:prstTxWarp>
            <a:spAutoFit/>
          </a:bodyPr>
          <a:lstStyle>
            <a:lvl1pPr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fr-FR" sz="2900" dirty="0">
                <a:solidFill>
                  <a:srgbClr val="414141"/>
                </a:solidFill>
                <a:latin typeface="Palatino"/>
              </a:rPr>
              <a:t>La commande </a:t>
            </a:r>
            <a:r>
              <a:rPr lang="fr-FR" sz="2900" b="1" dirty="0" err="1">
                <a:solidFill>
                  <a:srgbClr val="414141"/>
                </a:solidFill>
                <a:latin typeface="Palatino"/>
              </a:rPr>
              <a:t>read</a:t>
            </a:r>
            <a:r>
              <a:rPr lang="fr-FR" sz="2900" dirty="0">
                <a:solidFill>
                  <a:srgbClr val="414141"/>
                </a:solidFill>
                <a:latin typeface="Palatino"/>
              </a:rPr>
              <a:t> lit son entrée standard et affecte les valeurs saisies dans la ou les variables passées en argument.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900" dirty="0">
              <a:solidFill>
                <a:srgbClr val="414141"/>
              </a:solidFill>
              <a:latin typeface="Palatin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900" dirty="0">
              <a:solidFill>
                <a:srgbClr val="414141"/>
              </a:solidFill>
              <a:latin typeface="Palatino"/>
            </a:endParaRPr>
          </a:p>
          <a:p>
            <a:pPr>
              <a:lnSpc>
                <a:spcPct val="150000"/>
              </a:lnSpc>
            </a:pPr>
            <a:r>
              <a:rPr lang="fr-FR" sz="2900" dirty="0">
                <a:solidFill>
                  <a:srgbClr val="414141"/>
                </a:solidFill>
                <a:latin typeface="Palatino"/>
              </a:rPr>
              <a:t>Affecter simultanément une valeur à plusieurs variables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900" dirty="0">
              <a:solidFill>
                <a:srgbClr val="414141"/>
              </a:solidFill>
              <a:latin typeface="Palatino"/>
            </a:endParaRPr>
          </a:p>
          <a:p>
            <a:pPr marL="0" indent="0">
              <a:lnSpc>
                <a:spcPct val="150000"/>
              </a:lnSpc>
              <a:buNone/>
            </a:pPr>
            <a:endParaRPr lang="fr-FR" sz="2900" dirty="0">
              <a:solidFill>
                <a:srgbClr val="414141"/>
              </a:solidFill>
              <a:latin typeface="Palatino"/>
            </a:endParaRPr>
          </a:p>
          <a:p>
            <a:pPr>
              <a:lnSpc>
                <a:spcPct val="150000"/>
              </a:lnSpc>
            </a:pPr>
            <a:r>
              <a:rPr lang="fr-FR" sz="2900" dirty="0">
                <a:solidFill>
                  <a:srgbClr val="414141"/>
                </a:solidFill>
                <a:latin typeface="Palatino"/>
              </a:rPr>
              <a:t>Afficher un message de prompt</a:t>
            </a:r>
          </a:p>
          <a:p>
            <a:pPr>
              <a:lnSpc>
                <a:spcPct val="150000"/>
              </a:lnSpc>
            </a:pPr>
            <a:endParaRPr lang="fr-FR" sz="2100" dirty="0">
              <a:solidFill>
                <a:srgbClr val="333333"/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fr-FR" sz="2100" dirty="0">
              <a:solidFill>
                <a:srgbClr val="333333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sz="2100" dirty="0">
              <a:solidFill>
                <a:srgbClr val="333333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817870" y="3484264"/>
            <a:ext cx="3999606" cy="923330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914400"/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#!/bin/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bash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</a:p>
          <a:p>
            <a:pPr algn="l" defTabSz="914400"/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read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 nom 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echo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 "Bonjour $nom "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17870" y="5463309"/>
            <a:ext cx="4823854" cy="923330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914400"/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#!/bin/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bash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</a:p>
          <a:p>
            <a:pPr algn="l" defTabSz="914400"/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read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 nom 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prenom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echo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 "Bonjour $nom $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prenom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"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817870" y="7574970"/>
            <a:ext cx="5970074" cy="923330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914400"/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#!/bin/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bash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</a:p>
          <a:p>
            <a:pPr algn="l" defTabSz="914400"/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read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 -p 'Entrez votre nom : ' nom </a:t>
            </a:r>
            <a:r>
              <a:rPr lang="fr-FR" sz="2000" dirty="0" err="1">
                <a:solidFill>
                  <a:schemeClr val="bg1"/>
                </a:solidFill>
                <a:latin typeface="Courier New" panose="02070309020205020404" pitchFamily="49" charset="0"/>
              </a:rPr>
              <a:t>echo</a:t>
            </a: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 "Bonjour $nom "</a:t>
            </a:r>
          </a:p>
        </p:txBody>
      </p:sp>
    </p:spTree>
    <p:extLst>
      <p:ext uri="{BB962C8B-B14F-4D97-AF65-F5344CB8AC3E}">
        <p14:creationId xmlns:p14="http://schemas.microsoft.com/office/powerpoint/2010/main" val="421329439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</a:t>
            </a:r>
          </a:p>
        </p:txBody>
      </p:sp>
      <p:pic>
        <p:nvPicPr>
          <p:cNvPr id="4" name="Picture 2" descr="C:\Users\Samir CHERIF\Desktop\Sans titreç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834" y="5824305"/>
            <a:ext cx="6762966" cy="3650465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Samir CHERIF\Desktop\Sans titr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85" y="2394462"/>
            <a:ext cx="6636823" cy="431465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71453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774343"/>
            <a:ext cx="11988800" cy="1219200"/>
          </a:xfrm>
          <a:ln w="12700">
            <a:miter lim="400000"/>
          </a:ln>
        </p:spPr>
        <p:txBody>
          <a:bodyPr lIns="50800" tIns="50800" rIns="50800" bIns="50800" anchor="ctr">
            <a:normAutofit fontScale="90000"/>
          </a:bodyPr>
          <a:lstStyle/>
          <a:p>
            <a:r>
              <a:rPr lang="fr-FR" sz="7200" dirty="0"/>
              <a:t>Les variables d'environnement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92480" y="2383529"/>
            <a:ext cx="11365176" cy="460318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6979" tIns="0" rIns="26979" bIns="0" numCol="1" anchor="ctr" anchorCtr="0" compatLnSpc="1">
            <a:prstTxWarp prst="textNoShape">
              <a:avLst/>
            </a:prstTxWarp>
            <a:spAutoFit/>
          </a:bodyPr>
          <a:lstStyle>
            <a:lvl1pPr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 hangingPunct="0">
              <a:lnSpc>
                <a:spcPct val="150000"/>
              </a:lnSpc>
              <a:buClrTx/>
              <a:buSzTx/>
            </a:pPr>
            <a:r>
              <a:rPr lang="fr-FR" sz="2900" dirty="0">
                <a:solidFill>
                  <a:srgbClr val="414141"/>
                </a:solidFill>
                <a:latin typeface="Palatino"/>
              </a:rPr>
              <a:t>Une variable définie dans un programme A ne sera pas utilisable dans un programme B.</a:t>
            </a:r>
          </a:p>
          <a:p>
            <a:pPr lvl="2" defTabSz="914400" hangingPunct="0">
              <a:lnSpc>
                <a:spcPct val="150000"/>
              </a:lnSpc>
              <a:buClrTx/>
              <a:buSzTx/>
            </a:pPr>
            <a:r>
              <a:rPr lang="fr-FR" sz="2900" dirty="0">
                <a:solidFill>
                  <a:srgbClr val="414141"/>
                </a:solidFill>
                <a:latin typeface="Palatino"/>
              </a:rPr>
              <a:t>Les variables d'environnement sont des variables que l'on peut utiliser dans n'importe quel programme. On parle aussi parfois de variables globales.</a:t>
            </a:r>
          </a:p>
          <a:p>
            <a:pPr lvl="3" defTabSz="914400" hangingPunct="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fr-FR" sz="2900" dirty="0">
                <a:solidFill>
                  <a:srgbClr val="414141"/>
                </a:solidFill>
                <a:latin typeface="Palatino"/>
              </a:rPr>
              <a:t>La commande </a:t>
            </a:r>
            <a:r>
              <a:rPr lang="fr-FR" sz="2900" b="1" dirty="0" err="1">
                <a:solidFill>
                  <a:srgbClr val="414141"/>
                </a:solidFill>
                <a:latin typeface="Palatino"/>
              </a:rPr>
              <a:t>env</a:t>
            </a:r>
            <a:r>
              <a:rPr lang="fr-FR" sz="2900" dirty="0">
                <a:solidFill>
                  <a:srgbClr val="414141"/>
                </a:solidFill>
                <a:latin typeface="Palatino"/>
              </a:rPr>
              <a:t> :</a:t>
            </a:r>
          </a:p>
          <a:p>
            <a:pPr defTabSz="914400" hangingPunct="0">
              <a:lnSpc>
                <a:spcPct val="150000"/>
              </a:lnSpc>
              <a:buClrTx/>
              <a:buSzTx/>
            </a:pPr>
            <a:endParaRPr lang="fr-FR" sz="2900" dirty="0">
              <a:solidFill>
                <a:srgbClr val="414141"/>
              </a:solidFill>
              <a:latin typeface="Palatino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288281" y="6391073"/>
            <a:ext cx="7633308" cy="329320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180000" algn="l" defTabSz="914400">
              <a:lnSpc>
                <a:spcPct val="150000"/>
              </a:lnSpc>
            </a:pP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$ </a:t>
            </a:r>
            <a:r>
              <a:rPr lang="fr-FR" sz="1600" dirty="0" err="1">
                <a:solidFill>
                  <a:schemeClr val="bg1"/>
                </a:solidFill>
                <a:latin typeface="Courier New" panose="02070309020205020404" pitchFamily="49" charset="0"/>
              </a:rPr>
              <a:t>printenv</a:t>
            </a: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</a:p>
          <a:p>
            <a:pPr marL="180000" algn="l" defTabSz="914400">
              <a:lnSpc>
                <a:spcPct val="150000"/>
              </a:lnSpc>
            </a:pP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 PATH=:/</a:t>
            </a:r>
            <a:r>
              <a:rPr lang="fr-FR" sz="1600" dirty="0" err="1">
                <a:solidFill>
                  <a:schemeClr val="bg1"/>
                </a:solidFill>
                <a:latin typeface="Courier New" panose="02070309020205020404" pitchFamily="49" charset="0"/>
              </a:rPr>
              <a:t>usr</a:t>
            </a: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/</a:t>
            </a:r>
            <a:r>
              <a:rPr lang="fr-FR" sz="1600" dirty="0" err="1">
                <a:solidFill>
                  <a:schemeClr val="bg1"/>
                </a:solidFill>
                <a:latin typeface="Courier New" panose="02070309020205020404" pitchFamily="49" charset="0"/>
              </a:rPr>
              <a:t>share</a:t>
            </a: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/glade3/</a:t>
            </a:r>
            <a:r>
              <a:rPr lang="fr-FR" sz="1600" dirty="0" err="1">
                <a:solidFill>
                  <a:schemeClr val="bg1"/>
                </a:solidFill>
                <a:latin typeface="Courier New" panose="02070309020205020404" pitchFamily="49" charset="0"/>
              </a:rPr>
              <a:t>pixmaps</a:t>
            </a: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</a:p>
          <a:p>
            <a:pPr marL="180000" algn="l" defTabSz="914400">
              <a:lnSpc>
                <a:spcPct val="150000"/>
              </a:lnSpc>
            </a:pP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TERM=</a:t>
            </a:r>
            <a:r>
              <a:rPr lang="fr-FR" sz="1600" dirty="0" err="1">
                <a:solidFill>
                  <a:schemeClr val="bg1"/>
                </a:solidFill>
                <a:latin typeface="Courier New" panose="02070309020205020404" pitchFamily="49" charset="0"/>
              </a:rPr>
              <a:t>xterm</a:t>
            </a: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</a:p>
          <a:p>
            <a:pPr marL="180000" algn="l" defTabSz="914400">
              <a:lnSpc>
                <a:spcPct val="150000"/>
              </a:lnSpc>
            </a:pP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SHELL=/bin/</a:t>
            </a:r>
            <a:r>
              <a:rPr lang="fr-FR" sz="1600" dirty="0" err="1">
                <a:solidFill>
                  <a:schemeClr val="bg1"/>
                </a:solidFill>
                <a:latin typeface="Courier New" panose="02070309020205020404" pitchFamily="49" charset="0"/>
              </a:rPr>
              <a:t>bash</a:t>
            </a: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</a:p>
          <a:p>
            <a:pPr marL="180000" algn="l" defTabSz="914400">
              <a:lnSpc>
                <a:spcPct val="150000"/>
              </a:lnSpc>
            </a:pP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USER=ESPRIT</a:t>
            </a:r>
          </a:p>
          <a:p>
            <a:pPr marL="180000" algn="l" defTabSz="914400">
              <a:lnSpc>
                <a:spcPct val="150000"/>
              </a:lnSpc>
            </a:pP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PATH=/home/esprit/bin:/</a:t>
            </a:r>
            <a:r>
              <a:rPr lang="fr-FR" sz="1600" dirty="0" err="1">
                <a:solidFill>
                  <a:schemeClr val="bg1"/>
                </a:solidFill>
                <a:latin typeface="Courier New" panose="02070309020205020404" pitchFamily="49" charset="0"/>
              </a:rPr>
              <a:t>usr</a:t>
            </a: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/local/</a:t>
            </a:r>
            <a:r>
              <a:rPr lang="fr-FR" sz="1600" dirty="0" err="1">
                <a:solidFill>
                  <a:schemeClr val="bg1"/>
                </a:solidFill>
                <a:latin typeface="Courier New" panose="02070309020205020404" pitchFamily="49" charset="0"/>
              </a:rPr>
              <a:t>sbin</a:t>
            </a: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:/</a:t>
            </a:r>
            <a:r>
              <a:rPr lang="fr-FR" sz="1600" dirty="0" err="1">
                <a:solidFill>
                  <a:schemeClr val="bg1"/>
                </a:solidFill>
                <a:latin typeface="Courier New" panose="02070309020205020404" pitchFamily="49" charset="0"/>
              </a:rPr>
              <a:t>usr</a:t>
            </a: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/local/bin:/</a:t>
            </a:r>
            <a:r>
              <a:rPr lang="fr-FR" sz="1600" dirty="0" err="1">
                <a:solidFill>
                  <a:schemeClr val="bg1"/>
                </a:solidFill>
                <a:latin typeface="Courier New" panose="02070309020205020404" pitchFamily="49" charset="0"/>
              </a:rPr>
              <a:t>usr</a:t>
            </a: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/</a:t>
            </a:r>
            <a:r>
              <a:rPr lang="fr-FR" sz="1600" dirty="0" err="1">
                <a:solidFill>
                  <a:schemeClr val="bg1"/>
                </a:solidFill>
                <a:latin typeface="Courier New" panose="02070309020205020404" pitchFamily="49" charset="0"/>
              </a:rPr>
              <a:t>sbin</a:t>
            </a: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: PWD=/home/mateo21/bin</a:t>
            </a:r>
          </a:p>
          <a:p>
            <a:pPr marL="180000" algn="l" defTabSz="914400">
              <a:lnSpc>
                <a:spcPct val="150000"/>
              </a:lnSpc>
            </a:pP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EDITOR=nano </a:t>
            </a:r>
          </a:p>
          <a:p>
            <a:pPr marL="180000" algn="l" defTabSz="914400">
              <a:lnSpc>
                <a:spcPct val="150000"/>
              </a:lnSpc>
            </a:pPr>
            <a:r>
              <a:rPr lang="fr-FR" sz="1600" dirty="0">
                <a:solidFill>
                  <a:schemeClr val="bg1"/>
                </a:solidFill>
                <a:latin typeface="Courier New" panose="02070309020205020404" pitchFamily="49" charset="0"/>
              </a:rPr>
              <a:t>HOME=/home/esprit</a:t>
            </a:r>
          </a:p>
        </p:txBody>
      </p:sp>
    </p:spTree>
    <p:extLst>
      <p:ext uri="{BB962C8B-B14F-4D97-AF65-F5344CB8AC3E}">
        <p14:creationId xmlns:p14="http://schemas.microsoft.com/office/powerpoint/2010/main" val="7148658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 fontScale="90000"/>
          </a:bodyPr>
          <a:lstStyle/>
          <a:p>
            <a:r>
              <a:rPr lang="fr-FR" sz="7200" dirty="0"/>
              <a:t>Les variables d'environnement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5527" y="2628064"/>
            <a:ext cx="11533746" cy="57708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6979" tIns="0" rIns="26979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65125" lvl="0" indent="-365125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sz="2900" dirty="0"/>
              <a:t>SHELL : indique quel type de </a:t>
            </a:r>
            <a:r>
              <a:rPr lang="fr-FR" sz="2900" dirty="0" err="1"/>
              <a:t>shell</a:t>
            </a:r>
            <a:r>
              <a:rPr lang="fr-FR" sz="2900" dirty="0"/>
              <a:t> est en cours d'utilisation (sh, </a:t>
            </a:r>
            <a:r>
              <a:rPr lang="fr-FR" sz="2900" dirty="0" err="1"/>
              <a:t>bash</a:t>
            </a:r>
            <a:r>
              <a:rPr lang="fr-FR" sz="2900" dirty="0"/>
              <a:t>, </a:t>
            </a:r>
            <a:r>
              <a:rPr lang="fr-FR" sz="2900" dirty="0" err="1"/>
              <a:t>ksh</a:t>
            </a:r>
            <a:r>
              <a:rPr lang="fr-FR" sz="2900" dirty="0"/>
              <a:t>…) ;</a:t>
            </a:r>
          </a:p>
          <a:p>
            <a:pPr marL="365125" lvl="0" indent="-365125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sz="2900" dirty="0"/>
              <a:t>PATH : une liste des répertoires qui contiennent des exécutables que vous souhaitez pouvoir lancer sans indiquer leur répertoire.</a:t>
            </a:r>
          </a:p>
          <a:p>
            <a:pPr marL="365125" lvl="0" indent="-365125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sz="2900" dirty="0"/>
              <a:t>EDITOR : l'éditeur de texte par défaut qui s'ouvre lorsque cela est nécessaire ;</a:t>
            </a:r>
          </a:p>
          <a:p>
            <a:pPr marL="365125" lvl="0" indent="-365125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sz="2900" dirty="0"/>
              <a:t>HOME : la position de votre dossier home ;</a:t>
            </a:r>
          </a:p>
          <a:p>
            <a:pPr marL="365125" lvl="0" indent="-365125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fr-FR" sz="2900" dirty="0"/>
              <a:t>PWD : le dossier dans lequel vous vous trouvez 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44697" y="8476228"/>
            <a:ext cx="6774288" cy="830997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180000" algn="l" defTabSz="914400">
              <a:lnSpc>
                <a:spcPct val="150000"/>
              </a:lnSpc>
            </a:pP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#!/bin/</a:t>
            </a:r>
            <a:r>
              <a:rPr lang="fr-FR" sz="1800" dirty="0" err="1">
                <a:solidFill>
                  <a:schemeClr val="bg1"/>
                </a:solidFill>
                <a:latin typeface="Courier New" panose="02070309020205020404" pitchFamily="49" charset="0"/>
              </a:rPr>
              <a:t>bash</a:t>
            </a: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 </a:t>
            </a:r>
          </a:p>
          <a:p>
            <a:pPr marL="180000" algn="l" defTabSz="914400">
              <a:lnSpc>
                <a:spcPct val="150000"/>
              </a:lnSpc>
            </a:pPr>
            <a:r>
              <a:rPr lang="fr-FR" sz="1800" dirty="0" err="1">
                <a:solidFill>
                  <a:schemeClr val="bg1"/>
                </a:solidFill>
                <a:latin typeface="Courier New" panose="02070309020205020404" pitchFamily="49" charset="0"/>
              </a:rPr>
              <a:t>echo</a:t>
            </a: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 "Votre éditeur par défaut est $EDITOR"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122016" y="8737837"/>
            <a:ext cx="5792631" cy="307777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2000" dirty="0">
                <a:solidFill>
                  <a:schemeClr val="bg1"/>
                </a:solidFill>
                <a:latin typeface="Courier New" panose="02070309020205020404" pitchFamily="49" charset="0"/>
              </a:rPr>
              <a:t>Votre éditeur par défaut est nano</a:t>
            </a:r>
          </a:p>
        </p:txBody>
      </p:sp>
    </p:spTree>
    <p:extLst>
      <p:ext uri="{BB962C8B-B14F-4D97-AF65-F5344CB8AC3E}">
        <p14:creationId xmlns:p14="http://schemas.microsoft.com/office/powerpoint/2010/main" val="392798218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 fontScale="90000"/>
          </a:bodyPr>
          <a:lstStyle/>
          <a:p>
            <a:r>
              <a:rPr lang="fr-FR" sz="7200" dirty="0"/>
              <a:t>Les variables d'environnement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900" dirty="0"/>
              <a:t>Création des variables d'environnement</a:t>
            </a:r>
          </a:p>
          <a:p>
            <a:endParaRPr lang="fr-FR" sz="2900" dirty="0"/>
          </a:p>
          <a:p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r>
              <a:rPr lang="fr-FR" sz="2900"/>
              <a:t>Utilisation des variables </a:t>
            </a:r>
            <a:r>
              <a:rPr lang="fr-FR" sz="2900" dirty="0"/>
              <a:t>d'environnement</a:t>
            </a:r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  <a:p>
            <a:pPr marL="0" indent="0">
              <a:buNone/>
            </a:pPr>
            <a:endParaRPr lang="fr-FR" sz="2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0088" t="37714" r="5698" b="51027"/>
          <a:stretch/>
        </p:blipFill>
        <p:spPr>
          <a:xfrm>
            <a:off x="1702719" y="3549648"/>
            <a:ext cx="9599361" cy="177691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5944" t="35227" r="40147" b="46614"/>
          <a:stretch/>
        </p:blipFill>
        <p:spPr>
          <a:xfrm>
            <a:off x="238759" y="6856913"/>
            <a:ext cx="6201230" cy="186798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60091" t="37820" r="5556" b="46614"/>
          <a:stretch/>
        </p:blipFill>
        <p:spPr>
          <a:xfrm>
            <a:off x="6635931" y="6990261"/>
            <a:ext cx="6282507" cy="160128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9271076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fr-FR" sz="7200" dirty="0"/>
              <a:t>Les variables spéciales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816" y="1631648"/>
            <a:ext cx="11988800" cy="27689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800" dirty="0"/>
              <a:t>Le script </a:t>
            </a:r>
            <a:r>
              <a:rPr lang="fr-FR" sz="2800" dirty="0" err="1"/>
              <a:t>shell</a:t>
            </a:r>
            <a:r>
              <a:rPr lang="fr-FR" sz="2800" dirty="0"/>
              <a:t> récupère les arguments de la ligne de commande dans des variables réservées appelées </a:t>
            </a:r>
            <a:r>
              <a:rPr lang="fr-FR" sz="2800" u="sng" dirty="0"/>
              <a:t>paramètres positionnels</a:t>
            </a:r>
            <a:r>
              <a:rPr lang="fr-FR" sz="2800" dirty="0"/>
              <a:t>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956711"/>
              </p:ext>
            </p:extLst>
          </p:nvPr>
        </p:nvGraphicFramePr>
        <p:xfrm>
          <a:off x="1265943" y="4304763"/>
          <a:ext cx="9681098" cy="175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4054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405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$#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d’arguments reçus par le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584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Le nom du script lui-même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$1 $2 … $9 ${10}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$1 est la valeur du premier argument, $2 la valeur du second….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$*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Liste des arguments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1627" t="27381" r="44360" b="58884"/>
          <a:stretch/>
        </p:blipFill>
        <p:spPr>
          <a:xfrm>
            <a:off x="623909" y="6707745"/>
            <a:ext cx="7088044" cy="160986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57402" t="34642" r="22035" b="32682"/>
          <a:stretch/>
        </p:blipFill>
        <p:spPr>
          <a:xfrm>
            <a:off x="8233892" y="6233375"/>
            <a:ext cx="3760631" cy="3361385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9" name="Straight Arrow Connector 8"/>
          <p:cNvCxnSpPr/>
          <p:nvPr/>
        </p:nvCxnSpPr>
        <p:spPr>
          <a:xfrm flipH="1">
            <a:off x="7315200" y="7662930"/>
            <a:ext cx="1429555" cy="978794"/>
          </a:xfrm>
          <a:prstGeom prst="straightConnector1">
            <a:avLst/>
          </a:prstGeom>
          <a:noFill/>
          <a:ln w="25400" cap="flat">
            <a:solidFill>
              <a:srgbClr val="41414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/>
          <p:cNvCxnSpPr>
            <a:endCxn id="12" idx="0"/>
          </p:cNvCxnSpPr>
          <p:nvPr/>
        </p:nvCxnSpPr>
        <p:spPr>
          <a:xfrm>
            <a:off x="3709115" y="7804597"/>
            <a:ext cx="15516" cy="1234225"/>
          </a:xfrm>
          <a:prstGeom prst="straightConnector1">
            <a:avLst/>
          </a:prstGeom>
          <a:noFill/>
          <a:ln w="25400" cap="flat">
            <a:solidFill>
              <a:srgbClr val="41414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TextBox 11"/>
          <p:cNvSpPr txBox="1"/>
          <p:nvPr/>
        </p:nvSpPr>
        <p:spPr>
          <a:xfrm>
            <a:off x="2010044" y="9038822"/>
            <a:ext cx="342917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Le 1</a:t>
            </a:r>
            <a:r>
              <a:rPr kumimoji="0" lang="fr-FR" sz="2400" b="0" i="0" u="none" strike="noStrike" cap="none" spc="0" normalizeH="0" baseline="30000" dirty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er</a:t>
            </a:r>
            <a:r>
              <a:rPr kumimoji="0" lang="fr-FR" sz="2400" b="0" i="0" u="none" strike="noStrike" cap="none" spc="0" normalizeH="0" baseline="0" dirty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 argument $1</a:t>
            </a:r>
            <a:r>
              <a:rPr kumimoji="0" lang="fr-FR" sz="2400" b="0" i="0" u="none" strike="noStrike" cap="none" spc="0" normalizeH="0" dirty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 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  <p:cxnSp>
        <p:nvCxnSpPr>
          <p:cNvPr id="14" name="Straight Arrow Connector 13"/>
          <p:cNvCxnSpPr>
            <a:endCxn id="15" idx="0"/>
          </p:cNvCxnSpPr>
          <p:nvPr/>
        </p:nvCxnSpPr>
        <p:spPr>
          <a:xfrm flipH="1">
            <a:off x="1144993" y="7804597"/>
            <a:ext cx="1894422" cy="958704"/>
          </a:xfrm>
          <a:prstGeom prst="straightConnector1">
            <a:avLst/>
          </a:prstGeom>
          <a:noFill/>
          <a:ln w="25400" cap="flat">
            <a:solidFill>
              <a:srgbClr val="414141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Box 14"/>
          <p:cNvSpPr txBox="1"/>
          <p:nvPr/>
        </p:nvSpPr>
        <p:spPr>
          <a:xfrm>
            <a:off x="-569594" y="8763301"/>
            <a:ext cx="342917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spc="0" normalizeH="0" baseline="0" dirty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$0</a:t>
            </a:r>
            <a:r>
              <a:rPr kumimoji="0" lang="fr-FR" sz="2400" b="0" i="0" u="none" strike="noStrike" cap="none" spc="0" normalizeH="0" dirty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 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87813" y="8487779"/>
            <a:ext cx="342917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fr-FR" dirty="0"/>
              <a:t>Le Nombre d’arguments </a:t>
            </a:r>
            <a:endParaRPr kumimoji="0" lang="fr-FR" sz="2400" b="0" i="0" u="none" strike="noStrike" cap="none" spc="0" normalizeH="0" baseline="0" dirty="0">
              <a:ln>
                <a:noFill/>
              </a:ln>
              <a:solidFill>
                <a:srgbClr val="414141"/>
              </a:solidFill>
              <a:effectLst/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273397075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Tableaux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340125"/>
            <a:ext cx="11988800" cy="6546986"/>
          </a:xfrm>
        </p:spPr>
        <p:txBody>
          <a:bodyPr>
            <a:normAutofit/>
          </a:bodyPr>
          <a:lstStyle/>
          <a:p>
            <a:r>
              <a:rPr lang="fr-FR" sz="2800" dirty="0"/>
              <a:t>Plusieurs méthodes pour créer un tableau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Directement 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Autre syntaxe :</a:t>
            </a:r>
          </a:p>
          <a:p>
            <a:endParaRPr lang="fr-FR" sz="2800" dirty="0"/>
          </a:p>
          <a:p>
            <a:r>
              <a:rPr lang="fr-FR" sz="2800" dirty="0"/>
              <a:t>Assigner un élément</a:t>
            </a:r>
          </a:p>
          <a:p>
            <a:endParaRPr lang="fr-FR" sz="2800" dirty="0"/>
          </a:p>
          <a:p>
            <a:r>
              <a:rPr lang="fr-FR" sz="2800" dirty="0"/>
              <a:t>Affichage des éléments d’indice 0 et d’indice 2</a:t>
            </a:r>
            <a:r>
              <a:rPr lang="fr-FR" sz="1200" i="1" dirty="0"/>
              <a:t>:</a:t>
            </a:r>
            <a:endParaRPr lang="fr-FR" sz="1200" dirty="0"/>
          </a:p>
          <a:p>
            <a:pPr marL="0" indent="0">
              <a:buNone/>
            </a:pPr>
            <a:r>
              <a:rPr lang="fr-FR" sz="1200" dirty="0"/>
              <a:t/>
            </a:r>
            <a:br>
              <a:rPr lang="fr-FR" sz="1200" dirty="0"/>
            </a:br>
            <a:endParaRPr lang="fr-FR" sz="1200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29554" y="3989876"/>
            <a:ext cx="8822028" cy="27699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nom-tableau=(valeur0 valeur1 ...)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502367" y="-22074"/>
            <a:ext cx="65" cy="501349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22180" numCol="1" anchor="ctr" anchorCtr="0" compatLnSpc="1">
            <a:prstTxWarp prst="textNoShape">
              <a:avLst/>
            </a:prstTxWarp>
            <a:spAutoFit/>
          </a:bodyPr>
          <a:lstStyle>
            <a:lvl1pPr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eaLnBrk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29554" y="5294104"/>
            <a:ext cx="8822028" cy="27699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nom-tableau=([indice0]=valeur0 [indice1]=valeur1 ...)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29554" y="6736833"/>
            <a:ext cx="8822028" cy="27699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/>
            <a:r>
              <a:rPr lang="fr-FR" sz="1800" dirty="0" err="1">
                <a:solidFill>
                  <a:schemeClr val="bg1"/>
                </a:solidFill>
                <a:latin typeface="Courier New" panose="02070309020205020404" pitchFamily="49" charset="0"/>
              </a:rPr>
              <a:t>nomtableau</a:t>
            </a: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[indice]=valeur 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1429554" y="7038225"/>
            <a:ext cx="8822028" cy="27699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$ tab[0]=10  $ tab[2]=12 </a:t>
            </a: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6467914" y="-1242"/>
            <a:ext cx="68972" cy="4596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241" tIns="90459" rIns="0" bIns="9045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429554" y="8285455"/>
            <a:ext cx="8822028" cy="553998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/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$ </a:t>
            </a:r>
            <a:r>
              <a:rPr lang="fr-FR" sz="1800" dirty="0" err="1">
                <a:solidFill>
                  <a:schemeClr val="bg1"/>
                </a:solidFill>
                <a:latin typeface="Courier New" panose="02070309020205020404" pitchFamily="49" charset="0"/>
              </a:rPr>
              <a:t>echo</a:t>
            </a: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 ${tab[0]} </a:t>
            </a:r>
          </a:p>
          <a:p>
            <a:pPr lvl="0" algn="l"/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 10 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429554" y="8839453"/>
            <a:ext cx="8822028" cy="553998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/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$ </a:t>
            </a:r>
            <a:r>
              <a:rPr lang="fr-FR" sz="1800" dirty="0" err="1">
                <a:solidFill>
                  <a:schemeClr val="bg1"/>
                </a:solidFill>
                <a:latin typeface="Courier New" panose="02070309020205020404" pitchFamily="49" charset="0"/>
              </a:rPr>
              <a:t>echo</a:t>
            </a: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 ${tab[2]}</a:t>
            </a:r>
          </a:p>
          <a:p>
            <a:pPr lvl="0" algn="l"/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 12</a:t>
            </a:r>
          </a:p>
        </p:txBody>
      </p:sp>
    </p:spTree>
    <p:extLst>
      <p:ext uri="{BB962C8B-B14F-4D97-AF65-F5344CB8AC3E}">
        <p14:creationId xmlns:p14="http://schemas.microsoft.com/office/powerpoint/2010/main" val="341385856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Tableaux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680" y="1988820"/>
            <a:ext cx="11988800" cy="67211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2900" dirty="0"/>
              <a:t>Valeurs de toutes les cases: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900" dirty="0"/>
              <a:t>Tous les éléments d'un tableau sont accessibles avec chacune de ces deux syntaxes :</a:t>
            </a:r>
          </a:p>
          <a:p>
            <a:pPr marL="469900" lvl="1" indent="0">
              <a:lnSpc>
                <a:spcPct val="150000"/>
              </a:lnSpc>
              <a:buNone/>
            </a:pPr>
            <a:endParaRPr lang="fr-FR" sz="1100" dirty="0"/>
          </a:p>
          <a:p>
            <a:pPr>
              <a:lnSpc>
                <a:spcPct val="150000"/>
              </a:lnSpc>
            </a:pPr>
            <a:r>
              <a:rPr lang="fr-FR" sz="2900" dirty="0"/>
              <a:t>Nombre d'éléments d'un tableau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900" dirty="0"/>
              <a:t>Le nombre d'éléments d'un tableau est accessible par chacune de ces deux syntaxes 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12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22074"/>
            <a:ext cx="65" cy="501349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221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846231" y="4880876"/>
            <a:ext cx="3026535" cy="27699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/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${nom-tableau[*]}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502400" y="4876800"/>
            <a:ext cx="3026535" cy="27699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/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${nom-tableau[@]} 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846231" y="7930977"/>
            <a:ext cx="3026536" cy="27699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/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${#</a:t>
            </a:r>
            <a:r>
              <a:rPr lang="fr-FR" sz="1800" dirty="0" err="1">
                <a:solidFill>
                  <a:schemeClr val="bg1"/>
                </a:solidFill>
                <a:latin typeface="Courier New" panose="02070309020205020404" pitchFamily="49" charset="0"/>
              </a:rPr>
              <a:t>nomtableau</a:t>
            </a: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[*]}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387920" y="7874854"/>
            <a:ext cx="3065172" cy="27699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/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${#</a:t>
            </a:r>
            <a:r>
              <a:rPr lang="fr-FR" sz="1800" dirty="0" err="1">
                <a:solidFill>
                  <a:schemeClr val="bg1"/>
                </a:solidFill>
                <a:latin typeface="Courier New" panose="02070309020205020404" pitchFamily="49" charset="0"/>
              </a:rPr>
              <a:t>nomtableau</a:t>
            </a: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[@]}</a:t>
            </a:r>
          </a:p>
        </p:txBody>
      </p:sp>
    </p:spTree>
    <p:extLst>
      <p:ext uri="{BB962C8B-B14F-4D97-AF65-F5344CB8AC3E}">
        <p14:creationId xmlns:p14="http://schemas.microsoft.com/office/powerpoint/2010/main" val="187286069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dirty="0">
                <a:latin typeface="Palatino"/>
              </a:rPr>
              <a:t>Tableaux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984393"/>
            <a:ext cx="11988800" cy="2741590"/>
          </a:xfrm>
        </p:spPr>
        <p:txBody>
          <a:bodyPr/>
          <a:lstStyle/>
          <a:p>
            <a:pPr lvl="0"/>
            <a:r>
              <a:rPr lang="fr-FR" sz="2900" dirty="0"/>
              <a:t>Ajout d’un élément à un tableau</a:t>
            </a:r>
            <a:r>
              <a:rPr lang="fr-FR" sz="19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426079"/>
            <a:ext cx="65" cy="8521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-952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fr-F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fr-FR" sz="1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003898" y="3608189"/>
            <a:ext cx="4997003" cy="27699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/>
            <a:r>
              <a:rPr lang="fr-FR" sz="18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tableau[${#tableau[*]}]=élément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685" t="16989" r="56626" b="61964"/>
          <a:stretch/>
        </p:blipFill>
        <p:spPr>
          <a:xfrm>
            <a:off x="1057141" y="4208124"/>
            <a:ext cx="9026664" cy="415987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43670" t="17366" r="22055" b="73534"/>
          <a:stretch/>
        </p:blipFill>
        <p:spPr>
          <a:xfrm>
            <a:off x="5592527" y="8172180"/>
            <a:ext cx="7306155" cy="109113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03711893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760" y="800100"/>
            <a:ext cx="11988800" cy="1219200"/>
          </a:xfrm>
        </p:spPr>
        <p:txBody>
          <a:bodyPr>
            <a:normAutofit/>
          </a:bodyPr>
          <a:lstStyle/>
          <a:p>
            <a:r>
              <a:rPr lang="fr-FR" sz="6000" dirty="0">
                <a:latin typeface="Palatino"/>
              </a:rPr>
              <a:t>Tableaux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2306670"/>
            <a:ext cx="11186016" cy="72231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-9522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buFont typeface="Wingdings" panose="05000000000000000000" pitchFamily="2" charset="2"/>
              <a:buChar char="v"/>
            </a:pPr>
            <a:r>
              <a:rPr lang="fr-FR" sz="2900" dirty="0"/>
              <a:t>Ajout d’un élément au début d'un tableau :</a:t>
            </a:r>
          </a:p>
          <a:p>
            <a:pPr eaLnBrk="0" fontAlgn="base" hangingPunct="0">
              <a:buFont typeface="Wingdings" panose="05000000000000000000" pitchFamily="2" charset="2"/>
              <a:buChar char="v"/>
            </a:pPr>
            <a:endParaRPr lang="fr-FR" sz="2900" dirty="0"/>
          </a:p>
          <a:p>
            <a:pPr eaLnBrk="0" fontAlgn="base" hangingPunct="0">
              <a:buFont typeface="Wingdings" panose="05000000000000000000" pitchFamily="2" charset="2"/>
              <a:buChar char="v"/>
            </a:pPr>
            <a:endParaRPr lang="fr-FR" sz="2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buFont typeface="Wingdings" panose="05000000000000000000" pitchFamily="2" charset="2"/>
              <a:buChar char="v"/>
            </a:pPr>
            <a:endParaRPr lang="fr-FR" sz="2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buFont typeface="Wingdings" panose="05000000000000000000" pitchFamily="2" charset="2"/>
              <a:buChar char="v"/>
            </a:pPr>
            <a:endParaRPr lang="fr-FR" sz="2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buFont typeface="Wingdings" panose="05000000000000000000" pitchFamily="2" charset="2"/>
              <a:buChar char="v"/>
            </a:pPr>
            <a:endParaRPr lang="fr-FR" sz="2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buFont typeface="Wingdings" panose="05000000000000000000" pitchFamily="2" charset="2"/>
              <a:buChar char="v"/>
            </a:pPr>
            <a:endParaRPr lang="fr-FR" sz="2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buFont typeface="Wingdings" panose="05000000000000000000" pitchFamily="2" charset="2"/>
              <a:buChar char="v"/>
            </a:pPr>
            <a:endParaRPr lang="fr-FR" sz="2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buFont typeface="Wingdings" panose="05000000000000000000" pitchFamily="2" charset="2"/>
              <a:buChar char="v"/>
            </a:pPr>
            <a:r>
              <a:rPr lang="fr-FR" sz="2900" dirty="0"/>
              <a:t>Supprimer un tableau : </a:t>
            </a:r>
          </a:p>
          <a:p>
            <a:pPr eaLnBrk="0" fontAlgn="base" hangingPunct="0">
              <a:buFont typeface="Wingdings" panose="05000000000000000000" pitchFamily="2" charset="2"/>
              <a:buChar char="v"/>
            </a:pPr>
            <a:r>
              <a:rPr lang="fr-FR" sz="2900" dirty="0"/>
              <a:t>Supprimer la case d'un tableau : 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7614" t="16865" r="56400" b="50334"/>
          <a:stretch/>
        </p:blipFill>
        <p:spPr>
          <a:xfrm>
            <a:off x="166752" y="3548721"/>
            <a:ext cx="5789768" cy="39718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43529" t="16865" r="22175" b="73870"/>
          <a:stretch/>
        </p:blipFill>
        <p:spPr>
          <a:xfrm>
            <a:off x="5956521" y="5534621"/>
            <a:ext cx="7048279" cy="126565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907307" y="2984986"/>
            <a:ext cx="5190186" cy="27699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/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tableau=( </a:t>
            </a:r>
            <a:r>
              <a:rPr lang="fr-FR" sz="1800" dirty="0" err="1">
                <a:solidFill>
                  <a:schemeClr val="bg1"/>
                </a:solidFill>
                <a:latin typeface="Courier New" panose="02070309020205020404" pitchFamily="49" charset="0"/>
              </a:rPr>
              <a:t>element</a:t>
            </a: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 ${tableau[*]} )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250674"/>
            <a:ext cx="65" cy="501349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221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659093" y="8327611"/>
            <a:ext cx="5190186" cy="27699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/>
            <a:r>
              <a:rPr lang="fr-FR" sz="1800" dirty="0" err="1">
                <a:solidFill>
                  <a:schemeClr val="bg1"/>
                </a:solidFill>
                <a:latin typeface="Courier New" panose="02070309020205020404" pitchFamily="49" charset="0"/>
              </a:rPr>
              <a:t>unset</a:t>
            </a: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 nom-tableau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659093" y="9226704"/>
            <a:ext cx="5190186" cy="276999"/>
          </a:xfrm>
          <a:prstGeom prst="rect">
            <a:avLst/>
          </a:prstGeom>
          <a:solidFill>
            <a:srgbClr val="E9E9E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400" tIns="0" rIns="31740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/>
            <a:r>
              <a:rPr lang="fr-FR" sz="1800" dirty="0" err="1">
                <a:solidFill>
                  <a:schemeClr val="bg1"/>
                </a:solidFill>
                <a:latin typeface="Courier New" panose="02070309020205020404" pitchFamily="49" charset="0"/>
              </a:rPr>
              <a:t>unset</a:t>
            </a:r>
            <a:r>
              <a:rPr lang="fr-FR" sz="1800" dirty="0">
                <a:solidFill>
                  <a:schemeClr val="bg1"/>
                </a:solidFill>
                <a:latin typeface="Courier New" panose="02070309020205020404" pitchFamily="49" charset="0"/>
              </a:rPr>
              <a:t> nom-tableau[indice] …</a:t>
            </a:r>
          </a:p>
        </p:txBody>
      </p:sp>
    </p:spTree>
    <p:extLst>
      <p:ext uri="{BB962C8B-B14F-4D97-AF65-F5344CB8AC3E}">
        <p14:creationId xmlns:p14="http://schemas.microsoft.com/office/powerpoint/2010/main" val="109740869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dirty="0" err="1">
                <a:latin typeface="Palatino"/>
              </a:rPr>
              <a:t>expr</a:t>
            </a:r>
            <a:r>
              <a:rPr lang="fr-FR" sz="6600" dirty="0">
                <a:latin typeface="Palatino"/>
              </a:rPr>
              <a:t> : Arithmétique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7391" y="2323664"/>
            <a:ext cx="11585263" cy="72077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-9522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fr-FR" sz="2800" dirty="0"/>
              <a:t> </a:t>
            </a:r>
            <a:r>
              <a:rPr lang="fr-FR" sz="2800" b="1" dirty="0" err="1"/>
              <a:t>expr</a:t>
            </a:r>
            <a:r>
              <a:rPr lang="fr-FR" sz="2800" b="1" dirty="0"/>
              <a:t> :</a:t>
            </a:r>
            <a:r>
              <a:rPr lang="fr-FR" sz="2800" dirty="0"/>
              <a:t>permet d'évaluer des expressions, notamment pour faire des opérations arithmétiques ou des comparaisons de chaînes de caractères .</a:t>
            </a:r>
          </a:p>
          <a:p>
            <a:pPr marL="533400" indent="-350838"/>
            <a:r>
              <a:rPr lang="fr-FR" sz="2800" dirty="0"/>
              <a:t>Les opérateurs arithmétiques sont </a:t>
            </a:r>
            <a:r>
              <a:rPr lang="fr-FR" sz="2900" dirty="0"/>
              <a:t>:</a:t>
            </a:r>
          </a:p>
          <a:p>
            <a:pPr marL="898525" indent="-457200"/>
            <a:r>
              <a:rPr lang="fr-FR" sz="2900" dirty="0"/>
              <a:t>+ : addition ;</a:t>
            </a:r>
          </a:p>
          <a:p>
            <a:pPr marL="898525" indent="-457200"/>
            <a:r>
              <a:rPr lang="fr-FR" sz="2900" dirty="0"/>
              <a:t>- : soustraction ;</a:t>
            </a:r>
          </a:p>
          <a:p>
            <a:pPr marL="898525" indent="-457200"/>
            <a:r>
              <a:rPr lang="fr-FR" sz="2900" dirty="0"/>
              <a:t>\* : multiplication ;</a:t>
            </a:r>
          </a:p>
          <a:p>
            <a:pPr marL="898525" indent="-457200"/>
            <a:r>
              <a:rPr lang="fr-FR" sz="2900" dirty="0"/>
              <a:t>/ : division entière ;</a:t>
            </a:r>
          </a:p>
          <a:p>
            <a:pPr marL="898525" indent="-457200"/>
            <a:r>
              <a:rPr lang="fr-FR" sz="2900" dirty="0"/>
              <a:t>% : reste de la division ;</a:t>
            </a:r>
          </a:p>
          <a:p>
            <a:pPr marL="898525" indent="-457200"/>
            <a:r>
              <a:rPr lang="fr-FR" sz="2900" dirty="0"/>
              <a:t>\( et \) : parenthèses.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5712" t="34643" r="50204" b="29802"/>
          <a:stretch/>
        </p:blipFill>
        <p:spPr>
          <a:xfrm>
            <a:off x="6276304" y="3739320"/>
            <a:ext cx="6478160" cy="380123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49938" t="39400" r="16048" b="43323"/>
          <a:stretch/>
        </p:blipFill>
        <p:spPr>
          <a:xfrm>
            <a:off x="6276304" y="7601079"/>
            <a:ext cx="6478160" cy="185090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04954207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 err="1">
                <a:latin typeface="Palatino"/>
              </a:rPr>
              <a:t>expr</a:t>
            </a:r>
            <a:r>
              <a:rPr lang="fr-FR" sz="5400" dirty="0">
                <a:latin typeface="Palatino"/>
              </a:rPr>
              <a:t> : Manipulation des chaînes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2530253"/>
            <a:ext cx="11585263" cy="55303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-952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dirty="0"/>
              <a:t>Longueur de chaînes de caractères: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rgbClr val="002060"/>
                </a:solidFill>
              </a:rPr>
              <a:t>${#chaine}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rgbClr val="002060"/>
                </a:solidFill>
              </a:rPr>
              <a:t> </a:t>
            </a:r>
            <a:r>
              <a:rPr lang="fr-FR" sz="2800" dirty="0" err="1">
                <a:solidFill>
                  <a:srgbClr val="002060"/>
                </a:solidFill>
              </a:rPr>
              <a:t>expr</a:t>
            </a:r>
            <a:r>
              <a:rPr lang="fr-FR" sz="2800" dirty="0">
                <a:solidFill>
                  <a:srgbClr val="002060"/>
                </a:solidFill>
              </a:rPr>
              <a:t> </a:t>
            </a:r>
            <a:r>
              <a:rPr lang="fr-FR" sz="2800" dirty="0" err="1">
                <a:solidFill>
                  <a:srgbClr val="002060"/>
                </a:solidFill>
              </a:rPr>
              <a:t>length</a:t>
            </a:r>
            <a:r>
              <a:rPr lang="fr-FR" sz="2800" dirty="0">
                <a:solidFill>
                  <a:srgbClr val="002060"/>
                </a:solidFill>
              </a:rPr>
              <a:t> $chaine </a:t>
            </a:r>
          </a:p>
          <a:p>
            <a:pPr marL="0" indent="0">
              <a:buNone/>
            </a:pPr>
            <a:endParaRPr lang="fr-FR" sz="12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12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2800" dirty="0"/>
              <a:t>Longueur de sous-chaînes correspondant à un motif au début d'une chaîne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 err="1">
                <a:solidFill>
                  <a:srgbClr val="002060"/>
                </a:solidFill>
              </a:rPr>
              <a:t>expr</a:t>
            </a:r>
            <a:r>
              <a:rPr lang="fr-FR" sz="2800" dirty="0">
                <a:solidFill>
                  <a:srgbClr val="002060"/>
                </a:solidFill>
              </a:rPr>
              <a:t> match "$chaine" '$</a:t>
            </a:r>
            <a:r>
              <a:rPr lang="fr-FR" sz="2800" dirty="0" err="1">
                <a:solidFill>
                  <a:srgbClr val="002060"/>
                </a:solidFill>
              </a:rPr>
              <a:t>souschaine</a:t>
            </a:r>
            <a:r>
              <a:rPr lang="fr-FR" sz="2800" dirty="0">
                <a:solidFill>
                  <a:srgbClr val="002060"/>
                </a:solidFill>
              </a:rPr>
              <a:t>‘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 err="1">
                <a:solidFill>
                  <a:srgbClr val="002060"/>
                </a:solidFill>
              </a:rPr>
              <a:t>expr</a:t>
            </a:r>
            <a:r>
              <a:rPr lang="fr-FR" sz="2800" dirty="0">
                <a:solidFill>
                  <a:srgbClr val="002060"/>
                </a:solidFill>
              </a:rPr>
              <a:t> "$chaine" : '$</a:t>
            </a:r>
            <a:r>
              <a:rPr lang="fr-FR" sz="2800" dirty="0" err="1">
                <a:solidFill>
                  <a:srgbClr val="002060"/>
                </a:solidFill>
              </a:rPr>
              <a:t>souschaine</a:t>
            </a:r>
            <a:r>
              <a:rPr lang="fr-FR" sz="2800" dirty="0">
                <a:solidFill>
                  <a:srgbClr val="002060"/>
                </a:solidFill>
              </a:rPr>
              <a:t>'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49867" t="39024" r="15838" b="49959"/>
          <a:stretch/>
        </p:blipFill>
        <p:spPr>
          <a:xfrm>
            <a:off x="334851" y="4567765"/>
            <a:ext cx="6167549" cy="113334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49867" t="39400" r="15556" b="51586"/>
          <a:stretch/>
        </p:blipFill>
        <p:spPr>
          <a:xfrm>
            <a:off x="178873" y="8530929"/>
            <a:ext cx="6323527" cy="109255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l="15783" t="36270" r="50274" b="45577"/>
          <a:stretch/>
        </p:blipFill>
        <p:spPr>
          <a:xfrm>
            <a:off x="6502400" y="7805101"/>
            <a:ext cx="6477072" cy="194849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5783" t="36144" r="50274" b="44874"/>
          <a:stretch/>
        </p:blipFill>
        <p:spPr>
          <a:xfrm>
            <a:off x="6502400" y="2959618"/>
            <a:ext cx="6207616" cy="195258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58031134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 err="1">
                <a:latin typeface="Palatino"/>
              </a:rPr>
              <a:t>expr</a:t>
            </a:r>
            <a:r>
              <a:rPr lang="fr-FR" sz="5400" dirty="0">
                <a:latin typeface="Palatino"/>
              </a:rPr>
              <a:t> : Manipulation des chaînes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552" y="2059546"/>
            <a:ext cx="11988800" cy="399084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FR" sz="2800" dirty="0"/>
              <a:t>Extraction d'une sous-chaîne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b="1" dirty="0" err="1">
                <a:solidFill>
                  <a:srgbClr val="002060"/>
                </a:solidFill>
              </a:rPr>
              <a:t>expr</a:t>
            </a:r>
            <a:r>
              <a:rPr lang="fr-FR" sz="2800" b="1" dirty="0">
                <a:solidFill>
                  <a:srgbClr val="002060"/>
                </a:solidFill>
              </a:rPr>
              <a:t> </a:t>
            </a:r>
            <a:r>
              <a:rPr lang="fr-FR" sz="2800" b="1" dirty="0" err="1">
                <a:solidFill>
                  <a:srgbClr val="002060"/>
                </a:solidFill>
              </a:rPr>
              <a:t>substr</a:t>
            </a:r>
            <a:r>
              <a:rPr lang="fr-FR" sz="2800" b="1" dirty="0">
                <a:solidFill>
                  <a:srgbClr val="002060"/>
                </a:solidFill>
              </a:rPr>
              <a:t> $chaine $position $longueur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/>
              <a:t>Extrait $longueur caractères à partir de $chaine en commençant à $position.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5924" t="36145" r="50344" b="42572"/>
          <a:stretch/>
        </p:blipFill>
        <p:spPr>
          <a:xfrm>
            <a:off x="321971" y="5640945"/>
            <a:ext cx="6495577" cy="230531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49867" t="39024" r="15838" b="51086"/>
          <a:stretch/>
        </p:blipFill>
        <p:spPr>
          <a:xfrm>
            <a:off x="5759421" y="7377750"/>
            <a:ext cx="7009268" cy="113702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39625827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 err="1">
                <a:latin typeface="Palatino"/>
              </a:rPr>
              <a:t>expr</a:t>
            </a:r>
            <a:r>
              <a:rPr lang="fr-FR" sz="5400" dirty="0">
                <a:latin typeface="Palatino"/>
              </a:rPr>
              <a:t> : manipulation des chaînes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5377" y="3891676"/>
            <a:ext cx="11799910" cy="36538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8700" tIns="52371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fr-FR" sz="2400" dirty="0"/>
              <a:t>Remplacement de sous-chaîne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lang="fr-FR" sz="2400" dirty="0"/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002060"/>
                </a:solidFill>
              </a:rPr>
              <a:t>$ {chaine/</a:t>
            </a:r>
            <a:r>
              <a:rPr lang="fr-FR" sz="2400" b="1" dirty="0" err="1">
                <a:solidFill>
                  <a:srgbClr val="002060"/>
                </a:solidFill>
              </a:rPr>
              <a:t>souschaine</a:t>
            </a:r>
            <a:r>
              <a:rPr lang="fr-FR" sz="2400" b="1" dirty="0">
                <a:solidFill>
                  <a:srgbClr val="002060"/>
                </a:solidFill>
              </a:rPr>
              <a:t>/remplacement}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fr-FR" sz="2400" dirty="0"/>
          </a:p>
          <a:p>
            <a:pPr marL="1397000" lvl="3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fr-FR" sz="2400" dirty="0"/>
              <a:t>Remplace la première correspondance de $</a:t>
            </a:r>
            <a:r>
              <a:rPr lang="fr-FR" sz="2400" dirty="0" err="1"/>
              <a:t>souschaine</a:t>
            </a:r>
            <a:r>
              <a:rPr lang="fr-FR" sz="2400" dirty="0"/>
              <a:t> par $remplacement.</a:t>
            </a:r>
          </a:p>
          <a:p>
            <a:pPr marL="1397000" lvl="3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fr-FR" sz="2400" dirty="0"/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fr-FR" sz="2400" b="1" dirty="0">
                <a:solidFill>
                  <a:srgbClr val="002060"/>
                </a:solidFill>
              </a:rPr>
              <a:t>$ {chaine//</a:t>
            </a:r>
            <a:r>
              <a:rPr lang="fr-FR" sz="2400" b="1" dirty="0" err="1">
                <a:solidFill>
                  <a:srgbClr val="002060"/>
                </a:solidFill>
              </a:rPr>
              <a:t>souschaine</a:t>
            </a:r>
            <a:r>
              <a:rPr lang="fr-FR" sz="2400" b="1" dirty="0">
                <a:solidFill>
                  <a:srgbClr val="002060"/>
                </a:solidFill>
              </a:rPr>
              <a:t>/remplacement}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fr-FR" sz="2400" dirty="0"/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fr-FR" sz="2400" dirty="0"/>
              <a:t>Remplace toutes les correspondances de $</a:t>
            </a:r>
            <a:r>
              <a:rPr lang="fr-FR" sz="2400" dirty="0" err="1"/>
              <a:t>souschaine</a:t>
            </a:r>
            <a:r>
              <a:rPr lang="fr-FR" sz="2400" dirty="0"/>
              <a:t> avec $remplacement.</a:t>
            </a:r>
            <a:endParaRPr kumimoji="0" lang="fr-FR" sz="12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5853" t="34768" r="50274" b="32431"/>
          <a:stretch/>
        </p:blipFill>
        <p:spPr>
          <a:xfrm>
            <a:off x="7463194" y="2415637"/>
            <a:ext cx="5336229" cy="290663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49938" t="39150" r="15907" b="51586"/>
          <a:stretch/>
        </p:blipFill>
        <p:spPr>
          <a:xfrm>
            <a:off x="1139371" y="7830396"/>
            <a:ext cx="9583057" cy="1679506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82628401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Espace réservé du contenu 2"/>
          <p:cNvSpPr>
            <a:spLocks noGrp="1"/>
          </p:cNvSpPr>
          <p:nvPr>
            <p:ph idx="1"/>
          </p:nvPr>
        </p:nvSpPr>
        <p:spPr>
          <a:xfrm>
            <a:off x="1396713" y="2184539"/>
            <a:ext cx="11426613" cy="538452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3200" dirty="0"/>
              <a:t>La fonction </a:t>
            </a:r>
            <a:r>
              <a:rPr lang="fr-FR" sz="3200" b="1" dirty="0">
                <a:solidFill>
                  <a:srgbClr val="00B0F0"/>
                </a:solidFill>
              </a:rPr>
              <a:t>test</a:t>
            </a:r>
            <a:r>
              <a:rPr lang="fr-FR" sz="3200" dirty="0"/>
              <a:t> permet d’exprimer une condition ou plusieurs: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38" dirty="0"/>
              <a:t>Sur des fichiers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38" dirty="0"/>
              <a:t>Sur des nombres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38" dirty="0"/>
              <a:t>Sur des chaînes de caractères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500" y="394903"/>
            <a:ext cx="12778740" cy="203132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fr-FR" sz="5400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Les structures conditionnelles  </a:t>
            </a:r>
            <a:r>
              <a:rPr lang="fr-FR" sz="5400" b="1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768304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Espace réservé du contenu 2"/>
          <p:cNvSpPr>
            <a:spLocks noGrp="1"/>
          </p:cNvSpPr>
          <p:nvPr>
            <p:ph idx="1"/>
          </p:nvPr>
        </p:nvSpPr>
        <p:spPr>
          <a:xfrm>
            <a:off x="649953" y="2235479"/>
            <a:ext cx="11426613" cy="7517610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endParaRPr lang="fr-FR" sz="2838" dirty="0"/>
          </a:p>
          <a:p>
            <a:pPr>
              <a:buFont typeface="Arial" charset="0"/>
              <a:buNone/>
            </a:pPr>
            <a:r>
              <a:rPr lang="fr-FR" sz="2800" dirty="0"/>
              <a:t>	</a:t>
            </a: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 </a:t>
            </a:r>
            <a:r>
              <a:rPr lang="fr-FR" sz="2800" dirty="0">
                <a:solidFill>
                  <a:srgbClr val="00B050"/>
                </a:solidFill>
              </a:rPr>
              <a:t>-e  </a:t>
            </a:r>
            <a:r>
              <a:rPr lang="fr-FR" sz="2800" dirty="0"/>
              <a:t>&lt;</a:t>
            </a:r>
            <a:r>
              <a:rPr lang="fr-FR" sz="2800" dirty="0" err="1"/>
              <a:t>nom_fichier</a:t>
            </a:r>
            <a:r>
              <a:rPr lang="fr-FR" sz="2800" dirty="0"/>
              <a:t>&gt; : vrai si l’argument existe</a:t>
            </a:r>
          </a:p>
          <a:p>
            <a:pPr>
              <a:buFont typeface="Arial" charset="0"/>
              <a:buNone/>
            </a:pPr>
            <a:r>
              <a:rPr lang="fr-FR" sz="2800" dirty="0">
                <a:solidFill>
                  <a:srgbClr val="FF0000"/>
                </a:solidFill>
              </a:rPr>
              <a:t>     </a:t>
            </a: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>
                <a:solidFill>
                  <a:srgbClr val="FF0000"/>
                </a:solidFill>
              </a:rPr>
              <a:t>  </a:t>
            </a:r>
            <a:r>
              <a:rPr lang="fr-FR" sz="2800" dirty="0">
                <a:solidFill>
                  <a:srgbClr val="00B050"/>
                </a:solidFill>
              </a:rPr>
              <a:t>-f  </a:t>
            </a:r>
            <a:r>
              <a:rPr lang="fr-FR" sz="2800" dirty="0"/>
              <a:t>&lt;</a:t>
            </a:r>
            <a:r>
              <a:rPr lang="fr-FR" sz="2800" dirty="0" err="1"/>
              <a:t>nom_fichier</a:t>
            </a:r>
            <a:r>
              <a:rPr lang="fr-FR" sz="2800" dirty="0"/>
              <a:t>&gt; : vrai si l’argument est un fichier ordinaire</a:t>
            </a:r>
          </a:p>
          <a:p>
            <a:pPr>
              <a:buFont typeface="Arial" charset="0"/>
              <a:buNone/>
            </a:pPr>
            <a:r>
              <a:rPr lang="fr-FR" sz="2800" dirty="0"/>
              <a:t>     </a:t>
            </a: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</a:t>
            </a:r>
            <a:r>
              <a:rPr lang="fr-FR" sz="2800" dirty="0">
                <a:solidFill>
                  <a:srgbClr val="00B050"/>
                </a:solidFill>
              </a:rPr>
              <a:t> -d </a:t>
            </a:r>
            <a:r>
              <a:rPr lang="fr-FR" sz="2800" dirty="0"/>
              <a:t>&lt;</a:t>
            </a:r>
            <a:r>
              <a:rPr lang="fr-FR" sz="2800" dirty="0" err="1"/>
              <a:t>nom_fichier</a:t>
            </a:r>
            <a:r>
              <a:rPr lang="fr-FR" sz="2800" dirty="0"/>
              <a:t>&gt; : vrai si l’argument est un répertoire</a:t>
            </a:r>
          </a:p>
          <a:p>
            <a:pPr>
              <a:buFont typeface="Arial" charset="0"/>
              <a:buNone/>
            </a:pPr>
            <a:r>
              <a:rPr lang="fr-FR" sz="2800" dirty="0"/>
              <a:t>     </a:t>
            </a: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 </a:t>
            </a:r>
            <a:r>
              <a:rPr lang="fr-FR" sz="2800" dirty="0">
                <a:solidFill>
                  <a:srgbClr val="00B050"/>
                </a:solidFill>
              </a:rPr>
              <a:t>-L </a:t>
            </a:r>
            <a:r>
              <a:rPr lang="fr-FR" sz="2800" dirty="0"/>
              <a:t>&lt;</a:t>
            </a:r>
            <a:r>
              <a:rPr lang="fr-FR" sz="2800" dirty="0" err="1"/>
              <a:t>nom_fichier</a:t>
            </a:r>
            <a:r>
              <a:rPr lang="fr-FR" sz="2800" dirty="0"/>
              <a:t>&gt; : vrai si l’argument est un lien symbolique</a:t>
            </a:r>
          </a:p>
          <a:p>
            <a:pPr>
              <a:buFont typeface="Arial" charset="0"/>
              <a:buNone/>
            </a:pPr>
            <a:r>
              <a:rPr lang="fr-FR" sz="2800" dirty="0"/>
              <a:t>	</a:t>
            </a: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 </a:t>
            </a:r>
            <a:r>
              <a:rPr lang="fr-FR" sz="2800" dirty="0">
                <a:solidFill>
                  <a:srgbClr val="00B050"/>
                </a:solidFill>
              </a:rPr>
              <a:t>-r </a:t>
            </a:r>
            <a:r>
              <a:rPr lang="fr-FR" sz="2800" dirty="0"/>
              <a:t>&lt;</a:t>
            </a:r>
            <a:r>
              <a:rPr lang="fr-FR" sz="2800" dirty="0" err="1"/>
              <a:t>nom_fichier</a:t>
            </a:r>
            <a:r>
              <a:rPr lang="fr-FR" sz="2800" dirty="0"/>
              <a:t>&gt; : vrai si on a le droit de lire le fichier</a:t>
            </a:r>
          </a:p>
          <a:p>
            <a:pPr>
              <a:buFont typeface="Arial" charset="0"/>
              <a:buNone/>
            </a:pPr>
            <a:r>
              <a:rPr lang="fr-FR" sz="2800" dirty="0"/>
              <a:t>	</a:t>
            </a: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 </a:t>
            </a:r>
            <a:r>
              <a:rPr lang="fr-FR" sz="2800" dirty="0">
                <a:solidFill>
                  <a:srgbClr val="00B050"/>
                </a:solidFill>
              </a:rPr>
              <a:t>-x </a:t>
            </a:r>
            <a:r>
              <a:rPr lang="fr-FR" sz="2800" dirty="0"/>
              <a:t>&lt;</a:t>
            </a:r>
            <a:r>
              <a:rPr lang="fr-FR" sz="2800" dirty="0" err="1"/>
              <a:t>nom_ficher</a:t>
            </a:r>
            <a:r>
              <a:rPr lang="fr-FR" sz="2800" dirty="0"/>
              <a:t>&gt; : vrai si on a le droit d’exécuter le fichier</a:t>
            </a:r>
          </a:p>
          <a:p>
            <a:pPr>
              <a:buFont typeface="Arial" charset="0"/>
              <a:buNone/>
            </a:pPr>
            <a:r>
              <a:rPr lang="fr-FR" sz="2800" dirty="0"/>
              <a:t>	</a:t>
            </a: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 </a:t>
            </a:r>
            <a:r>
              <a:rPr lang="fr-FR" sz="2800" dirty="0">
                <a:solidFill>
                  <a:srgbClr val="00B050"/>
                </a:solidFill>
              </a:rPr>
              <a:t>-w </a:t>
            </a:r>
            <a:r>
              <a:rPr lang="fr-FR" sz="2800" dirty="0"/>
              <a:t>&lt;</a:t>
            </a:r>
            <a:r>
              <a:rPr lang="fr-FR" sz="2800" dirty="0" err="1"/>
              <a:t>nom_ficher</a:t>
            </a:r>
            <a:r>
              <a:rPr lang="fr-FR" sz="2800" dirty="0"/>
              <a:t>&gt; : vrai si on a le droit d’écrire dans le fichier</a:t>
            </a:r>
          </a:p>
          <a:p>
            <a:pPr>
              <a:buFont typeface="Arial" charset="0"/>
              <a:buNone/>
            </a:pPr>
            <a:r>
              <a:rPr lang="fr-FR" sz="2800" dirty="0"/>
              <a:t>     </a:t>
            </a: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 </a:t>
            </a:r>
            <a:r>
              <a:rPr lang="fr-FR" sz="2800" dirty="0">
                <a:solidFill>
                  <a:srgbClr val="00B050"/>
                </a:solidFill>
              </a:rPr>
              <a:t>-s </a:t>
            </a:r>
            <a:r>
              <a:rPr lang="fr-FR" sz="2800" dirty="0"/>
              <a:t>&lt;</a:t>
            </a:r>
            <a:r>
              <a:rPr lang="fr-FR" sz="2800" dirty="0" err="1"/>
              <a:t>nom_fichier</a:t>
            </a:r>
            <a:r>
              <a:rPr lang="fr-FR" sz="2800" dirty="0"/>
              <a:t>&gt; : vrai si l’argument existe et non vide </a:t>
            </a:r>
            <a:r>
              <a:rPr lang="fr-FR" sz="2838" dirty="0"/>
              <a:t>	</a:t>
            </a:r>
          </a:p>
          <a:p>
            <a:pPr>
              <a:buFont typeface="Arial" charset="0"/>
              <a:buNone/>
            </a:pPr>
            <a:endParaRPr lang="fr-FR" sz="2838" dirty="0"/>
          </a:p>
        </p:txBody>
      </p:sp>
      <p:sp>
        <p:nvSpPr>
          <p:cNvPr id="8" name="Espace réservé du numéro de diapositive 7"/>
          <p:cNvSpPr txBox="1">
            <a:spLocks noGrp="1"/>
          </p:cNvSpPr>
          <p:nvPr/>
        </p:nvSpPr>
        <p:spPr>
          <a:xfrm>
            <a:off x="11176035" y="9132299"/>
            <a:ext cx="1727166" cy="519235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lIns="130032" tIns="65016" rIns="130032" bIns="65016" anchor="ctr"/>
          <a:lstStyle/>
          <a:p>
            <a:pPr algn="r">
              <a:defRPr/>
            </a:pPr>
            <a:r>
              <a:rPr lang="fr-BE" sz="1935" b="1" dirty="0">
                <a:solidFill>
                  <a:schemeClr val="bg1"/>
                </a:solidFill>
                <a:latin typeface="+mn-lt"/>
                <a:cs typeface="+mn-cs"/>
              </a:rPr>
              <a:t>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19741"/>
            <a:ext cx="12237719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fr-FR" sz="4800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Les structures conditionnelles </a:t>
            </a:r>
            <a:r>
              <a:rPr lang="fr-FR" sz="4800" b="1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test</a:t>
            </a:r>
            <a:r>
              <a:rPr lang="fr-FR" sz="4800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 sur les fichiers (1/2)</a:t>
            </a:r>
          </a:p>
        </p:txBody>
      </p:sp>
    </p:spTree>
    <p:extLst>
      <p:ext uri="{BB962C8B-B14F-4D97-AF65-F5344CB8AC3E}">
        <p14:creationId xmlns:p14="http://schemas.microsoft.com/office/powerpoint/2010/main" val="1979174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450" y="2933700"/>
            <a:ext cx="10185400" cy="56959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6300" y="996790"/>
            <a:ext cx="11544299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600"/>
              </a:spcBef>
            </a:pPr>
            <a:r>
              <a:rPr lang="fr-FR" sz="4800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Les structures conditionnelles  </a:t>
            </a:r>
            <a:r>
              <a:rPr lang="fr-FR" sz="4800" b="1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test</a:t>
            </a:r>
            <a:r>
              <a:rPr lang="fr-FR" sz="4800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 sur les fichiers (2/2)</a:t>
            </a:r>
          </a:p>
        </p:txBody>
      </p:sp>
      <p:grpSp>
        <p:nvGrpSpPr>
          <p:cNvPr id="11" name="Groupe 10"/>
          <p:cNvGrpSpPr/>
          <p:nvPr/>
        </p:nvGrpSpPr>
        <p:grpSpPr>
          <a:xfrm>
            <a:off x="4210050" y="4991100"/>
            <a:ext cx="6248400" cy="1371600"/>
            <a:chOff x="4210050" y="4933950"/>
            <a:chExt cx="6248400" cy="1371600"/>
          </a:xfrm>
        </p:grpSpPr>
        <p:sp>
          <p:nvSpPr>
            <p:cNvPr id="7" name="Rectangle 6"/>
            <p:cNvSpPr/>
            <p:nvPr/>
          </p:nvSpPr>
          <p:spPr>
            <a:xfrm>
              <a:off x="7677150" y="5153025"/>
              <a:ext cx="2781300" cy="1152525"/>
            </a:xfrm>
            <a:prstGeom prst="rect">
              <a:avLst/>
            </a:prstGeom>
            <a:noFill/>
            <a:ln w="28575" cap="flat">
              <a:solidFill>
                <a:srgbClr val="FF000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fr-FR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25400" dist="33948" dir="2700000" rotWithShape="0">
                    <a:srgbClr val="3B3936"/>
                  </a:outerShdw>
                </a:effectLst>
                <a:uFillTx/>
                <a:latin typeface="Palatino"/>
                <a:ea typeface="Palatino"/>
                <a:cs typeface="Palatino"/>
                <a:sym typeface="Palatino"/>
              </a:endParaRPr>
            </a:p>
          </p:txBody>
        </p:sp>
        <p:grpSp>
          <p:nvGrpSpPr>
            <p:cNvPr id="10" name="Groupe 9"/>
            <p:cNvGrpSpPr/>
            <p:nvPr/>
          </p:nvGrpSpPr>
          <p:grpSpPr>
            <a:xfrm>
              <a:off x="4210050" y="4933950"/>
              <a:ext cx="6248400" cy="1290498"/>
              <a:chOff x="4210050" y="4991100"/>
              <a:chExt cx="6248400" cy="1290498"/>
            </a:xfrm>
          </p:grpSpPr>
          <p:sp>
            <p:nvSpPr>
              <p:cNvPr id="2" name="Ellipse 1"/>
              <p:cNvSpPr/>
              <p:nvPr/>
            </p:nvSpPr>
            <p:spPr>
              <a:xfrm>
                <a:off x="4210050" y="4991100"/>
                <a:ext cx="1257300" cy="323850"/>
              </a:xfrm>
              <a:prstGeom prst="ellipse">
                <a:avLst/>
              </a:prstGeom>
              <a:noFill/>
              <a:ln w="28575" cap="flat">
                <a:solidFill>
                  <a:srgbClr val="FF0000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fr-FR" sz="32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25400" dist="33948" dir="2700000" rotWithShape="0">
                      <a:srgbClr val="3B3936"/>
                    </a:outerShdw>
                  </a:effectLst>
                  <a:uFillTx/>
                  <a:latin typeface="Palatino"/>
                  <a:ea typeface="Palatino"/>
                  <a:cs typeface="Palatino"/>
                  <a:sym typeface="Palatino"/>
                </a:endParaRPr>
              </a:p>
            </p:txBody>
          </p:sp>
          <p:cxnSp>
            <p:nvCxnSpPr>
              <p:cNvPr id="6" name="Connecteur en angle 5"/>
              <p:cNvCxnSpPr>
                <a:stCxn id="2" idx="6"/>
              </p:cNvCxnSpPr>
              <p:nvPr/>
            </p:nvCxnSpPr>
            <p:spPr>
              <a:xfrm>
                <a:off x="5467350" y="5153025"/>
                <a:ext cx="2209800" cy="628650"/>
              </a:xfrm>
              <a:prstGeom prst="bentConnector3">
                <a:avLst/>
              </a:prstGeom>
              <a:noFill/>
              <a:ln w="28575" cap="flat">
                <a:solidFill>
                  <a:srgbClr val="FF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9" name="ZoneTexte 8"/>
              <p:cNvSpPr txBox="1"/>
              <p:nvPr/>
            </p:nvSpPr>
            <p:spPr>
              <a:xfrm>
                <a:off x="7677150" y="5194121"/>
                <a:ext cx="2781300" cy="10874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sz="1600" b="0" i="0" u="none" strike="noStrike" cap="none" spc="0" normalizeH="0" baseline="0" dirty="0">
                    <a:solidFill>
                      <a:srgbClr val="FF0000"/>
                    </a:solidFill>
                    <a:effectLst/>
                    <a:uFillTx/>
                    <a:latin typeface="Palatino"/>
                    <a:ea typeface="Palatino"/>
                    <a:cs typeface="Palatino"/>
                    <a:sym typeface="Palatino"/>
                  </a:rPr>
                  <a:t>Afficher</a:t>
                </a:r>
                <a:r>
                  <a:rPr kumimoji="0" lang="fr-FR" sz="1600" b="0" i="0" u="none" strike="noStrike" cap="none" spc="0" normalizeH="0" dirty="0">
                    <a:solidFill>
                      <a:srgbClr val="FF0000"/>
                    </a:solidFill>
                    <a:effectLst/>
                    <a:uFillTx/>
                    <a:latin typeface="Palatino"/>
                    <a:ea typeface="Palatino"/>
                    <a:cs typeface="Palatino"/>
                    <a:sym typeface="Palatino"/>
                  </a:rPr>
                  <a:t> </a:t>
                </a:r>
                <a:r>
                  <a:rPr kumimoji="0" lang="fr-FR" sz="1600" b="0" i="0" u="none" strike="noStrike" cap="none" spc="0" normalizeH="0" baseline="0" dirty="0">
                    <a:solidFill>
                      <a:srgbClr val="FF0000"/>
                    </a:solidFill>
                    <a:effectLst/>
                    <a:uFillTx/>
                    <a:latin typeface="Palatino"/>
                    <a:ea typeface="Palatino"/>
                    <a:cs typeface="Palatino"/>
                    <a:sym typeface="Palatino"/>
                  </a:rPr>
                  <a:t>le code de retour de la fonction test</a:t>
                </a: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fr-FR" sz="1600" dirty="0">
                    <a:solidFill>
                      <a:srgbClr val="FF0000"/>
                    </a:solidFill>
                  </a:rPr>
                  <a:t>0: test vrai</a:t>
                </a:r>
              </a:p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sz="1600" b="0" i="0" u="none" strike="noStrike" cap="none" spc="0" normalizeH="0" baseline="0" dirty="0">
                    <a:solidFill>
                      <a:srgbClr val="FF0000"/>
                    </a:solidFill>
                    <a:effectLst/>
                    <a:uFillTx/>
                    <a:latin typeface="Palatino"/>
                    <a:ea typeface="Palatino"/>
                    <a:cs typeface="Palatino"/>
                    <a:sym typeface="Palatino"/>
                  </a:rPr>
                  <a:t> 1:</a:t>
                </a:r>
                <a:r>
                  <a:rPr kumimoji="0" lang="fr-FR" sz="1600" b="0" i="0" u="none" strike="noStrike" cap="none" spc="0" normalizeH="0" dirty="0">
                    <a:solidFill>
                      <a:srgbClr val="FF0000"/>
                    </a:solidFill>
                    <a:effectLst/>
                    <a:uFillTx/>
                    <a:latin typeface="Palatino"/>
                    <a:ea typeface="Palatino"/>
                    <a:cs typeface="Palatino"/>
                    <a:sym typeface="Palatino"/>
                  </a:rPr>
                  <a:t> test faux</a:t>
                </a:r>
                <a:endParaRPr kumimoji="0" lang="fr-FR" sz="1600" b="0" i="0" u="none" strike="noStrike" cap="none" spc="0" normalizeH="0" baseline="0" dirty="0">
                  <a:solidFill>
                    <a:srgbClr val="FF0000"/>
                  </a:solidFill>
                  <a:effectLst/>
                  <a:uFillTx/>
                  <a:latin typeface="Palatino"/>
                  <a:ea typeface="Palatino"/>
                  <a:cs typeface="Palatino"/>
                  <a:sym typeface="Palatin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525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Espace réservé du contenu 2"/>
          <p:cNvSpPr>
            <a:spLocks noGrp="1"/>
          </p:cNvSpPr>
          <p:nvPr>
            <p:ph idx="1"/>
          </p:nvPr>
        </p:nvSpPr>
        <p:spPr>
          <a:xfrm>
            <a:off x="835745" y="2902281"/>
            <a:ext cx="11426613" cy="6477668"/>
          </a:xfrm>
        </p:spPr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fr-FR" sz="2800" dirty="0"/>
              <a:t>Pour les expressions arithmétiques, les opérateurs sont:</a:t>
            </a:r>
          </a:p>
          <a:p>
            <a:pPr>
              <a:buFont typeface="Arial" charset="0"/>
              <a:buNone/>
            </a:pPr>
            <a:r>
              <a:rPr lang="fr-FR" sz="2800" dirty="0"/>
              <a:t>		</a:t>
            </a:r>
            <a:r>
              <a:rPr lang="fr-FR" sz="2800" dirty="0">
                <a:solidFill>
                  <a:srgbClr val="00B050"/>
                </a:solidFill>
              </a:rPr>
              <a:t>- </a:t>
            </a:r>
            <a:r>
              <a:rPr lang="fr-FR" sz="2800" dirty="0" err="1">
                <a:solidFill>
                  <a:srgbClr val="00B050"/>
                </a:solidFill>
              </a:rPr>
              <a:t>eq</a:t>
            </a:r>
            <a:r>
              <a:rPr lang="fr-FR" sz="2800" dirty="0">
                <a:solidFill>
                  <a:srgbClr val="00B050"/>
                </a:solidFill>
              </a:rPr>
              <a:t> , -ne, - </a:t>
            </a:r>
            <a:r>
              <a:rPr lang="fr-FR" sz="2800" dirty="0" err="1">
                <a:solidFill>
                  <a:srgbClr val="00B050"/>
                </a:solidFill>
              </a:rPr>
              <a:t>lt</a:t>
            </a:r>
            <a:r>
              <a:rPr lang="fr-FR" sz="2800" dirty="0">
                <a:solidFill>
                  <a:srgbClr val="00B050"/>
                </a:solidFill>
              </a:rPr>
              <a:t>, -le, -gt ,-</a:t>
            </a:r>
            <a:r>
              <a:rPr lang="fr-FR" sz="2800" dirty="0" err="1">
                <a:solidFill>
                  <a:srgbClr val="00B050"/>
                </a:solidFill>
              </a:rPr>
              <a:t>ge</a:t>
            </a:r>
            <a:endParaRPr lang="fr-FR" sz="2800" dirty="0">
              <a:solidFill>
                <a:srgbClr val="00B050"/>
              </a:solidFill>
            </a:endParaRPr>
          </a:p>
          <a:p>
            <a:pPr>
              <a:buFont typeface="Arial" charset="0"/>
              <a:buNone/>
            </a:pPr>
            <a:r>
              <a:rPr lang="fr-FR" sz="2800" dirty="0"/>
              <a:t>équivalent, différent, inférieur strictement, inférieur ou égale, supérieur strictement, supérieur ou égale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"i1" </a:t>
            </a:r>
            <a:r>
              <a:rPr lang="fr-FR" sz="2800" dirty="0">
                <a:solidFill>
                  <a:srgbClr val="00B050"/>
                </a:solidFill>
              </a:rPr>
              <a:t>-</a:t>
            </a:r>
            <a:r>
              <a:rPr lang="fr-FR" sz="2800" dirty="0" err="1">
                <a:solidFill>
                  <a:srgbClr val="00B050"/>
                </a:solidFill>
              </a:rPr>
              <a:t>eq</a:t>
            </a:r>
            <a:r>
              <a:rPr lang="fr-FR" sz="2800" dirty="0">
                <a:solidFill>
                  <a:srgbClr val="00B050"/>
                </a:solidFill>
              </a:rPr>
              <a:t> </a:t>
            </a:r>
            <a:r>
              <a:rPr lang="fr-FR" sz="2800" dirty="0"/>
              <a:t>"i2": Teste si i1 est égal à i2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"i1" </a:t>
            </a:r>
            <a:r>
              <a:rPr lang="fr-FR" sz="2800" dirty="0">
                <a:solidFill>
                  <a:srgbClr val="00B050"/>
                </a:solidFill>
              </a:rPr>
              <a:t>-ne </a:t>
            </a:r>
            <a:r>
              <a:rPr lang="fr-FR" sz="2800" dirty="0"/>
              <a:t>"i2": Teste si i1 n'est pas égal à i2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"i1" </a:t>
            </a:r>
            <a:r>
              <a:rPr lang="fr-FR" sz="2800" dirty="0">
                <a:solidFill>
                  <a:srgbClr val="00B050"/>
                </a:solidFill>
              </a:rPr>
              <a:t>-gt </a:t>
            </a:r>
            <a:r>
              <a:rPr lang="fr-FR" sz="2800" dirty="0"/>
              <a:t>"i2": Teste si i1 est plus grand que i2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"i1" </a:t>
            </a:r>
            <a:r>
              <a:rPr lang="fr-FR" sz="2800" dirty="0">
                <a:solidFill>
                  <a:srgbClr val="00B050"/>
                </a:solidFill>
              </a:rPr>
              <a:t>-</a:t>
            </a:r>
            <a:r>
              <a:rPr lang="fr-FR" sz="2800" dirty="0" err="1">
                <a:solidFill>
                  <a:srgbClr val="00B050"/>
                </a:solidFill>
              </a:rPr>
              <a:t>lt</a:t>
            </a:r>
            <a:r>
              <a:rPr lang="fr-FR" sz="2800" dirty="0">
                <a:solidFill>
                  <a:srgbClr val="00B050"/>
                </a:solidFill>
              </a:rPr>
              <a:t> </a:t>
            </a:r>
            <a:r>
              <a:rPr lang="fr-FR" sz="2800" dirty="0"/>
              <a:t>"i2": Teste si i1 est inférieur à i2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"i1" </a:t>
            </a:r>
            <a:r>
              <a:rPr lang="fr-FR" sz="2800" dirty="0">
                <a:solidFill>
                  <a:srgbClr val="00B050"/>
                </a:solidFill>
              </a:rPr>
              <a:t>-</a:t>
            </a:r>
            <a:r>
              <a:rPr lang="fr-FR" sz="2800" dirty="0" err="1">
                <a:solidFill>
                  <a:srgbClr val="00B050"/>
                </a:solidFill>
              </a:rPr>
              <a:t>ge</a:t>
            </a:r>
            <a:r>
              <a:rPr lang="fr-FR" sz="2800" dirty="0">
                <a:solidFill>
                  <a:srgbClr val="00B050"/>
                </a:solidFill>
              </a:rPr>
              <a:t> </a:t>
            </a:r>
            <a:r>
              <a:rPr lang="fr-FR" sz="2800" dirty="0"/>
              <a:t>"i2": Teste si i1 est plus grand ou égal à i2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"i1" </a:t>
            </a:r>
            <a:r>
              <a:rPr lang="fr-FR" sz="2800" dirty="0">
                <a:solidFill>
                  <a:srgbClr val="00B050"/>
                </a:solidFill>
              </a:rPr>
              <a:t>-le </a:t>
            </a:r>
            <a:r>
              <a:rPr lang="fr-FR" sz="2800" dirty="0"/>
              <a:t>"i2": Teste si i1 est inférieur ou égal à i2</a:t>
            </a:r>
          </a:p>
          <a:p>
            <a:pPr>
              <a:buFont typeface="Arial" charset="0"/>
              <a:buNone/>
            </a:pPr>
            <a:endParaRPr lang="fr-FR" sz="2838" dirty="0"/>
          </a:p>
          <a:p>
            <a:pPr>
              <a:buFont typeface="Arial" charset="0"/>
              <a:buNone/>
            </a:pPr>
            <a:endParaRPr lang="fr-FR" sz="2838" dirty="0"/>
          </a:p>
        </p:txBody>
      </p:sp>
      <p:sp>
        <p:nvSpPr>
          <p:cNvPr id="5" name="Rectangle 4"/>
          <p:cNvSpPr/>
          <p:nvPr/>
        </p:nvSpPr>
        <p:spPr>
          <a:xfrm>
            <a:off x="278369" y="730090"/>
            <a:ext cx="124851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>
                <a:solidFill>
                  <a:srgbClr val="D93E2B"/>
                </a:solidFill>
                <a:ea typeface="+mn-ea"/>
                <a:cs typeface="+mn-cs"/>
              </a:rPr>
              <a:t>Les structures conditionnelles  </a:t>
            </a:r>
            <a:r>
              <a:rPr lang="fr-FR" sz="4800" b="1" dirty="0">
                <a:solidFill>
                  <a:srgbClr val="D93E2B"/>
                </a:solidFill>
                <a:ea typeface="+mn-ea"/>
                <a:cs typeface="+mn-cs"/>
              </a:rPr>
              <a:t>test</a:t>
            </a:r>
            <a:r>
              <a:rPr lang="fr-FR" sz="4800" dirty="0">
                <a:solidFill>
                  <a:srgbClr val="D93E2B"/>
                </a:solidFill>
                <a:ea typeface="+mn-ea"/>
                <a:cs typeface="+mn-cs"/>
              </a:rPr>
              <a:t> sur les nombres (1/2)</a:t>
            </a:r>
          </a:p>
        </p:txBody>
      </p:sp>
    </p:spTree>
    <p:extLst>
      <p:ext uri="{BB962C8B-B14F-4D97-AF65-F5344CB8AC3E}">
        <p14:creationId xmlns:p14="http://schemas.microsoft.com/office/powerpoint/2010/main" val="27318554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12" y="3205162"/>
            <a:ext cx="10103047" cy="43386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8369" y="730090"/>
            <a:ext cx="124851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>
                <a:solidFill>
                  <a:srgbClr val="D93E2B"/>
                </a:solidFill>
                <a:ea typeface="+mn-ea"/>
                <a:cs typeface="+mn-cs"/>
              </a:rPr>
              <a:t>Les structures conditionnelles  </a:t>
            </a:r>
            <a:r>
              <a:rPr lang="fr-FR" sz="4800" b="1" dirty="0">
                <a:solidFill>
                  <a:srgbClr val="D93E2B"/>
                </a:solidFill>
                <a:ea typeface="+mn-ea"/>
                <a:cs typeface="+mn-cs"/>
              </a:rPr>
              <a:t>test</a:t>
            </a:r>
            <a:r>
              <a:rPr lang="fr-FR" sz="4800" dirty="0">
                <a:solidFill>
                  <a:srgbClr val="D93E2B"/>
                </a:solidFill>
                <a:ea typeface="+mn-ea"/>
                <a:cs typeface="+mn-cs"/>
              </a:rPr>
              <a:t> sur les nombres (2/2)</a:t>
            </a:r>
          </a:p>
        </p:txBody>
      </p:sp>
    </p:spTree>
    <p:extLst>
      <p:ext uri="{BB962C8B-B14F-4D97-AF65-F5344CB8AC3E}">
        <p14:creationId xmlns:p14="http://schemas.microsoft.com/office/powerpoint/2010/main" val="755285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237914" y="1077698"/>
            <a:ext cx="12633536" cy="868352"/>
          </a:xfrm>
        </p:spPr>
        <p:txBody>
          <a:bodyPr>
            <a:noAutofit/>
          </a:bodyPr>
          <a:lstStyle/>
          <a:p>
            <a:r>
              <a:rPr lang="fr-FR" sz="4800" dirty="0">
                <a:latin typeface="Palatino"/>
              </a:rPr>
              <a:t>Les structures conditionnelles  </a:t>
            </a:r>
            <a:r>
              <a:rPr lang="fr-FR" sz="4800" b="1" dirty="0">
                <a:latin typeface="Palatino"/>
              </a:rPr>
              <a:t>test </a:t>
            </a:r>
            <a:r>
              <a:rPr lang="fr-FR" sz="4800" dirty="0">
                <a:latin typeface="Palatino"/>
              </a:rPr>
              <a:t>sur les chaînes de caractères (1/2)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1117204" y="3238500"/>
            <a:ext cx="10233855" cy="5200125"/>
          </a:xfrm>
        </p:spPr>
        <p:txBody>
          <a:bodyPr>
            <a:normAutofit/>
          </a:bodyPr>
          <a:lstStyle/>
          <a:p>
            <a:pPr marL="469900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sz="2800" dirty="0">
                <a:solidFill>
                  <a:srgbClr val="00B050"/>
                </a:solidFill>
              </a:rPr>
              <a:t>-n </a:t>
            </a:r>
            <a:r>
              <a:rPr lang="fr-FR" sz="2800" dirty="0"/>
              <a:t>"string" : Teste si la longueur de la chaîne string est différente de zéro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sz="2800" dirty="0">
                <a:solidFill>
                  <a:srgbClr val="00B050"/>
                </a:solidFill>
              </a:rPr>
              <a:t>-z </a:t>
            </a:r>
            <a:r>
              <a:rPr lang="fr-FR" sz="2800" dirty="0"/>
              <a:t>"string": Teste si la chaîne string est égale à zéro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"s1" </a:t>
            </a:r>
            <a:r>
              <a:rPr lang="fr-FR" sz="2800" dirty="0">
                <a:solidFill>
                  <a:srgbClr val="00B050"/>
                </a:solidFill>
              </a:rPr>
              <a:t>=</a:t>
            </a:r>
            <a:r>
              <a:rPr lang="fr-FR" sz="2800" dirty="0"/>
              <a:t> "s2": Teste si la chaîne s1 est égale à s2</a:t>
            </a:r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F0"/>
                </a:solidFill>
              </a:rPr>
              <a:t>test</a:t>
            </a:r>
            <a:r>
              <a:rPr lang="fr-FR" sz="2800" dirty="0"/>
              <a:t> "s1"  </a:t>
            </a:r>
            <a:r>
              <a:rPr lang="fr-FR" sz="2800" dirty="0">
                <a:solidFill>
                  <a:srgbClr val="00B050"/>
                </a:solidFill>
              </a:rPr>
              <a:t>!=</a:t>
            </a:r>
            <a:r>
              <a:rPr lang="fr-FR" sz="2800" dirty="0"/>
              <a:t>  "s2": Teste si la chaîne s1 n'est pas égale à s2</a:t>
            </a:r>
          </a:p>
        </p:txBody>
      </p:sp>
    </p:spTree>
    <p:extLst>
      <p:ext uri="{BB962C8B-B14F-4D97-AF65-F5344CB8AC3E}">
        <p14:creationId xmlns:p14="http://schemas.microsoft.com/office/powerpoint/2010/main" val="3924227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37914" y="1077698"/>
            <a:ext cx="12633536" cy="868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0" marR="0" indent="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1pPr>
            <a:lvl2pPr marL="0" marR="0" indent="2286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2pPr>
            <a:lvl3pPr marL="0" marR="0" indent="4572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3pPr>
            <a:lvl4pPr marL="0" marR="0" indent="6858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4pPr>
            <a:lvl5pPr marL="0" marR="0" indent="9144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5pPr>
            <a:lvl6pPr marL="0" marR="0" indent="11430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6pPr>
            <a:lvl7pPr marL="0" marR="0" indent="13716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7pPr>
            <a:lvl8pPr marL="0" marR="0" indent="16002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8pPr>
            <a:lvl9pPr marL="0" marR="0" indent="1828800" algn="ctr" defTabSz="584200" rtl="0" latinLnBrk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0" b="0" i="0" u="none" strike="noStrike" cap="none" spc="0" baseline="0">
                <a:solidFill>
                  <a:srgbClr val="D93E2B"/>
                </a:solidFill>
                <a:uFillTx/>
                <a:latin typeface="+mn-lt"/>
                <a:ea typeface="+mn-ea"/>
                <a:cs typeface="+mn-cs"/>
                <a:sym typeface="Bodoni SvtyTwo ITC TT-Book"/>
              </a:defRPr>
            </a:lvl9pPr>
          </a:lstStyle>
          <a:p>
            <a:pPr hangingPunct="1"/>
            <a:r>
              <a:rPr lang="fr-FR" sz="4800" dirty="0">
                <a:latin typeface="Palatino"/>
              </a:rPr>
              <a:t>Les structures conditionnelles  </a:t>
            </a:r>
            <a:r>
              <a:rPr lang="fr-FR" sz="4800" b="1" dirty="0">
                <a:latin typeface="Palatino"/>
              </a:rPr>
              <a:t>test</a:t>
            </a:r>
            <a:r>
              <a:rPr lang="fr-FR" sz="4800" dirty="0">
                <a:latin typeface="Palatino"/>
              </a:rPr>
              <a:t> sur les chaînes de caractères (2/2)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880" y="3238500"/>
            <a:ext cx="10720942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90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78369" y="1019650"/>
            <a:ext cx="124851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>
                <a:solidFill>
                  <a:srgbClr val="D93E2B"/>
                </a:solidFill>
                <a:ea typeface="+mn-ea"/>
                <a:cs typeface="+mn-cs"/>
              </a:rPr>
              <a:t>Les structures conditionnelles  </a:t>
            </a:r>
            <a:r>
              <a:rPr lang="fr-FR" sz="4800" b="1" dirty="0">
                <a:solidFill>
                  <a:srgbClr val="D93E2B"/>
                </a:solidFill>
                <a:ea typeface="+mn-ea"/>
                <a:cs typeface="+mn-cs"/>
              </a:rPr>
              <a:t>test</a:t>
            </a:r>
            <a:r>
              <a:rPr lang="fr-FR" sz="4800" dirty="0">
                <a:solidFill>
                  <a:srgbClr val="D93E2B"/>
                </a:solidFill>
                <a:ea typeface="+mn-ea"/>
                <a:cs typeface="+mn-cs"/>
              </a:rPr>
              <a:t> vs [ ]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533400" y="4629765"/>
            <a:ext cx="4838700" cy="1579920"/>
          </a:xfrm>
          <a:prstGeom prst="rect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3200" b="1" dirty="0">
                <a:solidFill>
                  <a:srgbClr val="00B0F0"/>
                </a:solidFill>
              </a:rPr>
              <a:t>t</a:t>
            </a:r>
            <a:r>
              <a:rPr kumimoji="0" lang="fr-FR" sz="3200" b="1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sym typeface="Palatino"/>
              </a:rPr>
              <a:t>est</a:t>
            </a:r>
            <a:r>
              <a:rPr kumimoji="0" lang="fr-FR" sz="3200" b="0" i="0" u="none" strike="noStrike" cap="none" spc="0" normalizeH="0" baseline="0" dirty="0">
                <a:ln>
                  <a:noFill/>
                </a:ln>
                <a:solidFill>
                  <a:srgbClr val="414141"/>
                </a:solidFill>
                <a:effectLst/>
                <a:uFillTx/>
                <a:sym typeface="Palatino"/>
              </a:rPr>
              <a:t> –e fichier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3200" b="1" dirty="0">
                <a:solidFill>
                  <a:srgbClr val="00B0F0"/>
                </a:solidFill>
              </a:rPr>
              <a:t>test</a:t>
            </a:r>
            <a:r>
              <a:rPr lang="fr-FR" sz="3200" dirty="0"/>
              <a:t> $v1 –</a:t>
            </a:r>
            <a:r>
              <a:rPr lang="fr-FR" sz="3200" dirty="0" err="1"/>
              <a:t>eq</a:t>
            </a:r>
            <a:r>
              <a:rPr lang="fr-FR" sz="3200" dirty="0"/>
              <a:t> $v2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3200" b="1" dirty="0">
                <a:solidFill>
                  <a:srgbClr val="00B0F0"/>
                </a:solidFill>
              </a:rPr>
              <a:t>test</a:t>
            </a:r>
            <a:r>
              <a:rPr lang="fr-FR" sz="3200" dirty="0"/>
              <a:t> $chaine1 = $chaine2</a:t>
            </a:r>
            <a:r>
              <a:rPr lang="fr-FR" dirty="0"/>
              <a:t> </a:t>
            </a:r>
            <a:r>
              <a:rPr kumimoji="0" lang="fr-FR" sz="2400" b="0" i="0" u="none" strike="noStrike" cap="none" spc="0" normalizeH="0" baseline="0" dirty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7277100" y="4629765"/>
            <a:ext cx="4610100" cy="1579920"/>
          </a:xfrm>
          <a:prstGeom prst="rect">
            <a:avLst/>
          </a:prstGeom>
          <a:noFill/>
          <a:ln w="28575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3200" b="1" dirty="0">
                <a:solidFill>
                  <a:srgbClr val="00B0F0"/>
                </a:solidFill>
              </a:rPr>
              <a:t>[</a:t>
            </a:r>
            <a:r>
              <a:rPr lang="fr-FR" sz="3200" dirty="0"/>
              <a:t> </a:t>
            </a:r>
            <a:r>
              <a:rPr kumimoji="0" lang="fr-FR" sz="3200" b="0" i="0" u="none" strike="noStrike" cap="none" spc="0" normalizeH="0" baseline="0" dirty="0">
                <a:ln>
                  <a:noFill/>
                </a:ln>
                <a:solidFill>
                  <a:srgbClr val="414141"/>
                </a:solidFill>
                <a:effectLst/>
                <a:uFillTx/>
                <a:sym typeface="Palatino"/>
              </a:rPr>
              <a:t>–e fichier </a:t>
            </a:r>
            <a:r>
              <a:rPr kumimoji="0" lang="fr-FR" sz="3200" b="1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sym typeface="Palatino"/>
              </a:rPr>
              <a:t>]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3200" b="1" dirty="0">
                <a:solidFill>
                  <a:srgbClr val="00B0F0"/>
                </a:solidFill>
              </a:rPr>
              <a:t>[</a:t>
            </a:r>
            <a:r>
              <a:rPr lang="fr-FR" sz="3200" dirty="0"/>
              <a:t> $v1 –eq $v2 </a:t>
            </a:r>
            <a:r>
              <a:rPr lang="fr-FR" sz="3200" b="1" dirty="0">
                <a:solidFill>
                  <a:srgbClr val="00B0F0"/>
                </a:solidFill>
              </a:rPr>
              <a:t>]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3200" b="1" dirty="0">
                <a:solidFill>
                  <a:srgbClr val="00B0F0"/>
                </a:solidFill>
              </a:rPr>
              <a:t>[</a:t>
            </a:r>
            <a:r>
              <a:rPr lang="fr-FR" sz="3200" dirty="0"/>
              <a:t> $chaine1 = $chaine2 ]</a:t>
            </a:r>
            <a:r>
              <a:rPr lang="fr-FR" sz="3200" b="1" dirty="0">
                <a:solidFill>
                  <a:srgbClr val="00B0F0"/>
                </a:solidFill>
              </a:rPr>
              <a:t>]</a:t>
            </a:r>
            <a:endParaRPr kumimoji="0" lang="fr-FR" sz="3200" b="1" i="0" u="none" strike="noStrike" cap="none" spc="0" normalizeH="0" baseline="0" dirty="0">
              <a:ln>
                <a:noFill/>
              </a:ln>
              <a:solidFill>
                <a:srgbClr val="00B0F0"/>
              </a:solidFill>
              <a:effectLst/>
              <a:uFillTx/>
              <a:sym typeface="Palatino"/>
            </a:endParaRPr>
          </a:p>
        </p:txBody>
      </p:sp>
      <p:sp>
        <p:nvSpPr>
          <p:cNvPr id="3" name="Double flèche horizontale 2"/>
          <p:cNvSpPr/>
          <p:nvPr/>
        </p:nvSpPr>
        <p:spPr>
          <a:xfrm>
            <a:off x="5734050" y="5210175"/>
            <a:ext cx="1085850" cy="390525"/>
          </a:xfrm>
          <a:prstGeom prst="leftRightArrow">
            <a:avLst/>
          </a:prstGeom>
          <a:solidFill>
            <a:srgbClr val="00B05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25400" dist="33948" dir="2700000" rotWithShape="0">
                  <a:srgbClr val="3B3936"/>
                </a:outerShdw>
              </a:effectLst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19902869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638300" y="1241597"/>
            <a:ext cx="9848849" cy="784386"/>
          </a:xfrm>
        </p:spPr>
        <p:txBody>
          <a:bodyPr>
            <a:normAutofit fontScale="90000"/>
          </a:bodyPr>
          <a:lstStyle/>
          <a:p>
            <a:pPr eaLnBrk="1"/>
            <a:r>
              <a:rPr lang="fr-FR" sz="6000" dirty="0">
                <a:latin typeface="Palatino"/>
              </a:rPr>
              <a:t>Combinaison de conditions</a:t>
            </a:r>
            <a:r>
              <a:rPr lang="fr-FR" sz="3096" b="1" dirty="0">
                <a:solidFill>
                  <a:schemeClr val="bg1"/>
                </a:solidFill>
                <a:latin typeface="Palatino"/>
              </a:rPr>
              <a:t/>
            </a:r>
            <a:br>
              <a:rPr lang="fr-FR" sz="3096" b="1" dirty="0">
                <a:solidFill>
                  <a:schemeClr val="bg1"/>
                </a:solidFill>
                <a:latin typeface="Palatino"/>
              </a:rPr>
            </a:br>
            <a:endParaRPr lang="fr-FR" sz="3096" b="1" dirty="0">
              <a:solidFill>
                <a:schemeClr val="bg1"/>
              </a:solidFill>
              <a:latin typeface="Palatino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743425" y="2646528"/>
            <a:ext cx="10622975" cy="5081089"/>
          </a:xfrm>
        </p:spPr>
        <p:txBody>
          <a:bodyPr>
            <a:normAutofit/>
          </a:bodyPr>
          <a:lstStyle/>
          <a:p>
            <a:pPr marL="507912" lvl="1" indent="0" defTabSz="1179667">
              <a:buNone/>
            </a:pPr>
            <a:r>
              <a:rPr lang="fr-FR" sz="2800" dirty="0">
                <a:solidFill>
                  <a:srgbClr val="00B050"/>
                </a:solidFill>
              </a:rPr>
              <a:t>!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sz="2800" dirty="0"/>
              <a:t>: Condition Not     </a:t>
            </a:r>
            <a:r>
              <a:rPr lang="fr-FR" sz="2800" b="1" dirty="0"/>
              <a:t>[ </a:t>
            </a:r>
            <a:r>
              <a:rPr lang="fr-FR" sz="2800" b="1" dirty="0">
                <a:solidFill>
                  <a:srgbClr val="00B050"/>
                </a:solidFill>
              </a:rPr>
              <a:t>!</a:t>
            </a:r>
            <a:r>
              <a:rPr lang="fr-FR" sz="2800" b="1" dirty="0"/>
              <a:t> –d /</a:t>
            </a:r>
            <a:r>
              <a:rPr lang="fr-FR" sz="2800" b="1" dirty="0" err="1"/>
              <a:t>etc</a:t>
            </a:r>
            <a:r>
              <a:rPr lang="fr-FR" sz="2800" b="1" dirty="0"/>
              <a:t>/group ]</a:t>
            </a:r>
            <a:endParaRPr lang="fr-FR" sz="2800" dirty="0"/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50"/>
                </a:solidFill>
              </a:rPr>
              <a:t>-a </a:t>
            </a:r>
            <a:r>
              <a:rPr lang="fr-FR" sz="2800" dirty="0"/>
              <a:t>: Condition AND </a:t>
            </a:r>
            <a:r>
              <a:rPr lang="fr-FR" sz="2800" b="1" dirty="0"/>
              <a:t>[ -f  script.sh </a:t>
            </a:r>
            <a:r>
              <a:rPr lang="fr-FR" sz="2800" b="1" dirty="0">
                <a:solidFill>
                  <a:srgbClr val="00B050"/>
                </a:solidFill>
              </a:rPr>
              <a:t>-a </a:t>
            </a:r>
            <a:r>
              <a:rPr lang="fr-FR" sz="2800" b="1" dirty="0"/>
              <a:t>-x script.sh ]</a:t>
            </a:r>
            <a:endParaRPr lang="fr-FR" sz="2800" dirty="0"/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50"/>
                </a:solidFill>
              </a:rPr>
              <a:t>-o </a:t>
            </a:r>
            <a:r>
              <a:rPr lang="fr-FR" sz="2800" dirty="0"/>
              <a:t>: Condition OR   </a:t>
            </a:r>
            <a:r>
              <a:rPr lang="fr-FR" sz="2800" b="1" dirty="0"/>
              <a:t>[ -d script.sh </a:t>
            </a:r>
            <a:r>
              <a:rPr lang="fr-FR" sz="2800" b="1" dirty="0">
                <a:solidFill>
                  <a:srgbClr val="00B050"/>
                </a:solidFill>
              </a:rPr>
              <a:t>-o </a:t>
            </a:r>
            <a:r>
              <a:rPr lang="fr-FR" sz="2800" b="1" dirty="0"/>
              <a:t>-x script.sh ]</a:t>
            </a:r>
            <a:endParaRPr lang="fr-FR" sz="2800" dirty="0"/>
          </a:p>
          <a:p>
            <a:pPr marL="507912" lvl="1" indent="0" defTabSz="1179667">
              <a:buNone/>
            </a:pPr>
            <a:r>
              <a:rPr lang="fr-FR" sz="2800" dirty="0">
                <a:solidFill>
                  <a:srgbClr val="00B050"/>
                </a:solidFill>
              </a:rPr>
              <a:t>\( \) </a:t>
            </a:r>
            <a:r>
              <a:rPr lang="fr-FR" sz="2800" dirty="0"/>
              <a:t>: pour traiter un groupe d’expressions</a:t>
            </a:r>
          </a:p>
          <a:p>
            <a:pPr marL="507912" lvl="1" indent="0" defTabSz="1179667">
              <a:buNone/>
            </a:pPr>
            <a:r>
              <a:rPr lang="fr-FR" sz="2800" b="1" dirty="0"/>
              <a:t>[ -w script.sh </a:t>
            </a:r>
            <a:r>
              <a:rPr lang="fr-FR" sz="2800" b="1" dirty="0">
                <a:solidFill>
                  <a:srgbClr val="00B050"/>
                </a:solidFill>
              </a:rPr>
              <a:t>-a  \( </a:t>
            </a:r>
            <a:r>
              <a:rPr lang="fr-FR" sz="2800" b="1" dirty="0"/>
              <a:t>-e fich -o -e fich7</a:t>
            </a:r>
            <a:r>
              <a:rPr lang="fr-FR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2800" b="1" dirty="0">
                <a:solidFill>
                  <a:srgbClr val="00B050"/>
                </a:solidFill>
              </a:rPr>
              <a:t>\)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/>
              <a:t>]</a:t>
            </a:r>
          </a:p>
          <a:p>
            <a:pPr marL="507912" lvl="1" indent="0" defTabSz="1179667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812543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638300" y="1072355"/>
            <a:ext cx="9848849" cy="784386"/>
          </a:xfrm>
        </p:spPr>
        <p:txBody>
          <a:bodyPr>
            <a:normAutofit fontScale="90000"/>
          </a:bodyPr>
          <a:lstStyle/>
          <a:p>
            <a:pPr eaLnBrk="1"/>
            <a:r>
              <a:rPr lang="fr-FR" sz="5400" dirty="0">
                <a:latin typeface="Palatino"/>
              </a:rPr>
              <a:t>Effectuer plusieurs tests à la fois</a:t>
            </a:r>
            <a:endParaRPr lang="fr-FR" sz="3096" b="1" dirty="0">
              <a:solidFill>
                <a:schemeClr val="bg1"/>
              </a:solidFill>
              <a:latin typeface="Palatino"/>
            </a:endParaRP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743425" y="2646528"/>
            <a:ext cx="10622975" cy="508108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solidFill>
                  <a:srgbClr val="00B050"/>
                </a:solidFill>
              </a:rPr>
              <a:t>OR = ||        </a:t>
            </a:r>
            <a:r>
              <a:rPr lang="fr-FR" sz="2400" b="1" dirty="0"/>
              <a:t>test –f file </a:t>
            </a:r>
            <a:r>
              <a:rPr lang="fr-FR" sz="2400" b="1" dirty="0">
                <a:solidFill>
                  <a:srgbClr val="00B050"/>
                </a:solidFill>
              </a:rPr>
              <a:t>||</a:t>
            </a:r>
            <a:r>
              <a:rPr lang="fr-FR" sz="2400" b="1" dirty="0"/>
              <a:t> </a:t>
            </a:r>
            <a:r>
              <a:rPr lang="fr-FR" sz="2400" b="1" dirty="0" err="1"/>
              <a:t>echo</a:t>
            </a:r>
            <a:r>
              <a:rPr lang="fr-FR" sz="2400" b="1" dirty="0"/>
              <a:t> « le fichier file n’existe pas »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/>
              <a:t>                        [  -f file ] </a:t>
            </a:r>
            <a:r>
              <a:rPr lang="fr-FR" sz="2400" b="1" dirty="0">
                <a:solidFill>
                  <a:srgbClr val="00B050"/>
                </a:solidFill>
              </a:rPr>
              <a:t>||</a:t>
            </a:r>
            <a:r>
              <a:rPr lang="fr-FR" sz="2400" b="1" dirty="0"/>
              <a:t> </a:t>
            </a:r>
            <a:r>
              <a:rPr lang="fr-FR" sz="2400" b="1" dirty="0" err="1"/>
              <a:t>echo</a:t>
            </a:r>
            <a:r>
              <a:rPr lang="fr-FR" sz="2400" b="1" dirty="0"/>
              <a:t> « le fichier file n’existe pas »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b="1" dirty="0">
                <a:solidFill>
                  <a:srgbClr val="00B050"/>
                </a:solidFill>
              </a:rPr>
              <a:t>AND = &amp;&amp;   </a:t>
            </a:r>
            <a:r>
              <a:rPr lang="fr-FR" sz="2400" b="1" dirty="0"/>
              <a:t>test -f  file </a:t>
            </a:r>
            <a:r>
              <a:rPr lang="fr-FR" sz="2400" b="1" dirty="0">
                <a:solidFill>
                  <a:srgbClr val="00B050"/>
                </a:solidFill>
              </a:rPr>
              <a:t>&amp;&amp;</a:t>
            </a:r>
            <a:r>
              <a:rPr lang="fr-FR" sz="2400" b="1" dirty="0"/>
              <a:t> </a:t>
            </a:r>
            <a:r>
              <a:rPr lang="fr-FR" sz="2400" b="1" dirty="0" err="1"/>
              <a:t>echo</a:t>
            </a:r>
            <a:r>
              <a:rPr lang="fr-FR" sz="2400" b="1" dirty="0"/>
              <a:t> « le fichier file existe »</a:t>
            </a:r>
          </a:p>
          <a:p>
            <a:pPr marL="507912" lvl="1" indent="0" defTabSz="1179667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5059859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re 1"/>
          <p:cNvSpPr>
            <a:spLocks noGrp="1"/>
          </p:cNvSpPr>
          <p:nvPr>
            <p:ph type="title"/>
          </p:nvPr>
        </p:nvSpPr>
        <p:spPr>
          <a:xfrm>
            <a:off x="650239" y="851452"/>
            <a:ext cx="11704321" cy="1187466"/>
          </a:xfrm>
        </p:spPr>
        <p:txBody>
          <a:bodyPr>
            <a:normAutofit fontScale="90000"/>
          </a:bodyPr>
          <a:lstStyle/>
          <a:p>
            <a:pPr hangingPunct="1"/>
            <a:r>
              <a:rPr lang="fr-FR" sz="4128" b="1" dirty="0">
                <a:solidFill>
                  <a:schemeClr val="bg1"/>
                </a:solidFill>
                <a:latin typeface="Palatino"/>
              </a:rPr>
              <a:t/>
            </a:r>
            <a:br>
              <a:rPr lang="fr-FR" sz="4128" b="1" dirty="0">
                <a:solidFill>
                  <a:schemeClr val="bg1"/>
                </a:solidFill>
                <a:latin typeface="Palatino"/>
              </a:rPr>
            </a:br>
            <a:r>
              <a:rPr lang="fr-FR" sz="4128" b="1" dirty="0">
                <a:solidFill>
                  <a:schemeClr val="bg1"/>
                </a:solidFill>
                <a:latin typeface="Palatino"/>
              </a:rPr>
              <a:t> </a:t>
            </a:r>
            <a:r>
              <a:rPr lang="fr-FR" sz="6000" dirty="0">
                <a:latin typeface="Palatino"/>
              </a:rPr>
              <a:t>Les structures conditionnelles </a:t>
            </a:r>
            <a:r>
              <a:rPr lang="fr-FR" sz="6000" b="1" dirty="0">
                <a:latin typeface="Palatino"/>
              </a:rPr>
              <a:t>if  </a:t>
            </a:r>
            <a:r>
              <a:rPr lang="fr-FR" sz="6000" dirty="0">
                <a:latin typeface="Palatino"/>
              </a:rPr>
              <a:t>(1/2)</a:t>
            </a:r>
            <a:br>
              <a:rPr lang="fr-FR" sz="6000" dirty="0">
                <a:latin typeface="Palatino"/>
              </a:rPr>
            </a:br>
            <a:endParaRPr lang="fr-FR" sz="6000" dirty="0">
              <a:latin typeface="Palatino"/>
            </a:endParaRPr>
          </a:p>
        </p:txBody>
      </p:sp>
      <p:sp>
        <p:nvSpPr>
          <p:cNvPr id="8" name="Espace réservé du numéro de diapositive 7"/>
          <p:cNvSpPr txBox="1">
            <a:spLocks noGrp="1"/>
          </p:cNvSpPr>
          <p:nvPr/>
        </p:nvSpPr>
        <p:spPr>
          <a:xfrm>
            <a:off x="11176035" y="9132299"/>
            <a:ext cx="1727166" cy="519235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lIns="130032" tIns="65016" rIns="130032" bIns="65016" anchor="ctr"/>
          <a:lstStyle/>
          <a:p>
            <a:pPr algn="r">
              <a:defRPr/>
            </a:pPr>
            <a:r>
              <a:rPr lang="fr-BE" sz="1935" b="1" dirty="0">
                <a:solidFill>
                  <a:schemeClr val="bg1"/>
                </a:solidFill>
                <a:latin typeface="+mn-lt"/>
                <a:cs typeface="+mn-cs"/>
              </a:rPr>
              <a:t>  </a:t>
            </a:r>
          </a:p>
        </p:txBody>
      </p:sp>
      <p:sp>
        <p:nvSpPr>
          <p:cNvPr id="27663" name="Text Box 23"/>
          <p:cNvSpPr txBox="1">
            <a:spLocks noChangeArrowheads="1"/>
          </p:cNvSpPr>
          <p:nvPr/>
        </p:nvSpPr>
        <p:spPr bwMode="auto">
          <a:xfrm>
            <a:off x="3942081" y="3648700"/>
            <a:ext cx="3585351" cy="607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32" tIns="65016" rIns="130032" bIns="65016">
            <a:spAutoFit/>
          </a:bodyPr>
          <a:lstStyle/>
          <a:p>
            <a:pPr>
              <a:spcBef>
                <a:spcPct val="50000"/>
              </a:spcBef>
            </a:pPr>
            <a:endParaRPr lang="fr-FR" sz="3096"/>
          </a:p>
        </p:txBody>
      </p:sp>
      <p:sp>
        <p:nvSpPr>
          <p:cNvPr id="27664" name="Text Box 24"/>
          <p:cNvSpPr txBox="1">
            <a:spLocks noChangeArrowheads="1"/>
          </p:cNvSpPr>
          <p:nvPr/>
        </p:nvSpPr>
        <p:spPr bwMode="auto">
          <a:xfrm>
            <a:off x="797529" y="3171524"/>
            <a:ext cx="2524370" cy="3159823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 lIns="130032" tIns="65016" rIns="130032" bIns="65016">
            <a:spAutoFit/>
          </a:bodyPr>
          <a:lstStyle/>
          <a:p>
            <a:pPr marL="377979" indent="-377979" algn="l" eaLnBrk="0">
              <a:spcBef>
                <a:spcPct val="20000"/>
              </a:spcBef>
            </a:pPr>
            <a:r>
              <a:rPr lang="fr-FR" b="1" u="sng" dirty="0">
                <a:solidFill>
                  <a:schemeClr val="bg1"/>
                </a:solidFill>
              </a:rPr>
              <a:t>Syntaxe 1</a:t>
            </a:r>
          </a:p>
          <a:p>
            <a:pPr marL="377979" indent="-377979" algn="l" eaLnBrk="0">
              <a:spcBef>
                <a:spcPct val="20000"/>
              </a:spcBef>
            </a:pPr>
            <a:r>
              <a:rPr lang="fr-FR" b="1" dirty="0">
                <a:solidFill>
                  <a:srgbClr val="00B0F0"/>
                </a:solidFill>
              </a:rPr>
              <a:t>if</a:t>
            </a:r>
            <a:r>
              <a:rPr lang="fr-FR" dirty="0"/>
              <a:t>  condition</a:t>
            </a:r>
          </a:p>
          <a:p>
            <a:pPr marL="377979" indent="-377979" algn="l" eaLnBrk="0">
              <a:spcBef>
                <a:spcPct val="20000"/>
              </a:spcBef>
            </a:pPr>
            <a:r>
              <a:rPr lang="fr-FR" b="1" dirty="0" err="1">
                <a:solidFill>
                  <a:srgbClr val="FF0000"/>
                </a:solidFill>
              </a:rPr>
              <a:t>then</a:t>
            </a:r>
            <a:endParaRPr lang="fr-FR" b="1" dirty="0">
              <a:solidFill>
                <a:srgbClr val="FF0000"/>
              </a:solidFill>
            </a:endParaRPr>
          </a:p>
          <a:p>
            <a:pPr marL="377979" indent="-377979" algn="l" eaLnBrk="0">
              <a:spcBef>
                <a:spcPct val="20000"/>
              </a:spcBef>
            </a:pPr>
            <a:r>
              <a:rPr lang="fr-FR" dirty="0"/>
              <a:t>    Traitement 1</a:t>
            </a:r>
          </a:p>
          <a:p>
            <a:pPr marL="377979" indent="-377979" algn="l" eaLnBrk="0">
              <a:spcBef>
                <a:spcPct val="20000"/>
              </a:spcBef>
            </a:pPr>
            <a:r>
              <a:rPr lang="fr-FR" b="1" dirty="0" err="1">
                <a:solidFill>
                  <a:srgbClr val="FF0000"/>
                </a:solidFill>
              </a:rPr>
              <a:t>else</a:t>
            </a:r>
            <a:endParaRPr lang="fr-FR" b="1" dirty="0">
              <a:solidFill>
                <a:srgbClr val="FF0000"/>
              </a:solidFill>
            </a:endParaRPr>
          </a:p>
          <a:p>
            <a:pPr marL="377979" indent="-377979" algn="l" eaLnBrk="0">
              <a:spcBef>
                <a:spcPct val="20000"/>
              </a:spcBef>
            </a:pPr>
            <a:r>
              <a:rPr lang="fr-FR" dirty="0"/>
              <a:t>    Traitement 2</a:t>
            </a:r>
          </a:p>
          <a:p>
            <a:pPr marL="377979" indent="-377979" algn="l" eaLnBrk="0">
              <a:spcBef>
                <a:spcPct val="20000"/>
              </a:spcBef>
            </a:pPr>
            <a:r>
              <a:rPr lang="fr-FR" b="1" dirty="0">
                <a:solidFill>
                  <a:srgbClr val="00B0F0"/>
                </a:solidFill>
              </a:rPr>
              <a:t>fi</a:t>
            </a:r>
          </a:p>
        </p:txBody>
      </p:sp>
      <p:sp>
        <p:nvSpPr>
          <p:cNvPr id="10" name="Text Box 24"/>
          <p:cNvSpPr txBox="1">
            <a:spLocks noChangeArrowheads="1"/>
          </p:cNvSpPr>
          <p:nvPr/>
        </p:nvSpPr>
        <p:spPr bwMode="auto">
          <a:xfrm>
            <a:off x="3561931" y="2243309"/>
            <a:ext cx="3115309" cy="7148607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 lIns="130032" tIns="65016" rIns="130032" bIns="65016"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b="1" u="sng" dirty="0">
                <a:solidFill>
                  <a:schemeClr val="bg1"/>
                </a:solidFill>
              </a:rPr>
              <a:t>Syntaxe 2</a:t>
            </a:r>
          </a:p>
          <a:p>
            <a:pPr algn="l">
              <a:spcBef>
                <a:spcPct val="50000"/>
              </a:spcBef>
            </a:pPr>
            <a:r>
              <a:rPr lang="fr-FR" b="1" dirty="0">
                <a:solidFill>
                  <a:srgbClr val="00B0F0"/>
                </a:solidFill>
              </a:rPr>
              <a:t>if</a:t>
            </a:r>
            <a:r>
              <a:rPr lang="fr-FR" dirty="0"/>
              <a:t>   condition 1</a:t>
            </a:r>
          </a:p>
          <a:p>
            <a:pPr algn="l">
              <a:spcBef>
                <a:spcPct val="50000"/>
              </a:spcBef>
            </a:pPr>
            <a:r>
              <a:rPr lang="fr-FR" b="1" dirty="0" err="1">
                <a:solidFill>
                  <a:srgbClr val="FF0000"/>
                </a:solidFill>
              </a:rPr>
              <a:t>then</a:t>
            </a:r>
            <a:r>
              <a:rPr lang="fr-FR" dirty="0">
                <a:solidFill>
                  <a:srgbClr val="FF0000"/>
                </a:solidFill>
              </a:rPr>
              <a:t> </a:t>
            </a:r>
          </a:p>
          <a:p>
            <a:pPr algn="l">
              <a:spcBef>
                <a:spcPct val="50000"/>
              </a:spcBef>
            </a:pPr>
            <a:r>
              <a:rPr lang="fr-FR" dirty="0"/>
              <a:t>     Traitement 1</a:t>
            </a:r>
          </a:p>
          <a:p>
            <a:pPr algn="l">
              <a:spcBef>
                <a:spcPct val="50000"/>
              </a:spcBef>
            </a:pPr>
            <a:r>
              <a:rPr lang="fr-FR" b="1" dirty="0" err="1">
                <a:solidFill>
                  <a:srgbClr val="FF0000"/>
                </a:solidFill>
              </a:rPr>
              <a:t>else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b="1" dirty="0">
                <a:solidFill>
                  <a:srgbClr val="7030A0"/>
                </a:solidFill>
              </a:rPr>
              <a:t>if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/>
              <a:t>condition 2</a:t>
            </a:r>
          </a:p>
          <a:p>
            <a:pPr algn="l">
              <a:spcBef>
                <a:spcPct val="50000"/>
              </a:spcBef>
            </a:pPr>
            <a:r>
              <a:rPr lang="fr-FR" b="1" dirty="0" err="1">
                <a:solidFill>
                  <a:srgbClr val="FF0000"/>
                </a:solidFill>
              </a:rPr>
              <a:t>then</a:t>
            </a:r>
            <a:endParaRPr lang="fr-FR" b="1" dirty="0">
              <a:solidFill>
                <a:srgbClr val="FF0000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fr-FR" dirty="0"/>
              <a:t>      Traitement 2</a:t>
            </a:r>
          </a:p>
          <a:p>
            <a:pPr algn="l">
              <a:spcBef>
                <a:spcPct val="50000"/>
              </a:spcBef>
            </a:pPr>
            <a:r>
              <a:rPr lang="fr-FR" b="1" dirty="0" err="1">
                <a:solidFill>
                  <a:srgbClr val="FF0000"/>
                </a:solidFill>
              </a:rPr>
              <a:t>else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b="1" dirty="0">
                <a:solidFill>
                  <a:srgbClr val="00B050"/>
                </a:solidFill>
              </a:rPr>
              <a:t>if </a:t>
            </a:r>
            <a:r>
              <a:rPr lang="fr-FR" dirty="0"/>
              <a:t>condition 3</a:t>
            </a:r>
          </a:p>
          <a:p>
            <a:pPr algn="l">
              <a:spcBef>
                <a:spcPct val="50000"/>
              </a:spcBef>
            </a:pPr>
            <a:r>
              <a:rPr lang="fr-FR" dirty="0" err="1">
                <a:solidFill>
                  <a:srgbClr val="FF0000"/>
                </a:solidFill>
              </a:rPr>
              <a:t>then</a:t>
            </a:r>
            <a:r>
              <a:rPr lang="fr-FR" dirty="0">
                <a:solidFill>
                  <a:srgbClr val="FF0000"/>
                </a:solidFill>
              </a:rPr>
              <a:t> </a:t>
            </a:r>
          </a:p>
          <a:p>
            <a:pPr algn="l">
              <a:spcBef>
                <a:spcPct val="50000"/>
              </a:spcBef>
            </a:pPr>
            <a:r>
              <a:rPr lang="fr-FR" dirty="0"/>
              <a:t>       traitement 3</a:t>
            </a:r>
          </a:p>
          <a:p>
            <a:pPr algn="l">
              <a:spcBef>
                <a:spcPct val="50000"/>
              </a:spcBef>
            </a:pPr>
            <a:r>
              <a:rPr lang="fr-FR" b="1" dirty="0">
                <a:solidFill>
                  <a:srgbClr val="00B050"/>
                </a:solidFill>
              </a:rPr>
              <a:t>       fi</a:t>
            </a:r>
          </a:p>
          <a:p>
            <a:pPr algn="l">
              <a:spcBef>
                <a:spcPct val="50000"/>
              </a:spcBef>
            </a:pPr>
            <a:r>
              <a:rPr lang="fr-FR" b="1" dirty="0">
                <a:solidFill>
                  <a:srgbClr val="7030A0"/>
                </a:solidFill>
              </a:rPr>
              <a:t>    fi</a:t>
            </a:r>
          </a:p>
          <a:p>
            <a:pPr algn="l">
              <a:spcBef>
                <a:spcPct val="50000"/>
              </a:spcBef>
            </a:pPr>
            <a:r>
              <a:rPr lang="fr-FR" dirty="0">
                <a:solidFill>
                  <a:srgbClr val="00B0F0"/>
                </a:solidFill>
              </a:rPr>
              <a:t>fi</a:t>
            </a:r>
          </a:p>
        </p:txBody>
      </p:sp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6971879" y="3171524"/>
            <a:ext cx="2690281" cy="4932616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 lIns="130032" tIns="65016" rIns="130032" bIns="65016"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b="1" u="sng" dirty="0">
                <a:solidFill>
                  <a:schemeClr val="bg1"/>
                </a:solidFill>
              </a:rPr>
              <a:t>Syntaxe 3</a:t>
            </a:r>
          </a:p>
          <a:p>
            <a:pPr algn="l">
              <a:spcBef>
                <a:spcPct val="50000"/>
              </a:spcBef>
            </a:pPr>
            <a:r>
              <a:rPr lang="fr-FR" dirty="0">
                <a:solidFill>
                  <a:srgbClr val="FF0000"/>
                </a:solidFill>
              </a:rPr>
              <a:t>if</a:t>
            </a:r>
            <a:r>
              <a:rPr lang="fr-FR" dirty="0"/>
              <a:t> condition 1</a:t>
            </a:r>
          </a:p>
          <a:p>
            <a:pPr algn="l">
              <a:spcBef>
                <a:spcPct val="50000"/>
              </a:spcBef>
            </a:pPr>
            <a:r>
              <a:rPr lang="fr-FR" dirty="0" err="1">
                <a:solidFill>
                  <a:srgbClr val="FF0000"/>
                </a:solidFill>
              </a:rPr>
              <a:t>then</a:t>
            </a:r>
            <a:endParaRPr lang="fr-FR" dirty="0">
              <a:solidFill>
                <a:srgbClr val="FF0000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fr-FR" dirty="0"/>
              <a:t>     Traitement 1</a:t>
            </a:r>
          </a:p>
          <a:p>
            <a:pPr algn="l">
              <a:spcBef>
                <a:spcPct val="50000"/>
              </a:spcBef>
            </a:pPr>
            <a:r>
              <a:rPr lang="fr-FR" dirty="0">
                <a:solidFill>
                  <a:srgbClr val="FF0000"/>
                </a:solidFill>
              </a:rPr>
              <a:t>if </a:t>
            </a:r>
            <a:r>
              <a:rPr lang="fr-FR" dirty="0"/>
              <a:t>condition 2</a:t>
            </a:r>
          </a:p>
          <a:p>
            <a:pPr algn="l">
              <a:spcBef>
                <a:spcPct val="50000"/>
              </a:spcBef>
            </a:pPr>
            <a:r>
              <a:rPr lang="fr-FR" dirty="0" err="1">
                <a:solidFill>
                  <a:srgbClr val="FF0000"/>
                </a:solidFill>
              </a:rPr>
              <a:t>then</a:t>
            </a:r>
            <a:endParaRPr lang="fr-FR" dirty="0">
              <a:solidFill>
                <a:srgbClr val="FF0000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fr-FR" dirty="0"/>
              <a:t>     Traitement 2</a:t>
            </a:r>
          </a:p>
          <a:p>
            <a:pPr algn="l">
              <a:spcBef>
                <a:spcPct val="50000"/>
              </a:spcBef>
            </a:pPr>
            <a:r>
              <a:rPr lang="fr-FR" dirty="0" err="1">
                <a:solidFill>
                  <a:srgbClr val="FF0000"/>
                </a:solidFill>
              </a:rPr>
              <a:t>else</a:t>
            </a:r>
            <a:r>
              <a:rPr lang="fr-FR" dirty="0"/>
              <a:t> Traitement 3</a:t>
            </a:r>
          </a:p>
          <a:p>
            <a:pPr algn="l">
              <a:spcBef>
                <a:spcPct val="50000"/>
              </a:spcBef>
            </a:pPr>
            <a:r>
              <a:rPr lang="fr-FR" dirty="0">
                <a:solidFill>
                  <a:srgbClr val="FF0000"/>
                </a:solidFill>
              </a:rPr>
              <a:t>fi</a:t>
            </a:r>
          </a:p>
        </p:txBody>
      </p:sp>
      <p:sp>
        <p:nvSpPr>
          <p:cNvPr id="12" name="Text Box 24"/>
          <p:cNvSpPr txBox="1">
            <a:spLocks noChangeArrowheads="1"/>
          </p:cNvSpPr>
          <p:nvPr/>
        </p:nvSpPr>
        <p:spPr bwMode="auto">
          <a:xfrm>
            <a:off x="9911079" y="3952557"/>
            <a:ext cx="2839722" cy="2162627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square" lIns="130032" tIns="65016" rIns="130032" bIns="65016"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b="1" u="sng" dirty="0">
                <a:solidFill>
                  <a:schemeClr val="bg1"/>
                </a:solidFill>
              </a:rPr>
              <a:t>Syntaxe 4</a:t>
            </a:r>
          </a:p>
          <a:p>
            <a:pPr algn="l">
              <a:spcBef>
                <a:spcPct val="50000"/>
              </a:spcBef>
            </a:pPr>
            <a:r>
              <a:rPr lang="fr-FR" b="1" dirty="0">
                <a:solidFill>
                  <a:srgbClr val="00B0F0"/>
                </a:solidFill>
              </a:rPr>
              <a:t>if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/>
              <a:t>condition </a:t>
            </a:r>
            <a:r>
              <a:rPr lang="fr-FR" b="1" dirty="0">
                <a:solidFill>
                  <a:srgbClr val="FF0000"/>
                </a:solidFill>
              </a:rPr>
              <a:t>; </a:t>
            </a:r>
            <a:r>
              <a:rPr lang="fr-FR" b="1" dirty="0" err="1">
                <a:solidFill>
                  <a:srgbClr val="FF0000"/>
                </a:solidFill>
              </a:rPr>
              <a:t>then</a:t>
            </a:r>
            <a:endParaRPr lang="fr-FR" b="1" dirty="0">
              <a:solidFill>
                <a:srgbClr val="FF0000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fr-FR" dirty="0"/>
              <a:t>    Traitement</a:t>
            </a:r>
          </a:p>
          <a:p>
            <a:pPr algn="l">
              <a:spcBef>
                <a:spcPct val="50000"/>
              </a:spcBef>
            </a:pPr>
            <a:r>
              <a:rPr lang="fr-FR" b="1" dirty="0">
                <a:solidFill>
                  <a:srgbClr val="00B0F0"/>
                </a:solidFill>
              </a:rPr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1620311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re 1"/>
          <p:cNvSpPr>
            <a:spLocks noGrp="1"/>
          </p:cNvSpPr>
          <p:nvPr>
            <p:ph type="title"/>
          </p:nvPr>
        </p:nvSpPr>
        <p:spPr>
          <a:xfrm>
            <a:off x="640319" y="851452"/>
            <a:ext cx="11704321" cy="1187466"/>
          </a:xfrm>
        </p:spPr>
        <p:txBody>
          <a:bodyPr>
            <a:noAutofit/>
          </a:bodyPr>
          <a:lstStyle/>
          <a:p>
            <a:pPr hangingPunct="1"/>
            <a:r>
              <a:rPr lang="fr-FR" sz="3600" b="1" dirty="0">
                <a:solidFill>
                  <a:schemeClr val="bg1"/>
                </a:solidFill>
                <a:latin typeface="Palatino"/>
              </a:rPr>
              <a:t/>
            </a:r>
            <a:br>
              <a:rPr lang="fr-FR" sz="3600" b="1" dirty="0">
                <a:solidFill>
                  <a:schemeClr val="bg1"/>
                </a:solidFill>
                <a:latin typeface="Palatino"/>
              </a:rPr>
            </a:br>
            <a:r>
              <a:rPr lang="fr-FR" sz="3600" b="1" dirty="0">
                <a:solidFill>
                  <a:schemeClr val="bg1"/>
                </a:solidFill>
                <a:latin typeface="Palatino"/>
              </a:rPr>
              <a:t> </a:t>
            </a:r>
            <a:r>
              <a:rPr lang="fr-FR" sz="4800" dirty="0">
                <a:latin typeface="Palatino"/>
              </a:rPr>
              <a:t>Les structures conditionnelles </a:t>
            </a:r>
            <a:r>
              <a:rPr lang="fr-FR" sz="4800" b="1" dirty="0">
                <a:latin typeface="Palatino"/>
              </a:rPr>
              <a:t>if</a:t>
            </a:r>
            <a:r>
              <a:rPr lang="fr-FR" sz="4800" dirty="0">
                <a:latin typeface="Palatino"/>
              </a:rPr>
              <a:t> (2/2)</a:t>
            </a:r>
            <a:br>
              <a:rPr lang="fr-FR" sz="4800" dirty="0">
                <a:latin typeface="Palatino"/>
              </a:rPr>
            </a:br>
            <a:endParaRPr lang="fr-FR" sz="4800" dirty="0">
              <a:latin typeface="Palatino"/>
            </a:endParaRPr>
          </a:p>
        </p:txBody>
      </p:sp>
      <p:sp>
        <p:nvSpPr>
          <p:cNvPr id="8" name="Espace réservé du numéro de diapositive 7"/>
          <p:cNvSpPr txBox="1">
            <a:spLocks noGrp="1"/>
          </p:cNvSpPr>
          <p:nvPr/>
        </p:nvSpPr>
        <p:spPr>
          <a:xfrm>
            <a:off x="11176035" y="9132299"/>
            <a:ext cx="1727166" cy="519235"/>
          </a:xfrm>
          <a:prstGeom prst="rect">
            <a:avLst/>
          </a:prstGeom>
          <a:noFill/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lIns="130032" tIns="65016" rIns="130032" bIns="65016" anchor="ctr"/>
          <a:lstStyle/>
          <a:p>
            <a:pPr algn="r">
              <a:defRPr/>
            </a:pPr>
            <a:r>
              <a:rPr lang="fr-BE" sz="1935" b="1" dirty="0">
                <a:solidFill>
                  <a:schemeClr val="bg1"/>
                </a:solidFill>
                <a:latin typeface="+mn-lt"/>
                <a:cs typeface="+mn-cs"/>
              </a:rPr>
              <a:t>  </a:t>
            </a:r>
          </a:p>
        </p:txBody>
      </p:sp>
      <p:sp>
        <p:nvSpPr>
          <p:cNvPr id="27663" name="Text Box 23"/>
          <p:cNvSpPr txBox="1">
            <a:spLocks noChangeArrowheads="1"/>
          </p:cNvSpPr>
          <p:nvPr/>
        </p:nvSpPr>
        <p:spPr bwMode="auto">
          <a:xfrm>
            <a:off x="3942081" y="3648700"/>
            <a:ext cx="3585351" cy="607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32" tIns="65016" rIns="130032" bIns="65016">
            <a:spAutoFit/>
          </a:bodyPr>
          <a:lstStyle/>
          <a:p>
            <a:pPr>
              <a:spcBef>
                <a:spcPct val="50000"/>
              </a:spcBef>
            </a:pPr>
            <a:endParaRPr lang="fr-FR" sz="3096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b="4027"/>
          <a:stretch/>
        </p:blipFill>
        <p:spPr>
          <a:xfrm>
            <a:off x="640319" y="2357437"/>
            <a:ext cx="7093981" cy="4835843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162" y="4495800"/>
            <a:ext cx="7342188" cy="515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11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Espace réservé du contenu 2"/>
          <p:cNvSpPr>
            <a:spLocks noGrp="1"/>
          </p:cNvSpPr>
          <p:nvPr>
            <p:ph idx="1"/>
          </p:nvPr>
        </p:nvSpPr>
        <p:spPr>
          <a:xfrm>
            <a:off x="5120640" y="2683941"/>
            <a:ext cx="7420406" cy="6341949"/>
          </a:xfrm>
        </p:spPr>
        <p:txBody>
          <a:bodyPr>
            <a:normAutofit fontScale="85000" lnSpcReduction="20000"/>
          </a:bodyPr>
          <a:lstStyle/>
          <a:p>
            <a:pPr>
              <a:buFont typeface="Arial" charset="0"/>
              <a:buNone/>
            </a:pPr>
            <a:endParaRPr lang="fr-FR" dirty="0"/>
          </a:p>
          <a:p>
            <a:pPr>
              <a:buFont typeface="Arial" charset="0"/>
              <a:buNone/>
            </a:pPr>
            <a:r>
              <a:rPr lang="fr-FR" sz="3200" b="1" dirty="0">
                <a:solidFill>
                  <a:srgbClr val="00B050"/>
                </a:solidFill>
              </a:rPr>
              <a:t>case</a:t>
            </a:r>
            <a:r>
              <a:rPr lang="fr-FR" sz="3200" dirty="0"/>
              <a:t> $variable </a:t>
            </a:r>
            <a:r>
              <a:rPr lang="fr-FR" sz="3200" b="1" dirty="0">
                <a:solidFill>
                  <a:srgbClr val="00B0F0"/>
                </a:solidFill>
              </a:rPr>
              <a:t>in</a:t>
            </a:r>
            <a:r>
              <a:rPr lang="fr-FR" sz="3200" dirty="0"/>
              <a:t> </a:t>
            </a:r>
          </a:p>
          <a:p>
            <a:pPr>
              <a:buFont typeface="Arial" charset="0"/>
              <a:buNone/>
            </a:pPr>
            <a:r>
              <a:rPr lang="fr-FR" sz="3200" dirty="0"/>
              <a:t>expr1</a:t>
            </a:r>
            <a:r>
              <a:rPr lang="fr-FR" sz="3200" b="1" dirty="0">
                <a:solidFill>
                  <a:srgbClr val="00B0F0"/>
                </a:solidFill>
              </a:rPr>
              <a:t>)</a:t>
            </a:r>
            <a:r>
              <a:rPr lang="fr-FR" sz="3200" dirty="0"/>
              <a:t> commandes </a:t>
            </a:r>
            <a:r>
              <a:rPr lang="fr-FR" sz="3200" b="1" dirty="0">
                <a:solidFill>
                  <a:srgbClr val="00B0F0"/>
                </a:solidFill>
              </a:rPr>
              <a:t>;;</a:t>
            </a:r>
          </a:p>
          <a:p>
            <a:pPr>
              <a:buFont typeface="Arial" charset="0"/>
              <a:buNone/>
            </a:pPr>
            <a:r>
              <a:rPr lang="fr-FR" sz="3200" dirty="0"/>
              <a:t>expr2</a:t>
            </a:r>
            <a:r>
              <a:rPr lang="fr-FR" sz="3200" b="1" dirty="0">
                <a:solidFill>
                  <a:srgbClr val="00B0F0"/>
                </a:solidFill>
              </a:rPr>
              <a:t>)</a:t>
            </a:r>
            <a:r>
              <a:rPr lang="fr-FR" sz="3200" dirty="0"/>
              <a:t> commandes </a:t>
            </a:r>
            <a:r>
              <a:rPr lang="fr-FR" sz="3200" b="1" dirty="0">
                <a:solidFill>
                  <a:srgbClr val="00B0F0"/>
                </a:solidFill>
              </a:rPr>
              <a:t>;;</a:t>
            </a:r>
          </a:p>
          <a:p>
            <a:pPr>
              <a:buFont typeface="Arial" charset="0"/>
              <a:buNone/>
            </a:pPr>
            <a:r>
              <a:rPr lang="fr-FR" sz="3200" dirty="0">
                <a:solidFill>
                  <a:srgbClr val="FF0000"/>
                </a:solidFill>
              </a:rPr>
              <a:t>.</a:t>
            </a:r>
          </a:p>
          <a:p>
            <a:pPr>
              <a:buFont typeface="Arial" charset="0"/>
              <a:buNone/>
            </a:pPr>
            <a:r>
              <a:rPr lang="fr-FR" sz="3200" dirty="0">
                <a:solidFill>
                  <a:srgbClr val="FF0000"/>
                </a:solidFill>
              </a:rPr>
              <a:t>.</a:t>
            </a:r>
          </a:p>
          <a:p>
            <a:pPr>
              <a:buFont typeface="Arial" charset="0"/>
              <a:buNone/>
            </a:pPr>
            <a:r>
              <a:rPr lang="fr-FR" sz="3200" dirty="0">
                <a:solidFill>
                  <a:srgbClr val="FF0000"/>
                </a:solidFill>
              </a:rPr>
              <a:t>.</a:t>
            </a:r>
          </a:p>
          <a:p>
            <a:pPr>
              <a:buFont typeface="Arial" charset="0"/>
              <a:buNone/>
            </a:pPr>
            <a:r>
              <a:rPr lang="fr-FR" sz="3200" dirty="0">
                <a:solidFill>
                  <a:srgbClr val="FF0000"/>
                </a:solidFill>
              </a:rPr>
              <a:t>.</a:t>
            </a:r>
          </a:p>
          <a:p>
            <a:pPr>
              <a:buFont typeface="Arial" charset="0"/>
              <a:buNone/>
            </a:pPr>
            <a:r>
              <a:rPr lang="fr-FR" sz="3200" dirty="0"/>
              <a:t> </a:t>
            </a:r>
            <a:r>
              <a:rPr lang="fr-FR" sz="3200" b="1" dirty="0">
                <a:solidFill>
                  <a:srgbClr val="00B0F0"/>
                </a:solidFill>
              </a:rPr>
              <a:t>*)</a:t>
            </a:r>
            <a:r>
              <a:rPr lang="fr-FR" sz="3200" dirty="0"/>
              <a:t> </a:t>
            </a:r>
            <a:r>
              <a:rPr lang="fr-FR" sz="3200" dirty="0" err="1"/>
              <a:t>par_défault</a:t>
            </a:r>
            <a:r>
              <a:rPr lang="fr-FR" sz="3200" dirty="0"/>
              <a:t> </a:t>
            </a:r>
            <a:r>
              <a:rPr lang="fr-FR" sz="3200" b="1" dirty="0">
                <a:solidFill>
                  <a:srgbClr val="00B0F0"/>
                </a:solidFill>
              </a:rPr>
              <a:t>;;</a:t>
            </a:r>
          </a:p>
          <a:p>
            <a:pPr>
              <a:buFont typeface="Arial" charset="0"/>
              <a:buNone/>
            </a:pPr>
            <a:r>
              <a:rPr lang="fr-FR" sz="3200" b="1" dirty="0" err="1">
                <a:solidFill>
                  <a:srgbClr val="00B050"/>
                </a:solidFill>
              </a:rPr>
              <a:t>esac</a:t>
            </a:r>
            <a:r>
              <a:rPr lang="fr-FR" sz="3200" dirty="0">
                <a:solidFill>
                  <a:srgbClr val="FF0000"/>
                </a:solidFill>
              </a:rPr>
              <a:t> </a:t>
            </a:r>
          </a:p>
          <a:p>
            <a:pPr>
              <a:buFont typeface="Arial" charset="0"/>
              <a:buNone/>
            </a:pPr>
            <a:endParaRPr lang="fr-FR" sz="2838" dirty="0"/>
          </a:p>
        </p:txBody>
      </p:sp>
      <p:sp>
        <p:nvSpPr>
          <p:cNvPr id="12" name="Rectangle 11"/>
          <p:cNvSpPr/>
          <p:nvPr/>
        </p:nvSpPr>
        <p:spPr>
          <a:xfrm>
            <a:off x="876300" y="886300"/>
            <a:ext cx="11525249" cy="1307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Les structures conditionnelles</a:t>
            </a:r>
            <a:r>
              <a:rPr lang="fr-FR" sz="4800" b="1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 case </a:t>
            </a:r>
            <a:r>
              <a:rPr lang="fr-FR" sz="4800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(1/2) </a:t>
            </a:r>
            <a:r>
              <a:rPr lang="fr-FR" sz="2800" b="1" dirty="0">
                <a:solidFill>
                  <a:schemeClr val="bg1"/>
                </a:solidFill>
              </a:rPr>
              <a:t/>
            </a:r>
            <a:br>
              <a:rPr lang="fr-FR" sz="2800" b="1" dirty="0">
                <a:solidFill>
                  <a:schemeClr val="bg1"/>
                </a:solidFill>
              </a:rPr>
            </a:br>
            <a:endParaRPr lang="fr-F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973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Espace réservé du contenu 2"/>
          <p:cNvSpPr>
            <a:spLocks noGrp="1"/>
          </p:cNvSpPr>
          <p:nvPr>
            <p:ph idx="1"/>
          </p:nvPr>
        </p:nvSpPr>
        <p:spPr>
          <a:xfrm>
            <a:off x="1114433" y="2973501"/>
            <a:ext cx="11426613" cy="6341949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endParaRPr lang="fr-FR" dirty="0"/>
          </a:p>
          <a:p>
            <a:pPr>
              <a:buFont typeface="Arial" charset="0"/>
              <a:buNone/>
            </a:pPr>
            <a:endParaRPr lang="fr-FR" sz="2838" dirty="0"/>
          </a:p>
        </p:txBody>
      </p:sp>
      <p:sp>
        <p:nvSpPr>
          <p:cNvPr id="12" name="Rectangle 11"/>
          <p:cNvSpPr/>
          <p:nvPr/>
        </p:nvSpPr>
        <p:spPr>
          <a:xfrm>
            <a:off x="974936" y="956190"/>
            <a:ext cx="115252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Les structures conditionnelles </a:t>
            </a:r>
            <a:r>
              <a:rPr lang="fr-FR" sz="4800" b="1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case</a:t>
            </a:r>
            <a:r>
              <a:rPr lang="fr-FR" sz="4800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 (2/2) 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/>
          <a:srcRect b="5256"/>
          <a:stretch/>
        </p:blipFill>
        <p:spPr>
          <a:xfrm>
            <a:off x="876300" y="2362200"/>
            <a:ext cx="7372350" cy="528828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3790950"/>
            <a:ext cx="8016679" cy="507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70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re 1"/>
          <p:cNvSpPr>
            <a:spLocks noGrp="1"/>
          </p:cNvSpPr>
          <p:nvPr>
            <p:ph type="title"/>
          </p:nvPr>
        </p:nvSpPr>
        <p:spPr>
          <a:xfrm>
            <a:off x="714165" y="853806"/>
            <a:ext cx="11704321" cy="118746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5400" dirty="0">
                <a:latin typeface="Palatino"/>
                <a:sym typeface="Palatino"/>
              </a:rPr>
              <a:t>Les structures itératives </a:t>
            </a:r>
            <a:r>
              <a:rPr lang="fr-FR" sz="5400" b="1" dirty="0">
                <a:latin typeface="Palatino"/>
                <a:sym typeface="Palatino"/>
              </a:rPr>
              <a:t>for</a:t>
            </a:r>
            <a:r>
              <a:rPr lang="fr-FR" sz="5400" dirty="0">
                <a:latin typeface="Palatino"/>
                <a:sym typeface="Palatino"/>
              </a:rPr>
              <a:t> (1/3)</a:t>
            </a:r>
          </a:p>
        </p:txBody>
      </p:sp>
      <p:sp>
        <p:nvSpPr>
          <p:cNvPr id="31747" name="Espace réservé du contenu 2"/>
          <p:cNvSpPr>
            <a:spLocks noGrp="1"/>
          </p:cNvSpPr>
          <p:nvPr>
            <p:ph idx="1"/>
          </p:nvPr>
        </p:nvSpPr>
        <p:spPr>
          <a:xfrm>
            <a:off x="991873" y="2041272"/>
            <a:ext cx="11426613" cy="6478870"/>
          </a:xfrm>
        </p:spPr>
        <p:txBody>
          <a:bodyPr/>
          <a:lstStyle/>
          <a:p>
            <a:pPr lvl="1" algn="ctr">
              <a:buFont typeface="Arial" charset="0"/>
              <a:buNone/>
            </a:pPr>
            <a:r>
              <a:rPr lang="fr-FR" sz="3200" b="1" dirty="0">
                <a:solidFill>
                  <a:srgbClr val="00B0F0"/>
                </a:solidFill>
              </a:rPr>
              <a:t>for</a:t>
            </a:r>
            <a:r>
              <a:rPr lang="fr-FR" sz="3200" dirty="0">
                <a:solidFill>
                  <a:srgbClr val="00B0F0"/>
                </a:solidFill>
              </a:rPr>
              <a:t> </a:t>
            </a:r>
            <a:r>
              <a:rPr lang="fr-FR" sz="3200" dirty="0"/>
              <a:t>variable [</a:t>
            </a:r>
            <a:r>
              <a:rPr lang="fr-FR" sz="3200" b="1" dirty="0">
                <a:solidFill>
                  <a:srgbClr val="00B0F0"/>
                </a:solidFill>
              </a:rPr>
              <a:t>in</a:t>
            </a:r>
            <a:r>
              <a:rPr lang="fr-FR" sz="3200" dirty="0"/>
              <a:t> liste]</a:t>
            </a:r>
          </a:p>
          <a:p>
            <a:pPr lvl="1" algn="ctr">
              <a:buFont typeface="Arial" charset="0"/>
              <a:buNone/>
            </a:pPr>
            <a:r>
              <a:rPr lang="fr-FR" sz="3200" b="1" dirty="0">
                <a:solidFill>
                  <a:srgbClr val="00B050"/>
                </a:solidFill>
              </a:rPr>
              <a:t>do</a:t>
            </a:r>
            <a:r>
              <a:rPr lang="fr-FR" sz="3200" dirty="0"/>
              <a:t> </a:t>
            </a:r>
          </a:p>
          <a:p>
            <a:pPr lvl="1" algn="ctr">
              <a:buFont typeface="Arial" charset="0"/>
              <a:buNone/>
            </a:pPr>
            <a:r>
              <a:rPr lang="fr-FR" sz="3200" dirty="0"/>
              <a:t>	commandes </a:t>
            </a:r>
            <a:r>
              <a:rPr lang="fr-FR" sz="3200" i="1" dirty="0"/>
              <a:t>(utilisant $variable)</a:t>
            </a:r>
          </a:p>
          <a:p>
            <a:pPr lvl="1" algn="ctr">
              <a:buFont typeface="Arial" charset="0"/>
              <a:buNone/>
            </a:pPr>
            <a:r>
              <a:rPr lang="fr-FR" sz="3200" b="1" dirty="0" err="1">
                <a:solidFill>
                  <a:srgbClr val="00B050"/>
                </a:solidFill>
              </a:rPr>
              <a:t>done</a:t>
            </a:r>
            <a:r>
              <a:rPr lang="fr-FR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5388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re 1"/>
          <p:cNvSpPr>
            <a:spLocks noGrp="1"/>
          </p:cNvSpPr>
          <p:nvPr>
            <p:ph type="title"/>
          </p:nvPr>
        </p:nvSpPr>
        <p:spPr>
          <a:xfrm>
            <a:off x="714165" y="853806"/>
            <a:ext cx="11704321" cy="118746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5400" dirty="0">
                <a:latin typeface="Palatino"/>
                <a:sym typeface="Palatino"/>
              </a:rPr>
              <a:t>Les structures itératives </a:t>
            </a:r>
            <a:r>
              <a:rPr lang="fr-FR" sz="5400" b="1" dirty="0">
                <a:latin typeface="Palatino"/>
                <a:sym typeface="Palatino"/>
              </a:rPr>
              <a:t>for</a:t>
            </a:r>
            <a:r>
              <a:rPr lang="fr-FR" sz="5400" dirty="0">
                <a:latin typeface="Palatino"/>
                <a:sym typeface="Palatino"/>
              </a:rPr>
              <a:t> (2/3)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b="5526"/>
          <a:stretch/>
        </p:blipFill>
        <p:spPr>
          <a:xfrm>
            <a:off x="508000" y="2314574"/>
            <a:ext cx="7759700" cy="573214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1" y="3981450"/>
            <a:ext cx="7091362" cy="490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1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re 1"/>
          <p:cNvSpPr>
            <a:spLocks noGrp="1"/>
          </p:cNvSpPr>
          <p:nvPr>
            <p:ph type="title"/>
          </p:nvPr>
        </p:nvSpPr>
        <p:spPr>
          <a:xfrm>
            <a:off x="714165" y="853806"/>
            <a:ext cx="11704321" cy="118746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5400" dirty="0">
                <a:latin typeface="Palatino"/>
                <a:sym typeface="Palatino"/>
              </a:rPr>
              <a:t>Les structures itératives </a:t>
            </a:r>
            <a:r>
              <a:rPr lang="fr-FR" sz="5400" b="1" dirty="0">
                <a:latin typeface="Palatino"/>
                <a:sym typeface="Palatino"/>
              </a:rPr>
              <a:t>for</a:t>
            </a:r>
            <a:r>
              <a:rPr lang="fr-FR" sz="5400" dirty="0">
                <a:latin typeface="Palatino"/>
                <a:sym typeface="Palatino"/>
              </a:rPr>
              <a:t> (3/3)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b="5579"/>
          <a:stretch/>
        </p:blipFill>
        <p:spPr>
          <a:xfrm>
            <a:off x="508000" y="2471110"/>
            <a:ext cx="7378700" cy="554513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0" y="3143250"/>
            <a:ext cx="7073900" cy="573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8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re 1"/>
          <p:cNvSpPr>
            <a:spLocks noGrp="1"/>
          </p:cNvSpPr>
          <p:nvPr>
            <p:ph type="title"/>
          </p:nvPr>
        </p:nvSpPr>
        <p:spPr>
          <a:xfrm>
            <a:off x="714165" y="853806"/>
            <a:ext cx="11704321" cy="118746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5400" dirty="0">
                <a:latin typeface="Palatino"/>
                <a:sym typeface="Palatino"/>
              </a:rPr>
              <a:t>Commande </a:t>
            </a:r>
            <a:r>
              <a:rPr lang="fr-FR" sz="5400" b="1" dirty="0" err="1">
                <a:latin typeface="Palatino"/>
                <a:sym typeface="Palatino"/>
              </a:rPr>
              <a:t>seq</a:t>
            </a:r>
            <a:r>
              <a:rPr lang="fr-FR" sz="5400" dirty="0">
                <a:latin typeface="Palatino"/>
                <a:sym typeface="Palatino"/>
              </a:rPr>
              <a:t>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50" y="2419940"/>
            <a:ext cx="5695900" cy="34778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04141"/>
                </a:solidFill>
              </a:rPr>
              <a:t>for i in 1 2 3 4 5 6 7 8 9 10 11 12 13 14 15</a:t>
            </a:r>
          </a:p>
          <a:p>
            <a:r>
              <a:rPr lang="fr-FR" sz="2000" b="1" dirty="0">
                <a:solidFill>
                  <a:srgbClr val="004141"/>
                </a:solidFill>
              </a:rPr>
              <a:t>do</a:t>
            </a:r>
          </a:p>
          <a:p>
            <a:r>
              <a:rPr lang="fr-FR" sz="2000" b="1" dirty="0">
                <a:solidFill>
                  <a:srgbClr val="004141"/>
                </a:solidFill>
              </a:rPr>
              <a:t>    </a:t>
            </a:r>
            <a:r>
              <a:rPr lang="fr-FR" sz="2000" b="1" dirty="0" err="1">
                <a:solidFill>
                  <a:srgbClr val="004141"/>
                </a:solidFill>
              </a:rPr>
              <a:t>echo</a:t>
            </a:r>
            <a:r>
              <a:rPr lang="fr-FR" sz="2000" b="1" dirty="0">
                <a:solidFill>
                  <a:srgbClr val="004141"/>
                </a:solidFill>
              </a:rPr>
              <a:t> $i</a:t>
            </a:r>
          </a:p>
          <a:p>
            <a:r>
              <a:rPr lang="fr-FR" sz="2000" b="1" dirty="0" err="1">
                <a:solidFill>
                  <a:srgbClr val="004141"/>
                </a:solidFill>
              </a:rPr>
              <a:t>done</a:t>
            </a:r>
            <a:endParaRPr lang="fr-FR" sz="2000" b="1" dirty="0">
              <a:solidFill>
                <a:srgbClr val="004141"/>
              </a:solidFill>
            </a:endParaRPr>
          </a:p>
          <a:p>
            <a:endParaRPr lang="fr-FR" sz="2000" b="1" dirty="0"/>
          </a:p>
          <a:p>
            <a:r>
              <a:rPr lang="fr-FR" sz="2000" b="1" dirty="0">
                <a:solidFill>
                  <a:srgbClr val="FF0000"/>
                </a:solidFill>
              </a:rPr>
              <a:t>Très pénible </a:t>
            </a:r>
            <a:r>
              <a:rPr lang="fr-FR" sz="2000" b="1" dirty="0"/>
              <a:t>! Pour itérer par exemple 250 fois, vous devez saisir tout cela au clavier ! Heureusement, </a:t>
            </a:r>
            <a:r>
              <a:rPr lang="fr-FR" sz="2000" b="1" dirty="0">
                <a:solidFill>
                  <a:srgbClr val="FF0000"/>
                </a:solidFill>
              </a:rPr>
              <a:t>il y a un « raccourci », la commande </a:t>
            </a:r>
            <a:r>
              <a:rPr lang="fr-FR" sz="2000" b="1" dirty="0" err="1">
                <a:solidFill>
                  <a:srgbClr val="FF0000"/>
                </a:solidFill>
              </a:rPr>
              <a:t>seq</a:t>
            </a:r>
            <a:r>
              <a:rPr lang="fr-FR" sz="2000" b="1" dirty="0"/>
              <a:t>, qui affiche une séquence de nombres allant de 1 jusqu'au maximum indiqué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/>
          <a:srcRect b="30051"/>
          <a:stretch/>
        </p:blipFill>
        <p:spPr>
          <a:xfrm>
            <a:off x="1348422" y="6094357"/>
            <a:ext cx="6276975" cy="347787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0" y="2284095"/>
            <a:ext cx="638175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01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347912"/>
            <a:ext cx="6200775" cy="50577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1" y="3790951"/>
            <a:ext cx="9274174" cy="509174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714165" y="853806"/>
            <a:ext cx="11704321" cy="1187466"/>
          </a:xfrm>
        </p:spPr>
        <p:txBody>
          <a:bodyPr>
            <a:normAutofit/>
          </a:bodyPr>
          <a:lstStyle/>
          <a:p>
            <a:pPr eaLnBrk="1" hangingPunct="1"/>
            <a:r>
              <a:rPr lang="fr-FR" sz="5400" dirty="0">
                <a:latin typeface="Palatino"/>
                <a:sym typeface="Palatino"/>
              </a:rPr>
              <a:t>Commande </a:t>
            </a:r>
            <a:r>
              <a:rPr lang="fr-FR" sz="5400" b="1" dirty="0" err="1">
                <a:latin typeface="Palatino"/>
                <a:sym typeface="Palatino"/>
              </a:rPr>
              <a:t>seq</a:t>
            </a:r>
            <a:r>
              <a:rPr lang="fr-FR" sz="5400" dirty="0">
                <a:latin typeface="Palatino"/>
                <a:sym typeface="Palatino"/>
              </a:rPr>
              <a:t> (2/2)</a:t>
            </a:r>
          </a:p>
        </p:txBody>
      </p:sp>
    </p:spTree>
    <p:extLst>
      <p:ext uri="{BB962C8B-B14F-4D97-AF65-F5344CB8AC3E}">
        <p14:creationId xmlns:p14="http://schemas.microsoft.com/office/powerpoint/2010/main" val="3376487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re 1"/>
          <p:cNvSpPr>
            <a:spLocks noGrp="1"/>
          </p:cNvSpPr>
          <p:nvPr>
            <p:ph type="title"/>
          </p:nvPr>
        </p:nvSpPr>
        <p:spPr>
          <a:xfrm>
            <a:off x="666046" y="370750"/>
            <a:ext cx="11704321" cy="118746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fr-FR" sz="4515" b="1" dirty="0">
                <a:latin typeface="Palatino"/>
              </a:rPr>
              <a:t/>
            </a:r>
            <a:br>
              <a:rPr lang="fr-FR" sz="4515" b="1" dirty="0">
                <a:latin typeface="Palatino"/>
              </a:rPr>
            </a:br>
            <a:endParaRPr lang="fr-FR" sz="4515" b="1" dirty="0">
              <a:latin typeface="Palatino"/>
            </a:endParaRPr>
          </a:p>
        </p:txBody>
      </p:sp>
      <p:sp>
        <p:nvSpPr>
          <p:cNvPr id="34819" name="Espace réservé du contenu 2"/>
          <p:cNvSpPr>
            <a:spLocks noGrp="1"/>
          </p:cNvSpPr>
          <p:nvPr>
            <p:ph idx="1"/>
          </p:nvPr>
        </p:nvSpPr>
        <p:spPr>
          <a:xfrm>
            <a:off x="1021536" y="2329119"/>
            <a:ext cx="11611999" cy="6497143"/>
          </a:xfrm>
        </p:spPr>
        <p:txBody>
          <a:bodyPr>
            <a:normAutofit fontScale="70000" lnSpcReduction="20000"/>
          </a:bodyPr>
          <a:lstStyle/>
          <a:p>
            <a:pPr indent="2486025">
              <a:buFont typeface="Arial" charset="0"/>
              <a:buNone/>
            </a:pPr>
            <a:r>
              <a:rPr lang="fr-FR" sz="2838" b="1" dirty="0" err="1">
                <a:solidFill>
                  <a:srgbClr val="00B0F0"/>
                </a:solidFill>
              </a:rPr>
              <a:t>while</a:t>
            </a:r>
            <a:r>
              <a:rPr lang="fr-FR" sz="2838" b="1" dirty="0">
                <a:solidFill>
                  <a:srgbClr val="C00000"/>
                </a:solidFill>
              </a:rPr>
              <a:t> </a:t>
            </a:r>
            <a:r>
              <a:rPr lang="fr-FR" sz="2838" b="1" dirty="0">
                <a:solidFill>
                  <a:schemeClr val="bg1"/>
                </a:solidFill>
              </a:rPr>
              <a:t> commande 1</a:t>
            </a:r>
          </a:p>
          <a:p>
            <a:pPr indent="2486025">
              <a:buFont typeface="Arial" charset="0"/>
              <a:buNone/>
            </a:pPr>
            <a:r>
              <a:rPr lang="fr-FR" sz="2838" b="1" dirty="0">
                <a:solidFill>
                  <a:srgbClr val="00B050"/>
                </a:solidFill>
              </a:rPr>
              <a:t>do </a:t>
            </a:r>
          </a:p>
          <a:p>
            <a:pPr indent="2486025">
              <a:buFont typeface="Arial" charset="0"/>
              <a:buNone/>
            </a:pPr>
            <a:r>
              <a:rPr lang="fr-FR" sz="2838" b="1" dirty="0">
                <a:solidFill>
                  <a:schemeClr val="bg1"/>
                </a:solidFill>
              </a:rPr>
              <a:t>          commandes</a:t>
            </a:r>
          </a:p>
          <a:p>
            <a:pPr indent="2486025">
              <a:buFont typeface="Arial" charset="0"/>
              <a:buNone/>
            </a:pPr>
            <a:r>
              <a:rPr lang="fr-FR" sz="2838" b="1" dirty="0" err="1">
                <a:solidFill>
                  <a:srgbClr val="00B050"/>
                </a:solidFill>
              </a:rPr>
              <a:t>done</a:t>
            </a:r>
            <a:endParaRPr lang="fr-FR" sz="2838" b="1" dirty="0">
              <a:solidFill>
                <a:srgbClr val="00B050"/>
              </a:solidFill>
            </a:endParaRPr>
          </a:p>
          <a:p>
            <a:pPr>
              <a:buFont typeface="Arial" charset="0"/>
              <a:buNone/>
            </a:pPr>
            <a:r>
              <a:rPr lang="fr-FR" sz="2838" dirty="0"/>
              <a:t>La boucle </a:t>
            </a:r>
            <a:r>
              <a:rPr lang="fr-FR" sz="2838" b="1" dirty="0" err="1"/>
              <a:t>while</a:t>
            </a:r>
            <a:r>
              <a:rPr lang="fr-FR" sz="2838" b="1" dirty="0"/>
              <a:t> </a:t>
            </a:r>
            <a:r>
              <a:rPr lang="fr-FR" sz="2838" dirty="0"/>
              <a:t>permet d'exécuter les commandes présentes entre le </a:t>
            </a:r>
            <a:r>
              <a:rPr lang="fr-FR" sz="2838" b="1" dirty="0"/>
              <a:t>do</a:t>
            </a:r>
            <a:r>
              <a:rPr lang="fr-FR" sz="2838" dirty="0"/>
              <a:t> et le </a:t>
            </a:r>
            <a:r>
              <a:rPr lang="fr-FR" sz="2838" b="1" dirty="0" err="1"/>
              <a:t>done</a:t>
            </a:r>
            <a:r>
              <a:rPr lang="fr-FR" sz="2838" dirty="0"/>
              <a:t> tant que</a:t>
            </a:r>
          </a:p>
          <a:p>
            <a:pPr>
              <a:buFont typeface="Arial" charset="0"/>
              <a:buNone/>
            </a:pPr>
            <a:r>
              <a:rPr lang="fr-FR" sz="2838" dirty="0"/>
              <a:t>la commande1 placée à droite du </a:t>
            </a:r>
            <a:r>
              <a:rPr lang="fr-FR" sz="2838" b="1" dirty="0" err="1"/>
              <a:t>while</a:t>
            </a:r>
            <a:r>
              <a:rPr lang="fr-FR" sz="2838" dirty="0"/>
              <a:t> retourne un code vrai.</a:t>
            </a:r>
          </a:p>
          <a:p>
            <a:pPr indent="2395538">
              <a:buFont typeface="Arial" charset="0"/>
              <a:buNone/>
            </a:pPr>
            <a:r>
              <a:rPr lang="fr-FR" sz="2838" b="1" dirty="0" err="1">
                <a:solidFill>
                  <a:srgbClr val="00B0F0"/>
                </a:solidFill>
              </a:rPr>
              <a:t>until</a:t>
            </a:r>
            <a:r>
              <a:rPr lang="fr-FR" sz="2838" b="1" dirty="0">
                <a:solidFill>
                  <a:srgbClr val="C00000"/>
                </a:solidFill>
              </a:rPr>
              <a:t> </a:t>
            </a:r>
            <a:r>
              <a:rPr lang="fr-FR" sz="2838" b="1" dirty="0">
                <a:solidFill>
                  <a:schemeClr val="bg1"/>
                </a:solidFill>
              </a:rPr>
              <a:t>commande1</a:t>
            </a:r>
            <a:r>
              <a:rPr lang="fr-FR" sz="2838" b="1" dirty="0">
                <a:solidFill>
                  <a:srgbClr val="C00000"/>
                </a:solidFill>
              </a:rPr>
              <a:t> </a:t>
            </a:r>
          </a:p>
          <a:p>
            <a:pPr indent="2395538">
              <a:buFont typeface="Arial" charset="0"/>
              <a:buNone/>
            </a:pPr>
            <a:r>
              <a:rPr lang="fr-FR" sz="2838" b="1" dirty="0">
                <a:solidFill>
                  <a:srgbClr val="00B050"/>
                </a:solidFill>
              </a:rPr>
              <a:t>do</a:t>
            </a:r>
            <a:r>
              <a:rPr lang="fr-FR" sz="2838" b="1" dirty="0">
                <a:solidFill>
                  <a:srgbClr val="C00000"/>
                </a:solidFill>
              </a:rPr>
              <a:t> </a:t>
            </a:r>
          </a:p>
          <a:p>
            <a:pPr indent="2395538">
              <a:buFont typeface="Arial" charset="0"/>
              <a:buNone/>
            </a:pPr>
            <a:r>
              <a:rPr lang="fr-FR" sz="2838" b="1" dirty="0">
                <a:solidFill>
                  <a:schemeClr val="bg1"/>
                </a:solidFill>
              </a:rPr>
              <a:t>commandes</a:t>
            </a:r>
          </a:p>
          <a:p>
            <a:pPr indent="2395538">
              <a:buFont typeface="Arial" charset="0"/>
              <a:buNone/>
            </a:pPr>
            <a:r>
              <a:rPr lang="fr-FR" sz="2838" b="1" dirty="0" err="1">
                <a:solidFill>
                  <a:srgbClr val="00B050"/>
                </a:solidFill>
              </a:rPr>
              <a:t>done</a:t>
            </a:r>
            <a:endParaRPr lang="fr-FR" sz="2838" b="1" dirty="0">
              <a:solidFill>
                <a:srgbClr val="00B050"/>
              </a:solidFill>
            </a:endParaRPr>
          </a:p>
          <a:p>
            <a:pPr>
              <a:buFont typeface="Arial" charset="0"/>
              <a:buNone/>
            </a:pPr>
            <a:r>
              <a:rPr lang="fr-FR" sz="2800" dirty="0"/>
              <a:t>la commande </a:t>
            </a:r>
            <a:r>
              <a:rPr lang="fr-FR" sz="2800" b="1" dirty="0" err="1"/>
              <a:t>until</a:t>
            </a:r>
            <a:r>
              <a:rPr lang="fr-FR" sz="2800" dirty="0"/>
              <a:t> exécute les commandes situées entre le </a:t>
            </a:r>
            <a:r>
              <a:rPr lang="fr-FR" sz="2800" b="1" dirty="0"/>
              <a:t>do</a:t>
            </a:r>
            <a:r>
              <a:rPr lang="fr-FR" sz="2800" dirty="0"/>
              <a:t> et  le  </a:t>
            </a:r>
            <a:r>
              <a:rPr lang="fr-FR" sz="2800" b="1" dirty="0" err="1"/>
              <a:t>done</a:t>
            </a:r>
            <a:r>
              <a:rPr lang="fr-FR" sz="2800" dirty="0"/>
              <a:t>  tant que la </a:t>
            </a:r>
          </a:p>
          <a:p>
            <a:pPr>
              <a:buFont typeface="Arial" charset="0"/>
              <a:buNone/>
            </a:pPr>
            <a:r>
              <a:rPr lang="fr-FR" sz="2800" dirty="0"/>
              <a:t>commande1 située à droite du </a:t>
            </a:r>
            <a:r>
              <a:rPr lang="fr-FR" sz="2800" b="1" dirty="0" err="1"/>
              <a:t>until</a:t>
            </a:r>
            <a:r>
              <a:rPr lang="fr-FR" sz="2800" b="1" dirty="0"/>
              <a:t> </a:t>
            </a:r>
            <a:r>
              <a:rPr lang="fr-FR" sz="2800" dirty="0"/>
              <a:t>retourne un code faux.</a:t>
            </a:r>
          </a:p>
        </p:txBody>
      </p:sp>
      <p:sp>
        <p:nvSpPr>
          <p:cNvPr id="34831" name="Titre 1"/>
          <p:cNvSpPr>
            <a:spLocks/>
          </p:cNvSpPr>
          <p:nvPr/>
        </p:nvSpPr>
        <p:spPr bwMode="auto">
          <a:xfrm>
            <a:off x="767080" y="756202"/>
            <a:ext cx="11704321" cy="1187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30032" tIns="65016" rIns="130032" bIns="65016" anchor="ctr"/>
          <a:lstStyle/>
          <a:p>
            <a:r>
              <a:rPr lang="fr-FR" sz="5400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Les structures itératives </a:t>
            </a:r>
            <a:r>
              <a:rPr lang="fr-FR" sz="5400" b="1" dirty="0" err="1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while</a:t>
            </a:r>
            <a:r>
              <a:rPr lang="fr-FR" sz="5400" dirty="0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, </a:t>
            </a:r>
            <a:r>
              <a:rPr lang="fr-FR" sz="5400" b="1" dirty="0" err="1">
                <a:solidFill>
                  <a:srgbClr val="D93E2B"/>
                </a:solidFill>
                <a:ea typeface="+mn-ea"/>
                <a:cs typeface="+mn-cs"/>
                <a:sym typeface="Bodoni SvtyTwo ITC TT-Book"/>
              </a:rPr>
              <a:t>until</a:t>
            </a:r>
            <a:endParaRPr lang="fr-FR" sz="5400" b="1" dirty="0">
              <a:solidFill>
                <a:srgbClr val="D93E2B"/>
              </a:solidFill>
              <a:ea typeface="+mn-ea"/>
              <a:cs typeface="+mn-cs"/>
              <a:sym typeface="Bodoni SvtyTwo ITC TT-Book"/>
            </a:endParaRPr>
          </a:p>
        </p:txBody>
      </p:sp>
    </p:spTree>
    <p:extLst>
      <p:ext uri="{BB962C8B-B14F-4D97-AF65-F5344CB8AC3E}">
        <p14:creationId xmlns:p14="http://schemas.microsoft.com/office/powerpoint/2010/main" val="30895683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701040"/>
            <a:ext cx="11988800" cy="1447800"/>
          </a:xfrm>
        </p:spPr>
        <p:txBody>
          <a:bodyPr>
            <a:normAutofit/>
          </a:bodyPr>
          <a:lstStyle/>
          <a:p>
            <a:r>
              <a:rPr lang="fr-FR" sz="6600" dirty="0">
                <a:latin typeface="Palatino"/>
              </a:rPr>
              <a:t> Les fonctions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2419350"/>
            <a:ext cx="11988800" cy="68753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2400" dirty="0"/>
              <a:t>Une fonction est un bloc de code qui implémente un ensemble d'opérations.</a:t>
            </a:r>
            <a:endParaRPr lang="fr-FR" sz="2000" dirty="0"/>
          </a:p>
          <a:p>
            <a:pPr indent="520700">
              <a:buNone/>
            </a:pPr>
            <a:r>
              <a:rPr lang="fr-FR" sz="2400" b="1" dirty="0" err="1">
                <a:solidFill>
                  <a:srgbClr val="002060"/>
                </a:solidFill>
              </a:rPr>
              <a:t>function</a:t>
            </a:r>
            <a:r>
              <a:rPr lang="fr-FR" sz="2400" b="1" dirty="0">
                <a:solidFill>
                  <a:srgbClr val="002060"/>
                </a:solidFill>
              </a:rPr>
              <a:t> </a:t>
            </a:r>
            <a:r>
              <a:rPr lang="fr-FR" sz="2400" b="1" dirty="0" err="1">
                <a:solidFill>
                  <a:srgbClr val="002060"/>
                </a:solidFill>
              </a:rPr>
              <a:t>nom_fonction</a:t>
            </a:r>
            <a:r>
              <a:rPr lang="fr-FR" sz="2400" b="1" dirty="0">
                <a:solidFill>
                  <a:srgbClr val="002060"/>
                </a:solidFill>
              </a:rPr>
              <a:t> {</a:t>
            </a:r>
          </a:p>
          <a:p>
            <a:pPr indent="520700">
              <a:buNone/>
            </a:pPr>
            <a:r>
              <a:rPr lang="fr-FR" sz="2400" b="1" dirty="0">
                <a:solidFill>
                  <a:srgbClr val="002060"/>
                </a:solidFill>
              </a:rPr>
              <a:t>commande...</a:t>
            </a:r>
          </a:p>
          <a:p>
            <a:pPr indent="520700">
              <a:buNone/>
            </a:pPr>
            <a:r>
              <a:rPr lang="fr-FR" sz="2400" b="1" dirty="0">
                <a:solidFill>
                  <a:srgbClr val="002060"/>
                </a:solidFill>
              </a:rPr>
              <a:t>}</a:t>
            </a:r>
          </a:p>
          <a:p>
            <a:pPr indent="520700">
              <a:buNone/>
            </a:pPr>
            <a:r>
              <a:rPr lang="fr-FR" sz="2400" b="1" dirty="0">
                <a:solidFill>
                  <a:srgbClr val="002060"/>
                </a:solidFill>
              </a:rPr>
              <a:t>Ou</a:t>
            </a:r>
          </a:p>
          <a:p>
            <a:pPr indent="520700">
              <a:buNone/>
            </a:pPr>
            <a:r>
              <a:rPr lang="fr-FR" sz="2400" b="1" dirty="0" err="1">
                <a:solidFill>
                  <a:srgbClr val="002060"/>
                </a:solidFill>
              </a:rPr>
              <a:t>nom_fonction</a:t>
            </a:r>
            <a:r>
              <a:rPr lang="fr-FR" sz="2400" b="1" dirty="0">
                <a:solidFill>
                  <a:srgbClr val="002060"/>
                </a:solidFill>
              </a:rPr>
              <a:t> () {</a:t>
            </a:r>
          </a:p>
          <a:p>
            <a:pPr indent="520700">
              <a:buNone/>
            </a:pPr>
            <a:r>
              <a:rPr lang="fr-FR" sz="2400" b="1" dirty="0">
                <a:solidFill>
                  <a:srgbClr val="002060"/>
                </a:solidFill>
              </a:rPr>
              <a:t>commande...</a:t>
            </a:r>
          </a:p>
          <a:p>
            <a:pPr indent="520700">
              <a:buNone/>
            </a:pPr>
            <a:r>
              <a:rPr lang="fr-FR" sz="2400" b="1" dirty="0">
                <a:solidFill>
                  <a:srgbClr val="002060"/>
                </a:solidFill>
              </a:rPr>
              <a:t>}</a:t>
            </a:r>
          </a:p>
          <a:p>
            <a:r>
              <a:rPr lang="fr-FR" sz="2400" b="1" dirty="0">
                <a:solidFill>
                  <a:srgbClr val="C00000"/>
                </a:solidFill>
              </a:rPr>
              <a:t>Les fonctions sont appelées, </a:t>
            </a:r>
            <a:r>
              <a:rPr lang="fr-FR" sz="2400" b="1" i="1" dirty="0">
                <a:solidFill>
                  <a:srgbClr val="C00000"/>
                </a:solidFill>
              </a:rPr>
              <a:t>lancées</a:t>
            </a:r>
            <a:r>
              <a:rPr lang="fr-FR" sz="2400" b="1" dirty="0">
                <a:solidFill>
                  <a:srgbClr val="C00000"/>
                </a:solidFill>
              </a:rPr>
              <a:t>, simplement en invoquant leur noms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87316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fr-FR" sz="6600" dirty="0">
                <a:latin typeface="Palatino"/>
              </a:rPr>
              <a:t>Fonctions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2019300"/>
            <a:ext cx="11988800" cy="6096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800" dirty="0"/>
              <a:t>Les fonctions peuvent récupérer des arguments qui leur sont passés et renvoyer un </a:t>
            </a:r>
            <a:r>
              <a:rPr lang="fr-FR" sz="2800" dirty="0">
                <a:solidFill>
                  <a:srgbClr val="C00000"/>
                </a:solidFill>
              </a:rPr>
              <a:t>code de sortie</a:t>
            </a:r>
            <a:r>
              <a:rPr lang="fr-FR" sz="2800" dirty="0"/>
              <a:t> au script pour utilisation ultérieure.</a:t>
            </a:r>
          </a:p>
          <a:p>
            <a:pPr>
              <a:lnSpc>
                <a:spcPct val="150000"/>
              </a:lnSpc>
              <a:buNone/>
            </a:pPr>
            <a:r>
              <a:rPr lang="fr-FR" sz="3200" b="1" dirty="0">
                <a:solidFill>
                  <a:srgbClr val="002060"/>
                </a:solidFill>
              </a:rPr>
              <a:t>          </a:t>
            </a:r>
            <a:r>
              <a:rPr lang="fr-FR" sz="3200" b="1" dirty="0" err="1">
                <a:solidFill>
                  <a:srgbClr val="002060"/>
                </a:solidFill>
              </a:rPr>
              <a:t>nom_fonction</a:t>
            </a:r>
            <a:r>
              <a:rPr lang="fr-FR" sz="3200" b="1" dirty="0">
                <a:solidFill>
                  <a:srgbClr val="002060"/>
                </a:solidFill>
              </a:rPr>
              <a:t> $arg1 $arg2</a:t>
            </a:r>
          </a:p>
          <a:p>
            <a:pPr>
              <a:lnSpc>
                <a:spcPct val="150000"/>
              </a:lnSpc>
            </a:pPr>
            <a:r>
              <a:rPr lang="fr-FR" sz="2800" dirty="0"/>
              <a:t> La fonction se réfère aux arguments passés par leur position (comme s'ils étaient des </a:t>
            </a:r>
            <a:r>
              <a:rPr lang="fr-FR" sz="2800" b="1" dirty="0">
                <a:solidFill>
                  <a:srgbClr val="002060"/>
                </a:solidFill>
              </a:rPr>
              <a:t>paramètres positionnels</a:t>
            </a:r>
            <a:r>
              <a:rPr lang="fr-FR" sz="2800" dirty="0"/>
              <a:t>), c'est-à-dire $1, $2 et ainsi de suite.</a:t>
            </a:r>
            <a:endParaRPr lang="fr-FR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145982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800100"/>
            <a:ext cx="11988800" cy="1219200"/>
          </a:xfrm>
        </p:spPr>
        <p:txBody>
          <a:bodyPr>
            <a:noAutofit/>
          </a:bodyPr>
          <a:lstStyle/>
          <a:p>
            <a:r>
              <a:rPr lang="fr-FR" sz="5400" dirty="0">
                <a:latin typeface="Palatino"/>
              </a:rPr>
              <a:t>Fonction avec des paramètres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67840" y="2064327"/>
            <a:ext cx="10728960" cy="830926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r-FR" sz="2800" b="1" dirty="0">
                <a:solidFill>
                  <a:srgbClr val="002060"/>
                </a:solidFill>
              </a:rPr>
              <a:t>#!/</a:t>
            </a:r>
            <a:r>
              <a:rPr lang="fr-FR" sz="2800" b="1" dirty="0" err="1">
                <a:solidFill>
                  <a:srgbClr val="002060"/>
                </a:solidFill>
              </a:rPr>
              <a:t>bin</a:t>
            </a:r>
            <a:r>
              <a:rPr lang="fr-FR" sz="2800" b="1" dirty="0">
                <a:solidFill>
                  <a:srgbClr val="002060"/>
                </a:solidFill>
              </a:rPr>
              <a:t>/</a:t>
            </a:r>
            <a:r>
              <a:rPr lang="fr-FR" sz="2800" b="1" dirty="0" err="1">
                <a:solidFill>
                  <a:srgbClr val="002060"/>
                </a:solidFill>
              </a:rPr>
              <a:t>bash</a:t>
            </a:r>
            <a:endParaRPr lang="fr-FR" sz="2800" b="1" dirty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fr-FR" sz="2800" b="1" dirty="0">
                <a:solidFill>
                  <a:srgbClr val="FF0000"/>
                </a:solidFill>
              </a:rPr>
              <a:t>usage() </a:t>
            </a:r>
            <a:r>
              <a:rPr lang="fr-FR" sz="2800" b="1" dirty="0">
                <a:solidFill>
                  <a:srgbClr val="002060"/>
                </a:solidFill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>
                <a:solidFill>
                  <a:srgbClr val="002060"/>
                </a:solidFill>
              </a:rPr>
              <a:t>             </a:t>
            </a:r>
            <a:r>
              <a:rPr lang="fr-FR" sz="2800" b="1" dirty="0" err="1">
                <a:solidFill>
                  <a:srgbClr val="002060"/>
                </a:solidFill>
              </a:rPr>
              <a:t>echo</a:t>
            </a:r>
            <a:r>
              <a:rPr lang="fr-FR" sz="2800" b="1" dirty="0">
                <a:solidFill>
                  <a:srgbClr val="002060"/>
                </a:solidFill>
              </a:rPr>
              <a:t> "Usage: $0 </a:t>
            </a:r>
            <a:r>
              <a:rPr lang="fr-FR" sz="2800" b="1" dirty="0" err="1">
                <a:solidFill>
                  <a:srgbClr val="002060"/>
                </a:solidFill>
              </a:rPr>
              <a:t>filename</a:t>
            </a:r>
            <a:r>
              <a:rPr lang="fr-FR" sz="2800" b="1" dirty="0">
                <a:solidFill>
                  <a:srgbClr val="002060"/>
                </a:solidFill>
              </a:rPr>
              <a:t>"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>
                <a:solidFill>
                  <a:srgbClr val="002060"/>
                </a:solidFill>
              </a:rPr>
              <a:t>             exit 1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>
                <a:solidFill>
                  <a:srgbClr val="002060"/>
                </a:solidFill>
              </a:rPr>
              <a:t>              }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 err="1">
                <a:solidFill>
                  <a:srgbClr val="FF0000"/>
                </a:solidFill>
              </a:rPr>
              <a:t>file_exists</a:t>
            </a:r>
            <a:r>
              <a:rPr lang="fr-FR" sz="2800" b="1" dirty="0">
                <a:solidFill>
                  <a:srgbClr val="FF0000"/>
                </a:solidFill>
              </a:rPr>
              <a:t>() </a:t>
            </a:r>
            <a:r>
              <a:rPr lang="fr-FR" sz="2800" b="1" dirty="0">
                <a:solidFill>
                  <a:srgbClr val="002060"/>
                </a:solidFill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2060"/>
                </a:solidFill>
              </a:rPr>
              <a:t>             test -f "$1" &amp;&amp; return 0 || return 1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>
                <a:solidFill>
                  <a:srgbClr val="002060"/>
                </a:solidFill>
              </a:rPr>
              <a:t>               }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>
                <a:solidFill>
                  <a:srgbClr val="002060"/>
                </a:solidFill>
              </a:rPr>
              <a:t>test $# -</a:t>
            </a:r>
            <a:r>
              <a:rPr lang="fr-FR" sz="2800" b="1" dirty="0" err="1">
                <a:solidFill>
                  <a:srgbClr val="002060"/>
                </a:solidFill>
              </a:rPr>
              <a:t>eq</a:t>
            </a:r>
            <a:r>
              <a:rPr lang="fr-FR" sz="2800" b="1" dirty="0">
                <a:solidFill>
                  <a:srgbClr val="002060"/>
                </a:solidFill>
              </a:rPr>
              <a:t> 0 &amp;&amp; </a:t>
            </a:r>
            <a:r>
              <a:rPr lang="fr-FR" sz="2800" b="1" dirty="0">
                <a:solidFill>
                  <a:srgbClr val="FF0000"/>
                </a:solidFill>
              </a:rPr>
              <a:t>usage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>
                <a:solidFill>
                  <a:srgbClr val="002060"/>
                </a:solidFill>
              </a:rPr>
              <a:t>if </a:t>
            </a:r>
            <a:r>
              <a:rPr lang="fr-FR" sz="2800" b="1" dirty="0" err="1">
                <a:solidFill>
                  <a:srgbClr val="FF0000"/>
                </a:solidFill>
              </a:rPr>
              <a:t>file_exists</a:t>
            </a:r>
            <a:r>
              <a:rPr lang="fr-FR" sz="2800" b="1" dirty="0">
                <a:solidFill>
                  <a:srgbClr val="002060"/>
                </a:solidFill>
              </a:rPr>
              <a:t> "$1"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 err="1">
                <a:solidFill>
                  <a:srgbClr val="002060"/>
                </a:solidFill>
              </a:rPr>
              <a:t>then</a:t>
            </a:r>
            <a:endParaRPr lang="fr-FR" sz="2800" b="1" dirty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fr-FR" sz="2800" b="1" dirty="0">
                <a:solidFill>
                  <a:srgbClr val="002060"/>
                </a:solidFill>
              </a:rPr>
              <a:t>     </a:t>
            </a:r>
            <a:r>
              <a:rPr lang="fr-FR" sz="2800" b="1" dirty="0" err="1">
                <a:solidFill>
                  <a:srgbClr val="002060"/>
                </a:solidFill>
              </a:rPr>
              <a:t>echo</a:t>
            </a:r>
            <a:r>
              <a:rPr lang="fr-FR" sz="2800" b="1" dirty="0">
                <a:solidFill>
                  <a:srgbClr val="002060"/>
                </a:solidFill>
              </a:rPr>
              <a:t> "File </a:t>
            </a:r>
            <a:r>
              <a:rPr lang="fr-FR" sz="2800" b="1" dirty="0" err="1">
                <a:solidFill>
                  <a:srgbClr val="002060"/>
                </a:solidFill>
              </a:rPr>
              <a:t>found</a:t>
            </a:r>
            <a:r>
              <a:rPr lang="fr-FR" sz="2800" b="1" dirty="0">
                <a:solidFill>
                  <a:srgbClr val="002060"/>
                </a:solidFill>
              </a:rPr>
              <a:t>"</a:t>
            </a:r>
          </a:p>
          <a:p>
            <a:pPr>
              <a:spcBef>
                <a:spcPts val="0"/>
              </a:spcBef>
              <a:buNone/>
            </a:pPr>
            <a:r>
              <a:rPr lang="fr-FR" sz="2800" b="1" dirty="0" err="1">
                <a:solidFill>
                  <a:srgbClr val="002060"/>
                </a:solidFill>
              </a:rPr>
              <a:t>else</a:t>
            </a:r>
            <a:endParaRPr lang="fr-FR" sz="2800" b="1" dirty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fr-FR" sz="2800" b="1" dirty="0">
                <a:solidFill>
                  <a:srgbClr val="002060"/>
                </a:solidFill>
              </a:rPr>
              <a:t>     </a:t>
            </a:r>
            <a:r>
              <a:rPr lang="fr-FR" sz="2800" b="1" dirty="0" err="1">
                <a:solidFill>
                  <a:srgbClr val="002060"/>
                </a:solidFill>
              </a:rPr>
              <a:t>echo</a:t>
            </a:r>
            <a:r>
              <a:rPr lang="fr-FR" sz="2800" b="1" dirty="0">
                <a:solidFill>
                  <a:srgbClr val="002060"/>
                </a:solidFill>
              </a:rPr>
              <a:t> "File not </a:t>
            </a:r>
            <a:r>
              <a:rPr lang="fr-FR" sz="2800" b="1" dirty="0" err="1">
                <a:solidFill>
                  <a:srgbClr val="002060"/>
                </a:solidFill>
              </a:rPr>
              <a:t>found</a:t>
            </a:r>
            <a:endParaRPr lang="fr-FR" sz="2800" b="1" dirty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fr-FR" sz="2800" b="1" dirty="0">
                <a:solidFill>
                  <a:srgbClr val="002060"/>
                </a:solidFill>
              </a:rPr>
              <a:t>fi</a:t>
            </a:r>
          </a:p>
          <a:p>
            <a:pPr>
              <a:buNone/>
            </a:pP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199393981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>
                <a:latin typeface="Palatino"/>
              </a:rPr>
              <a:t> Code de retour d’une fonction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2019300"/>
            <a:ext cx="11988800" cy="6096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dirty="0"/>
              <a:t>code de retour: </a:t>
            </a:r>
            <a:r>
              <a:rPr lang="fr-FR" sz="2800" dirty="0"/>
              <a:t>Les fonctions renvoient une valeur, appelée un </a:t>
            </a:r>
            <a:r>
              <a:rPr lang="fr-FR" sz="2800" i="1" dirty="0"/>
              <a:t>code (ou état) de retour </a:t>
            </a:r>
            <a:r>
              <a:rPr lang="fr-FR" sz="2800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Le code de retour peut être explicitement spécifié par une instruction </a:t>
            </a:r>
            <a:r>
              <a:rPr lang="fr-FR" sz="2800" b="1" dirty="0"/>
              <a:t>return</a:t>
            </a:r>
            <a:r>
              <a:rPr lang="fr-FR" sz="2800" dirty="0"/>
              <a:t>, sinon, il s'agit du code de retour de la dernière commande de la fonction (0 en cas de succès et une valeur non nulle comprise entre 1 et 255).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le code  retourné par une  fonction est récupérable grâce à la </a:t>
            </a:r>
            <a:r>
              <a:rPr lang="fr-FR" sz="2400" dirty="0"/>
              <a:t>variable</a:t>
            </a:r>
            <a:r>
              <a:rPr lang="fr-FR" sz="2800" dirty="0"/>
              <a:t> $?.</a:t>
            </a:r>
          </a:p>
        </p:txBody>
      </p:sp>
    </p:spTree>
    <p:extLst>
      <p:ext uri="{BB962C8B-B14F-4D97-AF65-F5344CB8AC3E}">
        <p14:creationId xmlns:p14="http://schemas.microsoft.com/office/powerpoint/2010/main" val="3412508633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dirty="0">
                <a:latin typeface="Palatino"/>
              </a:rPr>
              <a:t>Terminaisons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3200" dirty="0"/>
              <a:t>Un script : </a:t>
            </a:r>
            <a:r>
              <a:rPr lang="fr-FR" sz="3200" b="1" dirty="0">
                <a:solidFill>
                  <a:srgbClr val="002060"/>
                </a:solidFill>
              </a:rPr>
              <a:t>exit n</a:t>
            </a:r>
            <a:r>
              <a:rPr lang="fr-FR" sz="3200" dirty="0"/>
              <a:t> (n = code de retour indiquant succès ou échec).</a:t>
            </a:r>
          </a:p>
          <a:p>
            <a:pPr>
              <a:lnSpc>
                <a:spcPct val="150000"/>
              </a:lnSpc>
            </a:pPr>
            <a:r>
              <a:rPr lang="fr-FR" sz="3200" dirty="0"/>
              <a:t>Une fonction : </a:t>
            </a:r>
            <a:r>
              <a:rPr lang="fr-FR" sz="3200" b="1" dirty="0">
                <a:solidFill>
                  <a:srgbClr val="002060"/>
                </a:solidFill>
              </a:rPr>
              <a:t>return n</a:t>
            </a:r>
            <a:r>
              <a:rPr lang="fr-FR" sz="3200" dirty="0">
                <a:solidFill>
                  <a:srgbClr val="002060"/>
                </a:solidFill>
              </a:rPr>
              <a:t> </a:t>
            </a:r>
            <a:r>
              <a:rPr lang="fr-FR" sz="3200" dirty="0"/>
              <a:t>(n = code de retour indiquant succès ou échec).</a:t>
            </a:r>
          </a:p>
          <a:p>
            <a:pPr>
              <a:lnSpc>
                <a:spcPct val="150000"/>
              </a:lnSpc>
            </a:pPr>
            <a:r>
              <a:rPr lang="fr-FR" sz="3200" dirty="0"/>
              <a:t>Une boucle </a:t>
            </a:r>
            <a:r>
              <a:rPr lang="fr-FR" sz="3200" b="1" dirty="0"/>
              <a:t>: </a:t>
            </a:r>
            <a:r>
              <a:rPr lang="fr-FR" sz="3200" b="1" dirty="0">
                <a:solidFill>
                  <a:srgbClr val="002060"/>
                </a:solidFill>
              </a:rPr>
              <a:t>break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388751841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dirty="0">
                <a:latin typeface="Palatino"/>
              </a:rPr>
              <a:t>Exemple :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4520" y="2291271"/>
            <a:ext cx="11988800" cy="747756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#!/bin/</a:t>
            </a:r>
            <a:r>
              <a:rPr lang="fr-FR" sz="2000" b="1" dirty="0" err="1">
                <a:solidFill>
                  <a:srgbClr val="002060"/>
                </a:solidFill>
              </a:rPr>
              <a:t>bash</a:t>
            </a:r>
            <a:r>
              <a:rPr lang="fr-FR" sz="2000" b="1" dirty="0">
                <a:solidFill>
                  <a:srgbClr val="002060"/>
                </a:solidFill>
              </a:rPr>
              <a:t>	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E_PARAM_ERR=250  		  # Si moins de deux paramètres passés à la fonction.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EGAL=251        			           # Code de retour si les deux paramètres sont égaux.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max ()       				           # Envoie le plus important des deux entiers.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{                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if [ $# -</a:t>
            </a:r>
            <a:r>
              <a:rPr lang="fr-FR" sz="2000" b="1" dirty="0" err="1">
                <a:solidFill>
                  <a:srgbClr val="002060"/>
                </a:solidFill>
              </a:rPr>
              <a:t>lt</a:t>
            </a:r>
            <a:r>
              <a:rPr lang="fr-FR" sz="2000" b="1" dirty="0">
                <a:solidFill>
                  <a:srgbClr val="002060"/>
                </a:solidFill>
              </a:rPr>
              <a:t> 2]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err="1">
                <a:solidFill>
                  <a:srgbClr val="002060"/>
                </a:solidFill>
              </a:rPr>
              <a:t>then</a:t>
            </a:r>
            <a:endParaRPr lang="fr-FR" sz="20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 return $E_PARAM_ERR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fi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fr-FR" sz="20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if [ "$1" -</a:t>
            </a:r>
            <a:r>
              <a:rPr lang="fr-FR" sz="2000" b="1" dirty="0" err="1">
                <a:solidFill>
                  <a:srgbClr val="002060"/>
                </a:solidFill>
              </a:rPr>
              <a:t>eq</a:t>
            </a:r>
            <a:r>
              <a:rPr lang="fr-FR" sz="2000" b="1" dirty="0">
                <a:solidFill>
                  <a:srgbClr val="002060"/>
                </a:solidFill>
              </a:rPr>
              <a:t> "$2" ]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err="1">
                <a:solidFill>
                  <a:srgbClr val="002060"/>
                </a:solidFill>
              </a:rPr>
              <a:t>then</a:t>
            </a:r>
            <a:endParaRPr lang="fr-FR" sz="20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 return $EGAL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err="1">
                <a:solidFill>
                  <a:srgbClr val="002060"/>
                </a:solidFill>
              </a:rPr>
              <a:t>else</a:t>
            </a:r>
            <a:endParaRPr lang="fr-FR" sz="20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if [ "$1" -gt "$2" ]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</a:t>
            </a:r>
            <a:r>
              <a:rPr lang="fr-FR" sz="2000" b="1" dirty="0" err="1">
                <a:solidFill>
                  <a:srgbClr val="002060"/>
                </a:solidFill>
              </a:rPr>
              <a:t>then</a:t>
            </a:r>
            <a:endParaRPr lang="fr-FR" sz="20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  return $1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</a:t>
            </a:r>
            <a:r>
              <a:rPr lang="fr-FR" sz="2000" b="1" dirty="0" err="1">
                <a:solidFill>
                  <a:srgbClr val="002060"/>
                </a:solidFill>
              </a:rPr>
              <a:t>else</a:t>
            </a:r>
            <a:endParaRPr lang="fr-FR" sz="20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  return $2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fi  </a:t>
            </a:r>
            <a:r>
              <a:rPr lang="fr-FR" sz="2000" b="1" dirty="0" err="1">
                <a:solidFill>
                  <a:srgbClr val="002060"/>
                </a:solidFill>
              </a:rPr>
              <a:t>fi</a:t>
            </a:r>
            <a:r>
              <a:rPr lang="fr-FR" sz="2000" b="1" dirty="0">
                <a:solidFill>
                  <a:srgbClr val="002060"/>
                </a:solidFill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969887359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dirty="0">
                <a:latin typeface="Palatino"/>
              </a:rPr>
              <a:t>Exemple (suite)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58520" y="2651760"/>
            <a:ext cx="11379200" cy="6096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Max 33 34  </a:t>
            </a:r>
            <a:r>
              <a:rPr lang="fr-FR" sz="2800" b="1" dirty="0">
                <a:solidFill>
                  <a:srgbClr val="FF0000"/>
                </a:solidFill>
              </a:rPr>
              <a:t>#appel de la fonction</a:t>
            </a:r>
            <a:r>
              <a:rPr lang="fr-FR" sz="2400" b="1" dirty="0">
                <a:solidFill>
                  <a:srgbClr val="FF0000"/>
                </a:solidFill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err="1">
                <a:solidFill>
                  <a:srgbClr val="002060"/>
                </a:solidFill>
              </a:rPr>
              <a:t>return_val</a:t>
            </a:r>
            <a:r>
              <a:rPr lang="fr-FR" sz="2000" b="1" dirty="0">
                <a:solidFill>
                  <a:srgbClr val="002060"/>
                </a:solidFill>
              </a:rPr>
              <a:t>=$?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fr-FR" sz="20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if [ "$</a:t>
            </a:r>
            <a:r>
              <a:rPr lang="fr-FR" sz="2000" b="1" dirty="0" err="1">
                <a:solidFill>
                  <a:srgbClr val="002060"/>
                </a:solidFill>
              </a:rPr>
              <a:t>return_val</a:t>
            </a:r>
            <a:r>
              <a:rPr lang="fr-FR" sz="2000" b="1" dirty="0">
                <a:solidFill>
                  <a:srgbClr val="002060"/>
                </a:solidFill>
              </a:rPr>
              <a:t>" -</a:t>
            </a:r>
            <a:r>
              <a:rPr lang="fr-FR" sz="2000" b="1" dirty="0" err="1">
                <a:solidFill>
                  <a:srgbClr val="002060"/>
                </a:solidFill>
              </a:rPr>
              <a:t>eq</a:t>
            </a:r>
            <a:r>
              <a:rPr lang="fr-FR" sz="2000" b="1" dirty="0">
                <a:solidFill>
                  <a:srgbClr val="002060"/>
                </a:solidFill>
              </a:rPr>
              <a:t> $E_PARAM_ERR ]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err="1">
                <a:solidFill>
                  <a:srgbClr val="002060"/>
                </a:solidFill>
              </a:rPr>
              <a:t>then</a:t>
            </a:r>
            <a:endParaRPr lang="fr-FR" sz="20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      </a:t>
            </a:r>
            <a:r>
              <a:rPr lang="fr-FR" sz="2000" b="1" dirty="0" err="1">
                <a:solidFill>
                  <a:srgbClr val="002060"/>
                </a:solidFill>
              </a:rPr>
              <a:t>echo</a:t>
            </a:r>
            <a:r>
              <a:rPr lang="fr-FR" sz="2000" b="1" dirty="0">
                <a:solidFill>
                  <a:srgbClr val="002060"/>
                </a:solidFill>
              </a:rPr>
              <a:t> "Vous devez donner deux arguments à la fonction."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err="1">
                <a:solidFill>
                  <a:srgbClr val="002060"/>
                </a:solidFill>
              </a:rPr>
              <a:t>elif</a:t>
            </a:r>
            <a:r>
              <a:rPr lang="fr-FR" sz="2000" b="1" dirty="0">
                <a:solidFill>
                  <a:srgbClr val="002060"/>
                </a:solidFill>
              </a:rPr>
              <a:t> [ "$</a:t>
            </a:r>
            <a:r>
              <a:rPr lang="fr-FR" sz="2000" b="1" dirty="0" err="1">
                <a:solidFill>
                  <a:srgbClr val="002060"/>
                </a:solidFill>
              </a:rPr>
              <a:t>return_val</a:t>
            </a:r>
            <a:r>
              <a:rPr lang="fr-FR" sz="2000" b="1" dirty="0">
                <a:solidFill>
                  <a:srgbClr val="002060"/>
                </a:solidFill>
              </a:rPr>
              <a:t>" -</a:t>
            </a:r>
            <a:r>
              <a:rPr lang="fr-FR" sz="2000" b="1" dirty="0" err="1">
                <a:solidFill>
                  <a:srgbClr val="002060"/>
                </a:solidFill>
              </a:rPr>
              <a:t>eq</a:t>
            </a:r>
            <a:r>
              <a:rPr lang="fr-FR" sz="2000" b="1" dirty="0">
                <a:solidFill>
                  <a:srgbClr val="002060"/>
                </a:solidFill>
              </a:rPr>
              <a:t> $EGAL ]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</a:t>
            </a:r>
            <a:r>
              <a:rPr lang="fr-FR" sz="2000" b="1" dirty="0" err="1">
                <a:solidFill>
                  <a:srgbClr val="002060"/>
                </a:solidFill>
              </a:rPr>
              <a:t>then</a:t>
            </a:r>
            <a:endParaRPr lang="fr-FR" sz="20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  </a:t>
            </a:r>
            <a:r>
              <a:rPr lang="fr-FR" sz="2000" b="1" dirty="0" err="1">
                <a:solidFill>
                  <a:srgbClr val="002060"/>
                </a:solidFill>
              </a:rPr>
              <a:t>echo</a:t>
            </a:r>
            <a:r>
              <a:rPr lang="fr-FR" sz="2000" b="1" dirty="0">
                <a:solidFill>
                  <a:srgbClr val="002060"/>
                </a:solidFill>
              </a:rPr>
              <a:t> "Les deux nombres sont identiques."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 err="1">
                <a:solidFill>
                  <a:srgbClr val="002060"/>
                </a:solidFill>
              </a:rPr>
              <a:t>else</a:t>
            </a:r>
            <a:endParaRPr lang="fr-FR" sz="20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  </a:t>
            </a:r>
            <a:r>
              <a:rPr lang="fr-FR" sz="2000" b="1" dirty="0" err="1">
                <a:solidFill>
                  <a:srgbClr val="002060"/>
                </a:solidFill>
              </a:rPr>
              <a:t>echo</a:t>
            </a:r>
            <a:r>
              <a:rPr lang="fr-FR" sz="2000" b="1" dirty="0">
                <a:solidFill>
                  <a:srgbClr val="002060"/>
                </a:solidFill>
              </a:rPr>
              <a:t> "Le plus grand des deux nombres est $</a:t>
            </a:r>
            <a:r>
              <a:rPr lang="fr-FR" sz="2000" b="1" dirty="0" err="1">
                <a:solidFill>
                  <a:srgbClr val="002060"/>
                </a:solidFill>
              </a:rPr>
              <a:t>return_val</a:t>
            </a:r>
            <a:r>
              <a:rPr lang="fr-FR" sz="2000" b="1" dirty="0">
                <a:solidFill>
                  <a:srgbClr val="002060"/>
                </a:solidFill>
              </a:rPr>
              <a:t>."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fi  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fr-FR" sz="2000" b="1" dirty="0">
              <a:solidFill>
                <a:srgbClr val="002060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fr-FR" sz="2000" b="1" dirty="0">
                <a:solidFill>
                  <a:srgbClr val="002060"/>
                </a:solidFill>
              </a:rPr>
              <a:t>  exit 0</a:t>
            </a:r>
          </a:p>
        </p:txBody>
      </p:sp>
    </p:spTree>
    <p:extLst>
      <p:ext uri="{BB962C8B-B14F-4D97-AF65-F5344CB8AC3E}">
        <p14:creationId xmlns:p14="http://schemas.microsoft.com/office/powerpoint/2010/main" val="174703840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New_Template4">
  <a:themeElements>
    <a:clrScheme name="New_Template4">
      <a:dk1>
        <a:srgbClr val="414141"/>
      </a:dk1>
      <a:lt1>
        <a:srgbClr val="004141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25400" dist="33948" dir="2700000" rotWithShape="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4">
  <a:themeElements>
    <a:clrScheme name="New_Template4">
      <a:dk1>
        <a:srgbClr val="000000"/>
      </a:dk1>
      <a:lt1>
        <a:srgbClr val="FFFFFF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25400" dist="33948" dir="2700000" rotWithShape="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3852</TotalTime>
  <Words>1665</Words>
  <Application>Microsoft Office PowerPoint</Application>
  <PresentationFormat>Personnalisé</PresentationFormat>
  <Paragraphs>461</Paragraphs>
  <Slides>52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52</vt:i4>
      </vt:variant>
    </vt:vector>
  </HeadingPairs>
  <TitlesOfParts>
    <vt:vector size="64" baseType="lpstr">
      <vt:lpstr>Arial</vt:lpstr>
      <vt:lpstr>Bodoni SvtyTwo ITC TT-Book</vt:lpstr>
      <vt:lpstr>Courier New</vt:lpstr>
      <vt:lpstr>굴림</vt:lpstr>
      <vt:lpstr>Helvetica</vt:lpstr>
      <vt:lpstr>Helvetica Neue</vt:lpstr>
      <vt:lpstr>Montserrat</vt:lpstr>
      <vt:lpstr>Palatino</vt:lpstr>
      <vt:lpstr>Times New Roman</vt:lpstr>
      <vt:lpstr>Wingdings</vt:lpstr>
      <vt:lpstr>Zapf Dingbats</vt:lpstr>
      <vt:lpstr>New_Template4</vt:lpstr>
      <vt:lpstr> Administration &amp; Sécurité des Systèmes d’Exploitation UNIX </vt:lpstr>
      <vt:lpstr>Chapitre V : Programmation Shell</vt:lpstr>
      <vt:lpstr> Shell</vt:lpstr>
      <vt:lpstr>Shell</vt:lpstr>
      <vt:lpstr>Script Shell</vt:lpstr>
      <vt:lpstr>Script Shell  </vt:lpstr>
      <vt:lpstr>Script Shell </vt:lpstr>
      <vt:lpstr>Déclaration des variables</vt:lpstr>
      <vt:lpstr>echo : affichage des variables</vt:lpstr>
      <vt:lpstr>echo : affichage des variables</vt:lpstr>
      <vt:lpstr>Les « quotes »</vt:lpstr>
      <vt:lpstr>read : saisie des variables </vt:lpstr>
      <vt:lpstr>Exemple </vt:lpstr>
      <vt:lpstr>Les variables d'environnement</vt:lpstr>
      <vt:lpstr>Les variables d'environnement</vt:lpstr>
      <vt:lpstr>Les variables d'environnement</vt:lpstr>
      <vt:lpstr>Les variables spéciales</vt:lpstr>
      <vt:lpstr>Tableaux</vt:lpstr>
      <vt:lpstr>Tableaux</vt:lpstr>
      <vt:lpstr>Tableaux</vt:lpstr>
      <vt:lpstr>Tableaux</vt:lpstr>
      <vt:lpstr>expr : Arithmétique</vt:lpstr>
      <vt:lpstr>expr : Manipulation des chaînes</vt:lpstr>
      <vt:lpstr>expr : Manipulation des chaînes</vt:lpstr>
      <vt:lpstr>expr : manipulation des chaînes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Les structures conditionnelles  test sur les chaînes de caractères (1/2)</vt:lpstr>
      <vt:lpstr>Présentation PowerPoint</vt:lpstr>
      <vt:lpstr>Présentation PowerPoint</vt:lpstr>
      <vt:lpstr>Combinaison de conditions </vt:lpstr>
      <vt:lpstr>Effectuer plusieurs tests à la fois</vt:lpstr>
      <vt:lpstr>  Les structures conditionnelles if  (1/2) </vt:lpstr>
      <vt:lpstr>  Les structures conditionnelles if (2/2) </vt:lpstr>
      <vt:lpstr>Présentation PowerPoint</vt:lpstr>
      <vt:lpstr>Présentation PowerPoint</vt:lpstr>
      <vt:lpstr>Les structures itératives for (1/3)</vt:lpstr>
      <vt:lpstr>Les structures itératives for (2/3)</vt:lpstr>
      <vt:lpstr>Les structures itératives for (3/3)</vt:lpstr>
      <vt:lpstr>Commande seq (1/2)</vt:lpstr>
      <vt:lpstr>Commande seq (2/2)</vt:lpstr>
      <vt:lpstr> </vt:lpstr>
      <vt:lpstr> Les fonctions</vt:lpstr>
      <vt:lpstr>Fonctions</vt:lpstr>
      <vt:lpstr>Fonction avec des paramètres</vt:lpstr>
      <vt:lpstr> Code de retour d’une fonction</vt:lpstr>
      <vt:lpstr>Terminaisons</vt:lpstr>
      <vt:lpstr>Exemple :</vt:lpstr>
      <vt:lpstr>Exemple (suite)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Administration &amp; Sécurité des Systèmes d’Exploitation</dc:title>
  <dc:creator>SOUHA</dc:creator>
  <cp:lastModifiedBy>Compte Microsoft</cp:lastModifiedBy>
  <cp:revision>284</cp:revision>
  <dcterms:modified xsi:type="dcterms:W3CDTF">2022-09-08T11:21:19Z</dcterms:modified>
</cp:coreProperties>
</file>